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695" y="731520"/>
            <a:ext cx="5852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中国国际大学生创新大赛（2026）</a:t>
            </a:r>
            <a:r>
              <a:rPr sz="10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　陕西赛区特色专项 · 人形机器人专项 · 小人形组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695" y="1444752"/>
            <a:ext cx="5852160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0" i="0" spc="15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A.T.R.I.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695" y="2286000"/>
            <a:ext cx="58521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 spc="15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桌面自主人形智能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695" y="2852928"/>
            <a:ext cx="5852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 spc="22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AUTONOMOUS TABLETOP ROBOTIC INTELLIGENCE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61695" y="3291840"/>
            <a:ext cx="658368" cy="45720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1695" y="3493008"/>
            <a:ext cx="5760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一台能自己看、自己想、自己走的桌面双足机器人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" y="3986784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22 DOF</a:t>
            </a:r>
            <a:r>
              <a:rPr sz="1100" b="0" i="0">
                <a:solidFill>
                  <a:srgbClr val="9CC0DC"/>
                </a:solidFill>
                <a:latin typeface="Source Han Sans SC"/>
                <a:ea typeface="Source Han Sans SC"/>
                <a:cs typeface="Source Han Sans SC"/>
              </a:rPr>
              <a:t>　·　</a:t>
            </a:r>
            <a:r>
              <a:rPr sz="15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41.8 cm</a:t>
            </a:r>
            <a:r>
              <a:rPr sz="1100" b="0" i="0">
                <a:solidFill>
                  <a:srgbClr val="9CC0DC"/>
                </a:solidFill>
                <a:latin typeface="Source Han Sans SC"/>
                <a:ea typeface="Source Han Sans SC"/>
                <a:cs typeface="Source Han Sans SC"/>
              </a:rPr>
              <a:t>　·　</a:t>
            </a:r>
            <a:r>
              <a:rPr sz="15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344+40 项测试通过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00557" y="4574286"/>
            <a:ext cx="5289804" cy="0"/>
          </a:xfrm>
          <a:prstGeom prst="line">
            <a:avLst/>
          </a:prstGeom>
          <a:ln w="1270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761695" y="4535424"/>
            <a:ext cx="77724" cy="77724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3590" y="4535424"/>
            <a:ext cx="77724" cy="77724"/>
          </a:xfrm>
          <a:prstGeom prst="ellipse">
            <a:avLst/>
          </a:prstGeom>
          <a:solidFill>
            <a:srgbClr val="9CC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65486" y="4535424"/>
            <a:ext cx="77724" cy="77724"/>
          </a:xfrm>
          <a:prstGeom prst="ellipse">
            <a:avLst/>
          </a:prstGeom>
          <a:solidFill>
            <a:srgbClr val="9CC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517381" y="4535424"/>
            <a:ext cx="77724" cy="77724"/>
          </a:xfrm>
          <a:prstGeom prst="ellipse">
            <a:avLst/>
          </a:prstGeom>
          <a:solidFill>
            <a:srgbClr val="9CC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769276" y="4535424"/>
            <a:ext cx="77724" cy="77724"/>
          </a:xfrm>
          <a:prstGeom prst="ellipse">
            <a:avLst/>
          </a:prstGeom>
          <a:solidFill>
            <a:srgbClr val="9CC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021172" y="4535424"/>
            <a:ext cx="77724" cy="77724"/>
          </a:xfrm>
          <a:prstGeom prst="ellipse">
            <a:avLst/>
          </a:prstGeom>
          <a:solidFill>
            <a:srgbClr val="9CC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273067" y="4535424"/>
            <a:ext cx="77724" cy="77724"/>
          </a:xfrm>
          <a:prstGeom prst="ellipse">
            <a:avLst/>
          </a:prstGeom>
          <a:solidFill>
            <a:srgbClr val="9CC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524963" y="4535424"/>
            <a:ext cx="77724" cy="77724"/>
          </a:xfrm>
          <a:prstGeom prst="ellipse">
            <a:avLst/>
          </a:prstGeom>
          <a:solidFill>
            <a:srgbClr val="9CC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776858" y="4535424"/>
            <a:ext cx="77724" cy="77724"/>
          </a:xfrm>
          <a:prstGeom prst="ellipse">
            <a:avLst/>
          </a:prstGeom>
          <a:solidFill>
            <a:srgbClr val="9CC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28754" y="4535424"/>
            <a:ext cx="77724" cy="77724"/>
          </a:xfrm>
          <a:prstGeom prst="ellipse">
            <a:avLst/>
          </a:prstGeom>
          <a:solidFill>
            <a:srgbClr val="9CC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280649" y="4535424"/>
            <a:ext cx="77724" cy="77724"/>
          </a:xfrm>
          <a:prstGeom prst="ellipse">
            <a:avLst/>
          </a:prstGeom>
          <a:solidFill>
            <a:srgbClr val="9CC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532544" y="4535424"/>
            <a:ext cx="77724" cy="77724"/>
          </a:xfrm>
          <a:prstGeom prst="ellipse">
            <a:avLst/>
          </a:prstGeom>
          <a:solidFill>
            <a:srgbClr val="9CC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784440" y="4535424"/>
            <a:ext cx="77724" cy="77724"/>
          </a:xfrm>
          <a:prstGeom prst="ellipse">
            <a:avLst/>
          </a:prstGeom>
          <a:solidFill>
            <a:srgbClr val="9CC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036335" y="4535424"/>
            <a:ext cx="77724" cy="77724"/>
          </a:xfrm>
          <a:prstGeom prst="ellipse">
            <a:avLst/>
          </a:prstGeom>
          <a:solidFill>
            <a:srgbClr val="9CC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288231" y="4535424"/>
            <a:ext cx="77724" cy="77724"/>
          </a:xfrm>
          <a:prstGeom prst="ellipse">
            <a:avLst/>
          </a:prstGeom>
          <a:solidFill>
            <a:srgbClr val="9CC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540126" y="4535424"/>
            <a:ext cx="77724" cy="77724"/>
          </a:xfrm>
          <a:prstGeom prst="ellipse">
            <a:avLst/>
          </a:prstGeom>
          <a:solidFill>
            <a:srgbClr val="9CC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792022" y="4535424"/>
            <a:ext cx="77724" cy="77724"/>
          </a:xfrm>
          <a:prstGeom prst="ellipse">
            <a:avLst/>
          </a:prstGeom>
          <a:solidFill>
            <a:srgbClr val="9CC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043917" y="4535424"/>
            <a:ext cx="77724" cy="77724"/>
          </a:xfrm>
          <a:prstGeom prst="ellipse">
            <a:avLst/>
          </a:prstGeom>
          <a:solidFill>
            <a:srgbClr val="9CC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295812" y="4535424"/>
            <a:ext cx="77724" cy="77724"/>
          </a:xfrm>
          <a:prstGeom prst="ellipse">
            <a:avLst/>
          </a:prstGeom>
          <a:solidFill>
            <a:srgbClr val="9CC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547708" y="4535424"/>
            <a:ext cx="77724" cy="77724"/>
          </a:xfrm>
          <a:prstGeom prst="ellipse">
            <a:avLst/>
          </a:prstGeom>
          <a:solidFill>
            <a:srgbClr val="9CC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799603" y="4535424"/>
            <a:ext cx="77724" cy="77724"/>
          </a:xfrm>
          <a:prstGeom prst="ellipse">
            <a:avLst/>
          </a:prstGeom>
          <a:solidFill>
            <a:srgbClr val="9CC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051499" y="4535424"/>
            <a:ext cx="77724" cy="77724"/>
          </a:xfrm>
          <a:prstGeom prst="ellipse">
            <a:avLst/>
          </a:prstGeom>
          <a:solidFill>
            <a:srgbClr val="9CC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1695" y="4718304"/>
            <a:ext cx="5760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22 个主动自由度</a:t>
            </a:r>
            <a:r>
              <a:rPr sz="9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　腿 10 + 臂 8 + 躯干 2 + 头 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1695" y="5084064"/>
            <a:ext cx="5852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项目团队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1695" y="5266944"/>
            <a:ext cx="5852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何浩睿 · 周柏宇 · 胡晟瑞 · 王旭琪 · 张景昆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1695" y="5541264"/>
            <a:ext cx="5852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指导教师　陈妍 · 李璐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1695" y="5815584"/>
            <a:ext cx="5852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2E9E7B"/>
                </a:solidFill>
                <a:latin typeface="Source Han Sans SC Heavy"/>
                <a:ea typeface="Source Han Sans SC Heavy"/>
                <a:cs typeface="Source Han Sans SC Heavy"/>
              </a:rPr>
              <a:t>无硬件闭环演示 5/5 任务全通过 · Python 3.14 only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784848" y="658368"/>
            <a:ext cx="0" cy="5541264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8" name="Picture 37" descr="01_关节编号图.png"/>
          <p:cNvPicPr>
            <a:picLocks noChangeAspect="1"/>
          </p:cNvPicPr>
          <p:nvPr/>
        </p:nvPicPr>
        <p:blipFill>
          <a:blip r:embed="rId2"/>
          <a:srcRect l="4743" r="13500"/>
          <a:stretch>
            <a:fillRect/>
          </a:stretch>
        </p:blipFill>
        <p:spPr>
          <a:xfrm>
            <a:off x="6949440" y="914400"/>
            <a:ext cx="5074920" cy="438912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949440" y="5413248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22 关节结构运动学拓扑</a:t>
            </a:r>
            <a:r>
              <a:rPr sz="8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　图号 ATRI-DWG-001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0" y="5650992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软件栈已跑通五项赛题闭环；样机在晋级后装配制造。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695" y="3657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00</a:t>
            </a:r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  项目概要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48095" y="365760"/>
            <a:ext cx="51821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项目概要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61695" y="6217920"/>
            <a:ext cx="10668579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61695" y="641908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A.T.R.I. 桌面自主人形智能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8095" y="6419088"/>
            <a:ext cx="51821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02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1695" y="713232"/>
            <a:ext cx="10668579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五项赛题共用一套任务系统，软件栈已经跑通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" y="1481328"/>
            <a:ext cx="10668579" cy="310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左边是要解决的痛点，中间是已经做出来的指标，右边是当前推进到哪一步。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61695" y="1847088"/>
            <a:ext cx="10668579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61695" y="2048256"/>
            <a:ext cx="3017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要解决的问题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61695" y="2322576"/>
            <a:ext cx="3017520" cy="0"/>
          </a:xfrm>
          <a:prstGeom prst="line">
            <a:avLst/>
          </a:prstGeom>
          <a:ln w="1270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61695" y="2468880"/>
            <a:ext cx="3840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4031" y="2468880"/>
            <a:ext cx="26151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设备贵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4031" y="2724912"/>
            <a:ext cx="261518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教育型小型双足套件多在数千至万元级，一个班 20 台就是十万级高昂采购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1695" y="3584448"/>
            <a:ext cx="3840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4031" y="3584448"/>
            <a:ext cx="26151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算法散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64031" y="3840480"/>
            <a:ext cx="261518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人脸、循迹、搬运、步态散在四五套孤立工程里，缺乏统领任务的骨架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1695" y="4700016"/>
            <a:ext cx="3840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4031" y="4700016"/>
            <a:ext cx="26151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断网瘫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64031" y="4956048"/>
            <a:ext cx="261518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依赖云端大模型 API 的方案，比赛现场一旦网络波动或断网直接停摆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08399" y="2048256"/>
            <a:ext cx="4160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已经做出来的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108399" y="2322576"/>
            <a:ext cx="4160520" cy="0"/>
          </a:xfrm>
          <a:prstGeom prst="line">
            <a:avLst/>
          </a:prstGeom>
          <a:ln w="1270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4108399" y="2468880"/>
            <a:ext cx="1943100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08399" y="2468880"/>
            <a:ext cx="41148" cy="1572768"/>
          </a:xfrm>
          <a:prstGeom prst="rect">
            <a:avLst/>
          </a:prstGeom>
          <a:solidFill>
            <a:srgbClr val="1264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27855" y="2596896"/>
            <a:ext cx="15773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22</a:t>
            </a:r>
            <a:r>
              <a:rPr sz="15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 DOF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27855" y="3236976"/>
            <a:ext cx="157734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主动关节全机统一 STS3215：腿 10 + 臂 8 + 躯干 2 + 头 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25819" y="2468880"/>
            <a:ext cx="1943100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25819" y="2468880"/>
            <a:ext cx="41148" cy="1572768"/>
          </a:xfrm>
          <a:prstGeom prst="rect">
            <a:avLst/>
          </a:prstGeom>
          <a:solidFill>
            <a:srgbClr val="1264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45275" y="2596896"/>
            <a:ext cx="15773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344</a:t>
            </a:r>
            <a:r>
              <a:rPr sz="15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 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45275" y="3236976"/>
            <a:ext cx="157734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主包 unittest 测试全通过，纯 Python 3.14 标准库零三方依赖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08399" y="4206240"/>
            <a:ext cx="1943100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108399" y="4206240"/>
            <a:ext cx="41148" cy="1572768"/>
          </a:xfrm>
          <a:prstGeom prst="rect">
            <a:avLst/>
          </a:prstGeom>
          <a:solidFill>
            <a:srgbClr val="1264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27855" y="4334255"/>
            <a:ext cx="15773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5/5</a:t>
            </a:r>
            <a:r>
              <a:rPr sz="15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 闭环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27855" y="4974336"/>
            <a:ext cx="157734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五项赛题无硬件闭环演示全部通过，可当场命令行秒级复现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25819" y="4206240"/>
            <a:ext cx="1943100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25819" y="4206240"/>
            <a:ext cx="41148" cy="1572768"/>
          </a:xfrm>
          <a:prstGeom prst="rect">
            <a:avLst/>
          </a:prstGeom>
          <a:solidFill>
            <a:srgbClr val="1264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45275" y="4334255"/>
            <a:ext cx="15773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¥2725</a:t>
            </a:r>
            <a:r>
              <a:rPr sz="12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 –3260 元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45275" y="4974336"/>
            <a:ext cx="157734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新增采购档预算（全口径 ¥3350–3950 元；差额为借用板卡电池）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98103" y="2048256"/>
            <a:ext cx="28318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推进到哪一步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8598103" y="2322576"/>
            <a:ext cx="2831897" cy="0"/>
          </a:xfrm>
          <a:prstGeom prst="line">
            <a:avLst/>
          </a:prstGeom>
          <a:ln w="1270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8598103" y="2468880"/>
            <a:ext cx="2831896" cy="1051560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744407" y="2596896"/>
            <a:ext cx="745744" cy="237744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835847" y="2596896"/>
            <a:ext cx="5994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2E9E7B"/>
                </a:solidFill>
                <a:latin typeface="Source Han Sans SC Heavy"/>
                <a:ea typeface="Source Han Sans SC Heavy"/>
                <a:cs typeface="Source Han Sans SC Heavy"/>
              </a:rPr>
              <a:t>●</a:t>
            </a:r>
            <a:r>
              <a:rPr sz="1000" b="0" i="0">
                <a:solidFill>
                  <a:srgbClr val="2E9E7B"/>
                </a:solidFill>
                <a:latin typeface="Source Han Sans SC"/>
                <a:ea typeface="Source Han Sans SC"/>
                <a:cs typeface="Source Han Sans SC"/>
              </a:rPr>
              <a:t> 已完成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44407" y="2907792"/>
            <a:ext cx="25392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软件栈 + 任务闭环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44407" y="3145536"/>
            <a:ext cx="253928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344 项主包测试、40 项 Webots 测试、5/5 演示全通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598103" y="3593592"/>
            <a:ext cx="2831896" cy="1051560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744407" y="3721608"/>
            <a:ext cx="745744" cy="237744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835847" y="3721608"/>
            <a:ext cx="5994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◐</a:t>
            </a:r>
            <a:r>
              <a:rPr sz="1000" b="0" i="0">
                <a:solidFill>
                  <a:srgbClr val="E4572E"/>
                </a:solidFill>
                <a:latin typeface="Source Han Sans SC"/>
                <a:ea typeface="Source Han Sans SC"/>
                <a:cs typeface="Source Han Sans SC"/>
              </a:rPr>
              <a:t> 进行中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44407" y="4032504"/>
            <a:ext cx="25392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仿真联调与结构优化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44407" y="4270248"/>
            <a:ext cx="253928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Webots 22 关节运动学联调通过；错轴 CAD 拓扑完成，待回灌 URDF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598103" y="4718304"/>
            <a:ext cx="2831896" cy="1051560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744407" y="4846320"/>
            <a:ext cx="745744" cy="237744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835847" y="4846320"/>
            <a:ext cx="5994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B7A8C"/>
                </a:solidFill>
                <a:latin typeface="Source Han Sans SC Heavy"/>
                <a:ea typeface="Source Han Sans SC Heavy"/>
                <a:cs typeface="Source Han Sans SC Heavy"/>
              </a:rPr>
              <a:t>○</a:t>
            </a:r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 规划中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744407" y="5157216"/>
            <a:ext cx="25392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实物样机制造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744407" y="5394960"/>
            <a:ext cx="253928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晋级后启动 22 路总线舵机采购、3D 打印与真串口总线联调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1695" y="6016752"/>
            <a:ext cx="71323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本页状态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529791" y="6016752"/>
            <a:ext cx="771144" cy="237744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621231" y="6016752"/>
            <a:ext cx="6248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2E9E7B"/>
                </a:solidFill>
                <a:latin typeface="Source Han Sans SC Heavy"/>
                <a:ea typeface="Source Han Sans SC Heavy"/>
                <a:cs typeface="Source Han Sans SC Heavy"/>
              </a:rPr>
              <a:t>●</a:t>
            </a:r>
            <a:r>
              <a:rPr sz="1050" b="0" i="0">
                <a:solidFill>
                  <a:srgbClr val="2E9E7B"/>
                </a:solidFill>
                <a:latin typeface="Source Han Sans SC"/>
                <a:ea typeface="Source Han Sans SC"/>
                <a:cs typeface="Source Han Sans SC"/>
              </a:rPr>
              <a:t> 已完成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447239" y="6016752"/>
            <a:ext cx="771144" cy="237744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538679" y="6016752"/>
            <a:ext cx="6248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◐</a:t>
            </a:r>
            <a:r>
              <a:rPr sz="1050" b="0" i="0">
                <a:solidFill>
                  <a:srgbClr val="E4572E"/>
                </a:solidFill>
                <a:latin typeface="Source Han Sans SC"/>
                <a:ea typeface="Source Han Sans SC"/>
                <a:cs typeface="Source Han Sans SC"/>
              </a:rPr>
              <a:t> 进行中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364687" y="6016752"/>
            <a:ext cx="771144" cy="237744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456127" y="6016752"/>
            <a:ext cx="6248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6B7A8C"/>
                </a:solidFill>
                <a:latin typeface="Source Han Sans SC Heavy"/>
                <a:ea typeface="Source Han Sans SC Heavy"/>
                <a:cs typeface="Source Han Sans SC Heavy"/>
              </a:rPr>
              <a:t>○</a:t>
            </a:r>
            <a:r>
              <a:rPr sz="10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 规划中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695" y="3657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01</a:t>
            </a:r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  立项基础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48095" y="365760"/>
            <a:ext cx="51821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立项基础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61695" y="6217920"/>
            <a:ext cx="10668579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61695" y="641908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A.T.R.I. 桌面自主人形智能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8095" y="6419088"/>
            <a:ext cx="51821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03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1695" y="713232"/>
            <a:ext cx="10668579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设备贵、算法散、断网瘫：双足进课堂的三道高墙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" y="1481328"/>
            <a:ext cx="10668579" cy="310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想开一门具身智能实验课，第一道坎不是教学法，而是硬件预算与工程架构。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61695" y="1847088"/>
            <a:ext cx="10668579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761695" y="2048256"/>
            <a:ext cx="3434273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1695" y="2048256"/>
            <a:ext cx="3434273" cy="45720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4575" y="2231136"/>
            <a:ext cx="3068513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01 设备贵 · 无法成班开课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44575" y="2596896"/>
            <a:ext cx="3068513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44575" y="2706624"/>
            <a:ext cx="3068513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9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现状代价：商业教育双足套件单台 6000–12000 元，采购 20 台需 12–24 万元，高校实验室多只能买 1–2 台作观摩展示，学生无法人手一机独立调试。
A.T.R.I. 方案：新增采购压到 ¥2725–3260 元，全班 20 台仅约 5.5 万元，打破从「只能演示」到「成班开课」的成本鸿沟。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78848" y="2048256"/>
            <a:ext cx="3434273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78848" y="2048256"/>
            <a:ext cx="3434273" cy="45720"/>
          </a:xfrm>
          <a:prstGeom prst="rect">
            <a:avLst/>
          </a:prstGeom>
          <a:solidFill>
            <a:srgbClr val="1264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1728" y="2231136"/>
            <a:ext cx="3068513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02 算法散 · 形成教学孤岛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561728" y="2596896"/>
            <a:ext cx="3068513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61728" y="2706624"/>
            <a:ext cx="3068513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9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现状代价：人脸、循迹、抓取各写一套 main()，相机初始化与状态管理互不相通。学生学到的是一次性孤立脚本，无法掌握系统级任务调度设计。
A.T.R.I. 方案：统一任务卡 JSON + 有限状态机 FSM + 插件式技能库。换赛题只需换配置，一套底座支撑五项赛题闭环。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96001" y="2048256"/>
            <a:ext cx="3434273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96001" y="2048256"/>
            <a:ext cx="3434273" cy="45720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78881" y="2231136"/>
            <a:ext cx="3068513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03 断网瘫 · 脱机赛场失稳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178881" y="2596896"/>
            <a:ext cx="3068513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178881" y="2706624"/>
            <a:ext cx="3068513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9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现状代价：依赖云端多模态大模型或在线 TTS，赛场一旦遇到网络限速、Wi-Fi 拥堵或拔掉网线，整机感知与决策链路瞬间崩溃超时。
A.T.R.I. 方案：本地轻量级单目视觉 + 离线 Linux 多引擎 TTS + 板载状态机解算，全程 0 次网络出站，纯离线自主运行。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1695" y="5650992"/>
            <a:ext cx="10668579" cy="438912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1151" y="5650992"/>
            <a:ext cx="1022966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口径说明：</a:t>
            </a:r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新增采购预算 ¥2725–3260 元基于 BOM 明细核算，扣减已有实验设备；全口径为 ¥3350–3950 元。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1695" y="6016752"/>
            <a:ext cx="71323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本页状态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529791" y="6016752"/>
            <a:ext cx="904494" cy="237744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621231" y="6016752"/>
            <a:ext cx="75819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◇</a:t>
            </a:r>
            <a:r>
              <a:rPr sz="1050" b="0" i="0">
                <a:solidFill>
                  <a:srgbClr val="1264A3"/>
                </a:solidFill>
                <a:latin typeface="Source Han Sans SC"/>
                <a:ea typeface="Source Han Sans SC"/>
                <a:cs typeface="Source Han Sans SC"/>
              </a:rPr>
              <a:t> 设计目标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695" y="3657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01</a:t>
            </a:r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  立项基础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48095" y="365760"/>
            <a:ext cx="51821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立项基础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61695" y="6217920"/>
            <a:ext cx="10668579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61695" y="641908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A.T.R.I. 桌面自主人形智能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8095" y="6419088"/>
            <a:ext cx="51821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04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1695" y="713232"/>
            <a:ext cx="10668579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418 mm 整机紧凑包络，22 自由度完整覆盖赛题检录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" y="1481328"/>
            <a:ext cx="10668579" cy="310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高度与体宽远低于 600×300×300 mm 上限，自由度逐项对应双足与双臂作业需求。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61695" y="1847088"/>
            <a:ext cx="10668579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61695" y="199339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418 × 223 × 129</a:t>
            </a:r>
            <a:r>
              <a:rPr sz="11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 mm · 现行包络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1695" y="2450592"/>
            <a:ext cx="6949440" cy="292608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3135" y="2450592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约束项目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41855" y="2450592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大赛规则上限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7775" y="2450592"/>
            <a:ext cx="1920239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A.T.R.I. 现行设计值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90895" y="2450592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裕量与检录口径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3135" y="2743200"/>
            <a:ext cx="10058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整机高度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41855" y="2743200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≤ 600 mm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87775" y="2743200"/>
            <a:ext cx="19202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418 mm（直立站姿累加）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90895" y="2743200"/>
            <a:ext cx="18288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+182 mm（占限值 69.7%）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61695" y="3054096"/>
            <a:ext cx="6949440" cy="0"/>
          </a:xfrm>
          <a:prstGeom prst="line">
            <a:avLst/>
          </a:prstGeom>
          <a:ln w="6350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53135" y="3054096"/>
            <a:ext cx="10058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身体宽度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41855" y="3054096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≤ 300 mm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87775" y="3054096"/>
            <a:ext cx="19202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223 mm（双肩展开与足距）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90895" y="3054096"/>
            <a:ext cx="18288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+77 mm 充足裕量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61695" y="3364991"/>
            <a:ext cx="6949440" cy="0"/>
          </a:xfrm>
          <a:prstGeom prst="line">
            <a:avLst/>
          </a:prstGeom>
          <a:ln w="6350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53135" y="3364991"/>
            <a:ext cx="10058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身体厚度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41855" y="3364991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≤ 300 mm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87775" y="3364991"/>
            <a:ext cx="19202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129 mm（胸腔与电池包位）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90895" y="3364991"/>
            <a:ext cx="18288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+171 mm 结构紧凑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61695" y="3675887"/>
            <a:ext cx="6949440" cy="0"/>
          </a:xfrm>
          <a:prstGeom prst="line">
            <a:avLst/>
          </a:prstGeom>
          <a:ln w="6350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53135" y="3675887"/>
            <a:ext cx="10058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关节总数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41855" y="3675887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≥ 18 DOF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87775" y="3675887"/>
            <a:ext cx="19202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22 DOF（全机统一 STS3215）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90895" y="3675887"/>
            <a:ext cx="18288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+4 DOF 满足规则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61695" y="3986783"/>
            <a:ext cx="6949440" cy="0"/>
          </a:xfrm>
          <a:prstGeom prst="line">
            <a:avLst/>
          </a:prstGeom>
          <a:ln w="6350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53135" y="3986783"/>
            <a:ext cx="10058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每腿关节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41855" y="3986783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≥ 4 DOF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87775" y="3986783"/>
            <a:ext cx="19202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5 DOF（髋滚/髋俯仰/膝/踝俯仰/踝滚）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90895" y="3986783"/>
            <a:ext cx="18288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+1 DOF 增强横向调平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761695" y="4297679"/>
            <a:ext cx="6949440" cy="0"/>
          </a:xfrm>
          <a:prstGeom prst="line">
            <a:avLst/>
          </a:prstGeom>
          <a:ln w="6350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853135" y="4297679"/>
            <a:ext cx="10058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上肢+躯干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41855" y="4297679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≥ 10 DOF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87775" y="4297679"/>
            <a:ext cx="19202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10 DOF（双臂 4×2 + 躯干 2）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90895" y="4297679"/>
            <a:ext cx="18288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10 = 10 精准达标（含夹爪）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61695" y="4608575"/>
            <a:ext cx="6949440" cy="0"/>
          </a:xfrm>
          <a:prstGeom prst="line">
            <a:avLst/>
          </a:prstGeom>
          <a:ln w="6350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853135" y="4608575"/>
            <a:ext cx="10058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供电电压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41855" y="4608575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标称 ≥ 7.4 V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87775" y="4608575"/>
            <a:ext cx="19202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3S 11.1 V（3S 锂电池组直供）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790895" y="4608575"/>
            <a:ext cx="18288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+3.7 V 满足标准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761695" y="4919471"/>
            <a:ext cx="6949440" cy="0"/>
          </a:xfrm>
          <a:prstGeom prst="line">
            <a:avLst/>
          </a:prstGeom>
          <a:ln w="6350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7909560" y="2450592"/>
            <a:ext cx="3490539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92440" y="2578608"/>
            <a:ext cx="31247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检录口径特别说明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92440" y="2907792"/>
            <a:ext cx="312477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① 上肢关节计入夹爪：</a:t>
            </a:r>
          </a:p>
          <a:p>
            <a:pPr algn="l">
              <a:lnSpc>
                <a:spcPct val="130000"/>
              </a:lnSpc>
              <a:spcBef>
                <a:spcPts val="200"/>
              </a:spcBef>
            </a:pPr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双臂每侧 4 DOF（肩俯仰/肩滚转/肘俯仰/夹爪）。夹爪计入上肢自由度；若严苛裁判不计夹爪，上肢+躯干为 3×2+2=8&lt;10，需在报名前书面确认（机械已预留躯干扩轴位）。</a:t>
            </a:r>
          </a:p>
          <a:p>
            <a:pPr algn="l">
              <a:spcBef>
                <a:spcPts val="400"/>
              </a:spcBef>
            </a:pPr>
            <a:r>
              <a:rPr sz="95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② 躯干 2 自由度：</a:t>
            </a:r>
          </a:p>
          <a:p>
            <a:pPr algn="l">
              <a:lnSpc>
                <a:spcPct val="130000"/>
              </a:lnSpc>
              <a:spcBef>
                <a:spcPts val="200"/>
              </a:spcBef>
            </a:pPr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trunk_roll ±10° 与 trunk_pitch ±15° 为核心动态调平轴，既提供步态补偿，又确保检录项完全合规。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909560" y="5010912"/>
            <a:ext cx="3490539" cy="804672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055864" y="5084064"/>
            <a:ext cx="3197931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参考板说明：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8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BOM 采用树莓派 4B 4GB（参考板，软件按通用 Linux aarch64）；软件完全面向通用 aarch64 Linux 标准库开发，不绑定特定单板。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61695" y="5650992"/>
            <a:ext cx="10668579" cy="438912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81151" y="5650992"/>
            <a:ext cx="1022966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数据来源：</a:t>
            </a:r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尺寸链基于 design/robot_model.json 与真实装配累加值，关节命名与限位与 software/atri 源码完全一致。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1695" y="6016752"/>
            <a:ext cx="71323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本页状态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529791" y="6016752"/>
            <a:ext cx="771144" cy="237744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621231" y="6016752"/>
            <a:ext cx="6248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2E9E7B"/>
                </a:solidFill>
                <a:latin typeface="Source Han Sans SC Heavy"/>
                <a:ea typeface="Source Han Sans SC Heavy"/>
                <a:cs typeface="Source Han Sans SC Heavy"/>
              </a:rPr>
              <a:t>●</a:t>
            </a:r>
            <a:r>
              <a:rPr sz="1050" b="0" i="0">
                <a:solidFill>
                  <a:srgbClr val="2E9E7B"/>
                </a:solidFill>
                <a:latin typeface="Source Han Sans SC"/>
                <a:ea typeface="Source Han Sans SC"/>
                <a:cs typeface="Source Han Sans SC"/>
              </a:rPr>
              <a:t> 已完成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695" y="3657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02</a:t>
            </a:r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  系统架构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48095" y="365760"/>
            <a:ext cx="51821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系统架构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61695" y="6217920"/>
            <a:ext cx="10668579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61695" y="641908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A.T.R.I. 桌面自主人形智能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8095" y="6419088"/>
            <a:ext cx="51821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05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1695" y="713232"/>
            <a:ext cx="10668579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分层架构：大脑做决策，小脑算轨迹，边界清晰解耦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" y="1481328"/>
            <a:ext cx="10668579" cy="310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大脑基于通用 Linux 板，小脑现行 Python 实现；STM32 下沉与真机串口为规划接口。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61695" y="1847088"/>
            <a:ext cx="10668579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761695" y="2450592"/>
            <a:ext cx="1097280" cy="475488"/>
          </a:xfrm>
          <a:prstGeom prst="rect">
            <a:avLst/>
          </a:prstGeom>
          <a:solidFill>
            <a:srgbClr val="5B8F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1695" y="2450592"/>
            <a:ext cx="10972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Source Han Sans SC Heavy"/>
                <a:ea typeface="Source Han Sans SC Heavy"/>
                <a:cs typeface="Source Han Sans SC Heavy"/>
              </a:rPr>
              <a:t>任务层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50415" y="2450592"/>
            <a:ext cx="71323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41855" y="2505456"/>
            <a:ext cx="1331366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78431" y="2505456"/>
            <a:ext cx="125821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0">
                <a:solidFill>
                  <a:srgbClr val="0A2540"/>
                </a:solidFill>
                <a:latin typeface="Source Han Sans SC"/>
                <a:ea typeface="Source Han Sans SC"/>
                <a:cs typeface="Source Han Sans SC"/>
              </a:rPr>
              <a:t>人脸识别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46373" y="2505456"/>
            <a:ext cx="1331366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82949" y="2505456"/>
            <a:ext cx="125821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0">
                <a:solidFill>
                  <a:srgbClr val="0A2540"/>
                </a:solidFill>
                <a:latin typeface="Source Han Sans SC"/>
                <a:ea typeface="Source Han Sans SC"/>
                <a:cs typeface="Source Han Sans SC"/>
              </a:rPr>
              <a:t>二维码循迹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50892" y="2505456"/>
            <a:ext cx="1331366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87468" y="2505456"/>
            <a:ext cx="125821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0">
                <a:solidFill>
                  <a:srgbClr val="0A2540"/>
                </a:solidFill>
                <a:latin typeface="Source Han Sans SC"/>
                <a:ea typeface="Source Han Sans SC"/>
                <a:cs typeface="Source Han Sans SC"/>
              </a:rPr>
              <a:t>物品搬运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55410" y="2505456"/>
            <a:ext cx="1331366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1986" y="2505456"/>
            <a:ext cx="125821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0">
                <a:solidFill>
                  <a:srgbClr val="0A2540"/>
                </a:solidFill>
                <a:latin typeface="Source Han Sans SC"/>
                <a:ea typeface="Source Han Sans SC"/>
                <a:cs typeface="Source Han Sans SC"/>
              </a:rPr>
              <a:t>体育运动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59928" y="2505456"/>
            <a:ext cx="1331366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96504" y="2505456"/>
            <a:ext cx="125821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0">
                <a:solidFill>
                  <a:srgbClr val="0A2540"/>
                </a:solidFill>
                <a:latin typeface="Source Han Sans SC"/>
                <a:ea typeface="Source Han Sans SC"/>
                <a:cs typeface="Source Han Sans SC"/>
              </a:rPr>
              <a:t>娱乐交互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174175" y="2450592"/>
            <a:ext cx="0" cy="475488"/>
          </a:xfrm>
          <a:prstGeom prst="line">
            <a:avLst/>
          </a:prstGeom>
          <a:ln w="1905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174175" y="2450592"/>
            <a:ext cx="109728" cy="0"/>
          </a:xfrm>
          <a:prstGeom prst="line">
            <a:avLst/>
          </a:prstGeom>
          <a:ln w="1905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174175" y="2926080"/>
            <a:ext cx="109728" cy="0"/>
          </a:xfrm>
          <a:prstGeom prst="line">
            <a:avLst/>
          </a:prstGeom>
          <a:ln w="1905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375343" y="2450592"/>
            <a:ext cx="2054931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赛题定义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8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五项赛题标准清单</a:t>
            </a:r>
          </a:p>
          <a:p>
            <a:pPr algn="l">
              <a:spcBef>
                <a:spcPts val="200"/>
              </a:spcBef>
            </a:pPr>
            <a:r>
              <a:rPr sz="800" b="0" i="0">
                <a:solidFill>
                  <a:srgbClr val="2E9E7B"/>
                </a:solidFill>
                <a:latin typeface="Source Han Sans SC Heavy"/>
                <a:ea typeface="Source Han Sans SC Heavy"/>
                <a:cs typeface="Source Han Sans SC Heavy"/>
              </a:rPr>
              <a:t>● 已完成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1695" y="2999232"/>
            <a:ext cx="1097280" cy="475488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1695" y="2999232"/>
            <a:ext cx="10972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Source Han Sans SC Heavy"/>
                <a:ea typeface="Source Han Sans SC Heavy"/>
                <a:cs typeface="Source Han Sans SC Heavy"/>
              </a:rPr>
              <a:t>编排层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50415" y="2999232"/>
            <a:ext cx="7132320" cy="475488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041855" y="3054096"/>
            <a:ext cx="1572768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9CC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078431" y="3054096"/>
            <a:ext cx="149961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JSON 任务卡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642055" y="3236976"/>
            <a:ext cx="164592" cy="0"/>
          </a:xfrm>
          <a:prstGeom prst="line">
            <a:avLst/>
          </a:prstGeom>
          <a:ln w="12700">
            <a:solidFill>
              <a:srgbClr val="1264A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3834079" y="3054096"/>
            <a:ext cx="1572768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9CC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70655" y="3054096"/>
            <a:ext cx="149961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任务调度器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434279" y="3236976"/>
            <a:ext cx="164592" cy="0"/>
          </a:xfrm>
          <a:prstGeom prst="line">
            <a:avLst/>
          </a:prstGeom>
          <a:ln w="12700">
            <a:solidFill>
              <a:srgbClr val="1264A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5626303" y="3054096"/>
            <a:ext cx="1572768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9CC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62879" y="3054096"/>
            <a:ext cx="149961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有限状态机 FSM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226503" y="3236976"/>
            <a:ext cx="164592" cy="0"/>
          </a:xfrm>
          <a:prstGeom prst="line">
            <a:avLst/>
          </a:prstGeom>
          <a:ln w="12700">
            <a:solidFill>
              <a:srgbClr val="1264A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7418527" y="3054096"/>
            <a:ext cx="1572768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9CC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55103" y="3054096"/>
            <a:ext cx="149961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技能库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61695" y="3547872"/>
            <a:ext cx="1097280" cy="475488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1695" y="3547872"/>
            <a:ext cx="10972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Source Han Sans SC Heavy"/>
                <a:ea typeface="Source Han Sans SC Heavy"/>
                <a:cs typeface="Source Han Sans SC Heavy"/>
              </a:rPr>
              <a:t>感知交互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950415" y="3547872"/>
            <a:ext cx="7132320" cy="475488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041855" y="3602736"/>
            <a:ext cx="1508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9CC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078431" y="3602736"/>
            <a:ext cx="143560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0A2540"/>
                </a:solidFill>
                <a:latin typeface="Source Han Sans SC"/>
                <a:ea typeface="Source Han Sans SC"/>
                <a:cs typeface="Source Han Sans SC"/>
              </a:rPr>
              <a:t>单目相机采集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3578047" y="3785615"/>
            <a:ext cx="146304" cy="0"/>
          </a:xfrm>
          <a:prstGeom prst="line">
            <a:avLst/>
          </a:prstGeom>
          <a:ln w="12700">
            <a:solidFill>
              <a:srgbClr val="1264A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3751783" y="3602736"/>
            <a:ext cx="1508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9CC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788359" y="3602736"/>
            <a:ext cx="143560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0A2540"/>
                </a:solidFill>
                <a:latin typeface="Source Han Sans SC"/>
                <a:ea typeface="Source Han Sans SC"/>
                <a:cs typeface="Source Han Sans SC"/>
              </a:rPr>
              <a:t>轻量视觉检测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827471" y="3602736"/>
            <a:ext cx="1508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9CC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864047" y="3602736"/>
            <a:ext cx="143560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0A2540"/>
                </a:solidFill>
                <a:latin typeface="Source Han Sans SC"/>
                <a:ea typeface="Source Han Sans SC"/>
                <a:cs typeface="Source Han Sans SC"/>
              </a:rPr>
              <a:t>麦克风唤醒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7363663" y="3785615"/>
            <a:ext cx="146304" cy="0"/>
          </a:xfrm>
          <a:prstGeom prst="line">
            <a:avLst/>
          </a:prstGeom>
          <a:ln w="12700">
            <a:solidFill>
              <a:srgbClr val="1264A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7537399" y="3602736"/>
            <a:ext cx="1508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9CC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73975" y="3602736"/>
            <a:ext cx="143560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0A2540"/>
                </a:solidFill>
                <a:latin typeface="Source Han Sans SC"/>
                <a:ea typeface="Source Han Sans SC"/>
                <a:cs typeface="Source Han Sans SC"/>
              </a:rPr>
              <a:t>离线 Linux TTS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9174175" y="2999232"/>
            <a:ext cx="0" cy="1024128"/>
          </a:xfrm>
          <a:prstGeom prst="line">
            <a:avLst/>
          </a:prstGeom>
          <a:ln w="1905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174175" y="2999232"/>
            <a:ext cx="109728" cy="0"/>
          </a:xfrm>
          <a:prstGeom prst="line">
            <a:avLst/>
          </a:prstGeom>
          <a:ln w="1905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9174175" y="4023360"/>
            <a:ext cx="109728" cy="0"/>
          </a:xfrm>
          <a:prstGeom prst="line">
            <a:avLst/>
          </a:prstGeom>
          <a:ln w="1905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9375343" y="2999232"/>
            <a:ext cx="2054931" cy="1024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大脑层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8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通用 Linux aarch64 · Python 3.14</a:t>
            </a:r>
          </a:p>
          <a:p>
            <a:pPr algn="l">
              <a:spcBef>
                <a:spcPts val="200"/>
              </a:spcBef>
            </a:pPr>
            <a:r>
              <a:rPr sz="800" b="0" i="0">
                <a:solidFill>
                  <a:srgbClr val="2E9E7B"/>
                </a:solidFill>
                <a:latin typeface="Source Han Sans SC Heavy"/>
                <a:ea typeface="Source Han Sans SC Heavy"/>
                <a:cs typeface="Source Han Sans SC Heavy"/>
              </a:rPr>
              <a:t>● 已完成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61695" y="4096512"/>
            <a:ext cx="1097280" cy="475488"/>
          </a:xfrm>
          <a:prstGeom prst="rect">
            <a:avLst/>
          </a:prstGeom>
          <a:solidFill>
            <a:srgbClr val="1264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61695" y="4096512"/>
            <a:ext cx="10972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Source Han Sans SC Heavy"/>
                <a:ea typeface="Source Han Sans SC Heavy"/>
                <a:cs typeface="Source Han Sans SC Heavy"/>
              </a:rPr>
              <a:t>控制层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950415" y="4096512"/>
            <a:ext cx="7132320" cy="475488"/>
          </a:xfrm>
          <a:prstGeom prst="rect">
            <a:avLst/>
          </a:prstGeom>
          <a:solidFill>
            <a:srgbClr val="DCE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041855" y="4151376"/>
            <a:ext cx="1682495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9CC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078431" y="4151376"/>
            <a:ext cx="1609343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40 帧正弦步态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797503" y="4151376"/>
            <a:ext cx="1682495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9CC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834079" y="4151376"/>
            <a:ext cx="1609343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JSON 动作库回放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553151" y="4151376"/>
            <a:ext cx="1682495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9CC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589727" y="4151376"/>
            <a:ext cx="1609343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单次视觉修正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308799" y="4151376"/>
            <a:ext cx="1682495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9CC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45375" y="4151376"/>
            <a:ext cx="1609343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安全限位钳制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9174175" y="4096512"/>
            <a:ext cx="0" cy="475488"/>
          </a:xfrm>
          <a:prstGeom prst="line">
            <a:avLst/>
          </a:prstGeom>
          <a:ln w="1905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9174175" y="4096512"/>
            <a:ext cx="109728" cy="0"/>
          </a:xfrm>
          <a:prstGeom prst="line">
            <a:avLst/>
          </a:prstGeom>
          <a:ln w="1905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9174175" y="4572000"/>
            <a:ext cx="109728" cy="0"/>
          </a:xfrm>
          <a:prstGeom prst="line">
            <a:avLst/>
          </a:prstGeom>
          <a:ln w="1905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9375343" y="4096512"/>
            <a:ext cx="2054931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小脑层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8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现行 Python；STM32 为规划</a:t>
            </a:r>
          </a:p>
          <a:p>
            <a:pPr algn="l">
              <a:spcBef>
                <a:spcPts val="200"/>
              </a:spcBef>
            </a:pPr>
            <a:r>
              <a:rPr sz="8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◐ 进行中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61695" y="4645152"/>
            <a:ext cx="1097280" cy="475488"/>
          </a:xfrm>
          <a:prstGeom prst="rect">
            <a:avLst/>
          </a:prstGeom>
          <a:solidFill>
            <a:srgbClr val="5B8F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61695" y="4645152"/>
            <a:ext cx="10972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Source Han Sans SC Heavy"/>
                <a:ea typeface="Source Han Sans SC Heavy"/>
                <a:cs typeface="Source Han Sans SC Heavy"/>
              </a:rPr>
              <a:t>执行层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950415" y="4645152"/>
            <a:ext cx="71323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2041855" y="4700016"/>
            <a:ext cx="694944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078431" y="4700016"/>
            <a:ext cx="687628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0">
                <a:solidFill>
                  <a:srgbClr val="0A2540"/>
                </a:solidFill>
                <a:latin typeface="Source Han Sans SC"/>
                <a:ea typeface="Source Han Sans SC"/>
                <a:cs typeface="Source Han Sans SC"/>
              </a:rPr>
              <a:t>22 路 STS3215 串行总线（规划真串口） / Webots 仿真电机接口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9174175" y="4645152"/>
            <a:ext cx="0" cy="475488"/>
          </a:xfrm>
          <a:prstGeom prst="line">
            <a:avLst/>
          </a:prstGeom>
          <a:ln w="1905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9174175" y="4645152"/>
            <a:ext cx="109728" cy="0"/>
          </a:xfrm>
          <a:prstGeom prst="line">
            <a:avLst/>
          </a:prstGeom>
          <a:ln w="1905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9174175" y="5120640"/>
            <a:ext cx="109728" cy="0"/>
          </a:xfrm>
          <a:prstGeom prst="line">
            <a:avLst/>
          </a:prstGeom>
          <a:ln w="1905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9375343" y="4645152"/>
            <a:ext cx="2054931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总线 / 仿真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8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Webots 离线 40 项已联调</a:t>
            </a:r>
          </a:p>
          <a:p>
            <a:pPr algn="l">
              <a:spcBef>
                <a:spcPts val="200"/>
              </a:spcBef>
            </a:pPr>
            <a:r>
              <a:rPr sz="800" b="0" i="0">
                <a:solidFill>
                  <a:srgbClr val="6B7A8C"/>
                </a:solidFill>
                <a:latin typeface="Source Han Sans SC Heavy"/>
                <a:ea typeface="Source Han Sans SC Heavy"/>
                <a:cs typeface="Source Han Sans SC Heavy"/>
              </a:rPr>
              <a:t>○ 规划中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61695" y="5212079"/>
            <a:ext cx="10668579" cy="621792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44575" y="5248655"/>
            <a:ext cx="1030281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一次任务的 8 步执行通路：</a:t>
            </a:r>
            <a:r>
              <a:rPr sz="9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相机取帧 → 感知推理 → 任务卡匹配 → FSM 流转 → 技能执行 → 小脑解算 → 总线下发 → 传感器反馈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44575" y="5504688"/>
            <a:ext cx="1030281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边界原则：大脑与小脑仅传 JSON / 角度字典；ARM 板上不跑 3D 仿真；主包标准库零三方依赖，保障跨平台绝对纯净。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61695" y="6016752"/>
            <a:ext cx="71323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本页状态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529791" y="6016752"/>
            <a:ext cx="771144" cy="237744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621231" y="6016752"/>
            <a:ext cx="6248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2E9E7B"/>
                </a:solidFill>
                <a:latin typeface="Source Han Sans SC Heavy"/>
                <a:ea typeface="Source Han Sans SC Heavy"/>
                <a:cs typeface="Source Han Sans SC Heavy"/>
              </a:rPr>
              <a:t>●</a:t>
            </a:r>
            <a:r>
              <a:rPr sz="1050" b="0" i="0">
                <a:solidFill>
                  <a:srgbClr val="2E9E7B"/>
                </a:solidFill>
                <a:latin typeface="Source Han Sans SC"/>
                <a:ea typeface="Source Han Sans SC"/>
                <a:cs typeface="Source Han Sans SC"/>
              </a:rPr>
              <a:t> 已完成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447239" y="6016752"/>
            <a:ext cx="771144" cy="237744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538679" y="6016752"/>
            <a:ext cx="6248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◐</a:t>
            </a:r>
            <a:r>
              <a:rPr sz="1050" b="0" i="0">
                <a:solidFill>
                  <a:srgbClr val="E4572E"/>
                </a:solidFill>
                <a:latin typeface="Source Han Sans SC"/>
                <a:ea typeface="Source Han Sans SC"/>
                <a:cs typeface="Source Han Sans SC"/>
              </a:rPr>
              <a:t> 进行中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364687" y="6016752"/>
            <a:ext cx="771144" cy="237744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456127" y="6016752"/>
            <a:ext cx="6248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6B7A8C"/>
                </a:solidFill>
                <a:latin typeface="Source Han Sans SC Heavy"/>
                <a:ea typeface="Source Han Sans SC Heavy"/>
                <a:cs typeface="Source Han Sans SC Heavy"/>
              </a:rPr>
              <a:t>○</a:t>
            </a:r>
            <a:r>
              <a:rPr sz="10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 规划中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695" y="3657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02</a:t>
            </a:r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  系统架构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48095" y="365760"/>
            <a:ext cx="51821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系统架构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61695" y="6217920"/>
            <a:ext cx="10668579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61695" y="641908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A.T.R.I. 桌面自主人形智能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8095" y="6419088"/>
            <a:ext cx="51821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06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1695" y="713232"/>
            <a:ext cx="10668579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任务有限状态机：6 状态严密流转，JSON 描述赛题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" y="1481328"/>
            <a:ext cx="10668579" cy="310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任务变成数据，调度交给引擎；非法状态跳变立即抛出 FSMError。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61695" y="1847088"/>
            <a:ext cx="10668579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61695" y="1993392"/>
            <a:ext cx="4572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6 状态 FSM</a:t>
            </a:r>
            <a:r>
              <a:rPr sz="11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 · 5 张真实任务卡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1695" y="2642616"/>
            <a:ext cx="1958151" cy="566928"/>
          </a:xfrm>
          <a:prstGeom prst="rect">
            <a:avLst/>
          </a:prstGeom>
          <a:solidFill>
            <a:srgbClr val="E8F0F7"/>
          </a:solidFill>
          <a:ln w="9525">
            <a:solidFill>
              <a:srgbClr val="9CC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8271" y="2642616"/>
            <a:ext cx="188499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STANDBY</a:t>
            </a:r>
          </a:p>
          <a:p>
            <a:pPr algn="ctr">
              <a:spcBef>
                <a:spcPts val="200"/>
              </a:spcBef>
            </a:pPr>
            <a:r>
              <a:rPr sz="8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待机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747278" y="2926080"/>
            <a:ext cx="164592" cy="0"/>
          </a:xfrm>
          <a:prstGeom prst="line">
            <a:avLst/>
          </a:prstGeom>
          <a:ln w="12700">
            <a:solidFill>
              <a:srgbClr val="1264A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939302" y="2642616"/>
            <a:ext cx="1958151" cy="566928"/>
          </a:xfrm>
          <a:prstGeom prst="rect">
            <a:avLst/>
          </a:prstGeom>
          <a:solidFill>
            <a:srgbClr val="E8F0F7"/>
          </a:solidFill>
          <a:ln w="9525">
            <a:solidFill>
              <a:srgbClr val="9CC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75878" y="2642616"/>
            <a:ext cx="188499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ENTERING</a:t>
            </a:r>
          </a:p>
          <a:p>
            <a:pPr algn="ctr">
              <a:spcBef>
                <a:spcPts val="200"/>
              </a:spcBef>
            </a:pPr>
            <a:r>
              <a:rPr sz="8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任务进入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924885" y="2926080"/>
            <a:ext cx="164592" cy="0"/>
          </a:xfrm>
          <a:prstGeom prst="line">
            <a:avLst/>
          </a:prstGeom>
          <a:ln w="12700">
            <a:solidFill>
              <a:srgbClr val="1264A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5116909" y="2642616"/>
            <a:ext cx="1958151" cy="566928"/>
          </a:xfrm>
          <a:prstGeom prst="rect">
            <a:avLst/>
          </a:prstGeom>
          <a:solidFill>
            <a:srgbClr val="E8F0F7"/>
          </a:solidFill>
          <a:ln w="9525">
            <a:solidFill>
              <a:srgbClr val="9CC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53485" y="2642616"/>
            <a:ext cx="188499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EXECUTING</a:t>
            </a:r>
          </a:p>
          <a:p>
            <a:pPr algn="ctr">
              <a:spcBef>
                <a:spcPts val="200"/>
              </a:spcBef>
            </a:pPr>
            <a:r>
              <a:rPr sz="8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技能执行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102492" y="2926080"/>
            <a:ext cx="164592" cy="0"/>
          </a:xfrm>
          <a:prstGeom prst="line">
            <a:avLst/>
          </a:prstGeom>
          <a:ln w="12700">
            <a:solidFill>
              <a:srgbClr val="1264A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7294516" y="2642616"/>
            <a:ext cx="1958151" cy="566928"/>
          </a:xfrm>
          <a:prstGeom prst="rect">
            <a:avLst/>
          </a:prstGeom>
          <a:solidFill>
            <a:srgbClr val="E8F0F7"/>
          </a:solidFill>
          <a:ln w="9525">
            <a:solidFill>
              <a:srgbClr val="9CC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31092" y="2642616"/>
            <a:ext cx="188499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FEEDBACK</a:t>
            </a:r>
          </a:p>
          <a:p>
            <a:pPr algn="ctr">
              <a:spcBef>
                <a:spcPts val="200"/>
              </a:spcBef>
            </a:pPr>
            <a:r>
              <a:rPr sz="8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结果反馈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280099" y="2926080"/>
            <a:ext cx="164592" cy="0"/>
          </a:xfrm>
          <a:prstGeom prst="line">
            <a:avLst/>
          </a:prstGeom>
          <a:ln w="12700">
            <a:solidFill>
              <a:srgbClr val="1264A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9472123" y="2642616"/>
            <a:ext cx="1958151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2E9E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8699" y="2642616"/>
            <a:ext cx="188499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DONE</a:t>
            </a:r>
          </a:p>
          <a:p>
            <a:pPr algn="ctr">
              <a:spcBef>
                <a:spcPts val="200"/>
              </a:spcBef>
            </a:pPr>
            <a:r>
              <a:rPr sz="8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完成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241554" y="3520440"/>
            <a:ext cx="1188720" cy="329184"/>
          </a:xfrm>
          <a:prstGeom prst="rect">
            <a:avLst/>
          </a:prstGeom>
          <a:noFill/>
          <a:ln w="12700">
            <a:solidFill>
              <a:srgbClr val="E45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41554" y="3520440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ERROR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918377" y="3209544"/>
            <a:ext cx="0" cy="475488"/>
          </a:xfrm>
          <a:prstGeom prst="line">
            <a:avLst/>
          </a:prstGeom>
          <a:ln w="9525">
            <a:solidFill>
              <a:srgbClr val="E457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095984" y="3209544"/>
            <a:ext cx="0" cy="475488"/>
          </a:xfrm>
          <a:prstGeom prst="line">
            <a:avLst/>
          </a:prstGeom>
          <a:ln w="9525">
            <a:solidFill>
              <a:srgbClr val="E457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273591" y="3209544"/>
            <a:ext cx="0" cy="475488"/>
          </a:xfrm>
          <a:prstGeom prst="line">
            <a:avLst/>
          </a:prstGeom>
          <a:ln w="9525">
            <a:solidFill>
              <a:srgbClr val="E457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273591" y="3685032"/>
            <a:ext cx="1967963" cy="0"/>
          </a:xfrm>
          <a:prstGeom prst="line">
            <a:avLst/>
          </a:prstGeom>
          <a:ln w="9525">
            <a:solidFill>
              <a:srgbClr val="E457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61695" y="3520440"/>
            <a:ext cx="27432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任一环节异常 → ERROR（保留完整状态历史）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1695" y="4151376"/>
            <a:ext cx="5669280" cy="1353312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695" y="4151376"/>
            <a:ext cx="32004" cy="1353312"/>
          </a:xfrm>
          <a:prstGeom prst="rect">
            <a:avLst/>
          </a:prstGeom>
          <a:solidFill>
            <a:srgbClr val="9CC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6287" y="4279392"/>
            <a:ext cx="53949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138"/>
              </a:lnSpc>
            </a:pPr>
            <a:r>
              <a:rPr sz="8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# software/atri/task_cards/ 真实任务卡示例</a:t>
            </a:r>
          </a:p>
          <a:p>
            <a:pPr algn="l">
              <a:lnSpc>
                <a:spcPct val="124138"/>
              </a:lnSpc>
            </a:pPr>
            <a:r>
              <a:rPr sz="8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T-01 人脸: {"skills":["face"], "params":{"face_db":"config/face_db.json", "tts":true}, "timeout_s":60}</a:t>
            </a:r>
          </a:p>
          <a:p>
            <a:pPr algn="l">
              <a:lnSpc>
                <a:spcPct val="124138"/>
              </a:lnSpc>
            </a:pPr>
            <a:r>
              <a:rPr sz="8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T-02 循迹: {"skills":["qr"], "params":{"default_payload":{"action":"walk","steps":3}}, "timeout_s":60}</a:t>
            </a:r>
          </a:p>
          <a:p>
            <a:pPr algn="l">
              <a:lnSpc>
                <a:spcPct val="124138"/>
              </a:lnSpc>
            </a:pPr>
            <a:r>
              <a:rPr sz="8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T-03 搬运: {"skills":["carry"], "params":{"target":"红块","distance_cm":8.0}, "timeout_s":90}</a:t>
            </a:r>
          </a:p>
          <a:p>
            <a:pPr algn="l">
              <a:lnSpc>
                <a:spcPct val="124138"/>
              </a:lnSpc>
            </a:pPr>
            <a:r>
              <a:rPr sz="8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T-04 踢球: {"skills":["kick"], "params":{"threshold_cm":1.0}, "timeout_s":60}</a:t>
            </a:r>
          </a:p>
          <a:p>
            <a:pPr algn="l">
              <a:lnSpc>
                <a:spcPct val="124138"/>
              </a:lnSpc>
            </a:pPr>
            <a:r>
              <a:rPr sz="8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T-05 舞蹈: {"skills":["dance"], "params":{"bars":2, "keyword":"跳舞"}, "timeout_s":60}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13855" y="4151376"/>
            <a:ext cx="4816419" cy="1353312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96735" y="4261104"/>
            <a:ext cx="4450659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状态机设计核心机制</a:t>
            </a:r>
          </a:p>
          <a:p>
            <a:pPr algn="l">
              <a:lnSpc>
                <a:spcPct val="128000"/>
              </a:lnSpc>
              <a:spcBef>
                <a:spcPts val="400"/>
              </a:spcBef>
            </a:pPr>
            <a:r>
              <a:rPr sz="9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① 严格转移约束：STANDBY → ENTERING → EXECUTING → FEEDBACK → DONE，任一步异常收敛至 ERROR。</a:t>
            </a:r>
          </a:p>
          <a:p>
            <a:pPr algn="l">
              <a:lnSpc>
                <a:spcPct val="128000"/>
              </a:lnSpc>
              <a:spcBef>
                <a:spcPts val="400"/>
              </a:spcBef>
            </a:pPr>
            <a:r>
              <a:rPr sz="9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② 黑匣子追踪：history 完整记录走过的每一个状态，失败时保留诊断栈现场。</a:t>
            </a:r>
          </a:p>
          <a:p>
            <a:pPr algn="l">
              <a:lnSpc>
                <a:spcPct val="128000"/>
              </a:lnSpc>
              <a:spcBef>
                <a:spcPts val="400"/>
              </a:spcBef>
            </a:pPr>
            <a:r>
              <a:rPr sz="9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③ 零代码换任务：切换赛题只需修改传入的 JSON 文件路径，无需重新烧录或改动主程序。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61695" y="5650992"/>
            <a:ext cx="10668579" cy="438912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1151" y="5650992"/>
            <a:ext cx="1022966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规范校验：</a:t>
            </a:r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TaskCard 解析强制校验 task_id / name / skills / timeout_s，缺字段或技能未知拒绝上电运行。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1695" y="6016752"/>
            <a:ext cx="71323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本页状态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529791" y="6016752"/>
            <a:ext cx="771144" cy="237744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621231" y="6016752"/>
            <a:ext cx="6248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2E9E7B"/>
                </a:solidFill>
                <a:latin typeface="Source Han Sans SC Heavy"/>
                <a:ea typeface="Source Han Sans SC Heavy"/>
                <a:cs typeface="Source Han Sans SC Heavy"/>
              </a:rPr>
              <a:t>●</a:t>
            </a:r>
            <a:r>
              <a:rPr sz="1050" b="0" i="0">
                <a:solidFill>
                  <a:srgbClr val="2E9E7B"/>
                </a:solidFill>
                <a:latin typeface="Source Han Sans SC"/>
                <a:ea typeface="Source Han Sans SC"/>
                <a:cs typeface="Source Han Sans SC"/>
              </a:rPr>
              <a:t> 已完成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695" y="3657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03</a:t>
            </a:r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  软件契约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48095" y="365760"/>
            <a:ext cx="51821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软件契约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61695" y="6217920"/>
            <a:ext cx="10668579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61695" y="641908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A.T.R.I. 桌面自主人形智能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8095" y="6419088"/>
            <a:ext cx="51821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07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1695" y="713232"/>
            <a:ext cx="10668579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技能契约：根除假成功，found 严守布尔，超时只举旗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" y="1481328"/>
            <a:ext cx="10668579" cy="310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评委问「目标没找到还会不会往下做动作」——绝不会，感知失败立即阻断下发。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61695" y="1847088"/>
            <a:ext cx="10668579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61695" y="199339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344 项测试</a:t>
            </a:r>
            <a:r>
              <a:rPr sz="11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 · 严守三大契约防御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1695" y="2450592"/>
            <a:ext cx="3434273" cy="3163824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1695" y="2450592"/>
            <a:ext cx="3434273" cy="45720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4575" y="2596896"/>
            <a:ext cx="306851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契约一 · 彻底消除假阳性成功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44575" y="2944368"/>
            <a:ext cx="3068513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44575" y="3054096"/>
            <a:ext cx="3068513" cy="2423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【隐患暴露】早期感知返回字符串 "False" 时，Python `if "False":` 判为真值，引发非预期的盲目动作触发。
【契约重构】强制断言 found 必须严格为 bool 类型，传入字符串或其他非布尔类型直接抛出 ValueError 拒绝执行。
【执行原则】Fail-Fast 机制，感知后端未找到目标时，技能立即判定失败，绝不下发实体踢球或搬运关节运动。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78848" y="2450592"/>
            <a:ext cx="3434273" cy="3163824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78848" y="2450592"/>
            <a:ext cx="3434273" cy="45720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61728" y="2596896"/>
            <a:ext cx="306851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契约二 · 线程安全超时机制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561728" y="2944368"/>
            <a:ext cx="3068513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561728" y="3054096"/>
            <a:ext cx="3068513" cy="2423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【隐患暴露】早期子线程超时直接调用 home() 强制归位，导致串口时序冲突与多线程竞争死锁风险。
【契约重构】后台定时器超时仅原子置位 abort_event 标志位；底层不强杀线程。
【安全归位】位姿复位 home() 严格收敛至主线程执行，且仅在 execute() 退出返回后调用一次，保证总线通信一致性。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96001" y="2450592"/>
            <a:ext cx="3434273" cy="3163824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96001" y="2450592"/>
            <a:ext cx="3434273" cy="45720"/>
          </a:xfrm>
          <a:prstGeom prst="rect">
            <a:avLst/>
          </a:prstGeom>
          <a:solidFill>
            <a:srgbClr val="1264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78881" y="2596896"/>
            <a:ext cx="306851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契约三 · 统一上下文隔离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178881" y="2944368"/>
            <a:ext cx="3068513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178881" y="3054096"/>
            <a:ext cx="3068513" cy="2423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【设计原则】所有技能共用 SkillContext 接口，感知、小脑与语音通过上下文注入，技能间互不调用、零直接耦合。
【白名单校验】技能名注册与执行由 Brain 白名单受控管理，非法技能阻断上电。
【自动化覆盖】software/atri/tests 测试集通过 344 项断言全面验证各种边缘输入与异常流转。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1695" y="5650992"/>
            <a:ext cx="10668579" cy="438912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1151" y="5650992"/>
            <a:ext cx="1022966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2E9E7B"/>
                </a:solidFill>
                <a:latin typeface="Source Han Sans SC Heavy"/>
                <a:ea typeface="Source Han Sans SC Heavy"/>
                <a:cs typeface="Source Han Sans SC Heavy"/>
              </a:rPr>
              <a:t>工程自律：</a:t>
            </a:r>
            <a:r>
              <a:rPr sz="9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绝不靠「无论如何都返回成功」来刷演示通过率，真实成败是自动化任务系统的底线。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1695" y="6016752"/>
            <a:ext cx="71323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本页状态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529791" y="6016752"/>
            <a:ext cx="771144" cy="237744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621231" y="6016752"/>
            <a:ext cx="6248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2E9E7B"/>
                </a:solidFill>
                <a:latin typeface="Source Han Sans SC Heavy"/>
                <a:ea typeface="Source Han Sans SC Heavy"/>
                <a:cs typeface="Source Han Sans SC Heavy"/>
              </a:rPr>
              <a:t>●</a:t>
            </a:r>
            <a:r>
              <a:rPr sz="1050" b="0" i="0">
                <a:solidFill>
                  <a:srgbClr val="2E9E7B"/>
                </a:solidFill>
                <a:latin typeface="Source Han Sans SC"/>
                <a:ea typeface="Source Han Sans SC"/>
                <a:cs typeface="Source Han Sans SC"/>
              </a:rPr>
              <a:t> 已完成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695" y="3657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03</a:t>
            </a:r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  软件契约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48095" y="365760"/>
            <a:ext cx="51821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软件契约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61695" y="6217920"/>
            <a:ext cx="10668579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61695" y="641908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A.T.R.I. 桌面自主人形智能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8095" y="6419088"/>
            <a:ext cx="51821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08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1695" y="713232"/>
            <a:ext cx="10668579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小脑运动内核：正弦步态现算，动作库解耦，拒绝非有限值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" y="1481328"/>
            <a:ext cx="10668579" cy="310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限位在 set_angle 统一硬件钳制；NaN / Inf 坚决拒绝，不会被静默钳成限位尽头。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61695" y="1847088"/>
            <a:ext cx="10668579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61695" y="1993392"/>
            <a:ext cx="50292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40 帧 / 周期</a:t>
            </a:r>
            <a:r>
              <a:rPr sz="11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 · 统一 set_angle 钳制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1695" y="2450592"/>
            <a:ext cx="5303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双足正弦步态生成器（generate_gait）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61695" y="2706624"/>
            <a:ext cx="5303520" cy="0"/>
          </a:xfrm>
          <a:prstGeom prst="line">
            <a:avLst/>
          </a:prstGeom>
          <a:ln w="1270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761695" y="2816352"/>
            <a:ext cx="5303520" cy="2116836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1695" y="2816352"/>
            <a:ext cx="32004" cy="2116836"/>
          </a:xfrm>
          <a:prstGeom prst="rect">
            <a:avLst/>
          </a:prstGeom>
          <a:solidFill>
            <a:srgbClr val="9CC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6287" y="2944368"/>
            <a:ext cx="5029200" cy="1860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828"/>
              </a:lnSpc>
            </a:pPr>
            <a:r>
              <a:rPr sz="8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# 正弦相位插补，控制周期 20 ms（40 帧/周期）</a:t>
            </a:r>
          </a:p>
          <a:p>
            <a:pPr algn="l">
              <a:lnSpc>
                <a:spcPct val="114828"/>
              </a:lnSpc>
            </a:pPr>
            <a:r>
              <a:rPr sz="8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phase = 2.0 * math.pi * t</a:t>
            </a:r>
          </a:p>
          <a:p>
            <a:pPr algn="l">
              <a:lnSpc>
                <a:spcPct val="114828"/>
              </a:lnSpc>
            </a:pPr>
            <a:r>
              <a:rPr sz="8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left_amp  = max(0.0, math.sin(phase))</a:t>
            </a:r>
          </a:p>
          <a:p>
            <a:pPr algn="l">
              <a:lnSpc>
                <a:spcPct val="114828"/>
              </a:lnSpc>
            </a:pPr>
            <a:r>
              <a:rPr sz="8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right_amp = max(0.0, math.sin(phase + math.pi))</a:t>
            </a:r>
          </a:p>
          <a:p>
            <a:pPr algn="l">
              <a:lnSpc>
                <a:spcPct val="114828"/>
              </a:lnSpc>
            </a:pPr>
            <a:r>
              <a:rPr sz="8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frame = {</a:t>
            </a:r>
          </a:p>
          <a:p>
            <a:pPr algn="l">
              <a:lnSpc>
                <a:spcPct val="114828"/>
              </a:lnSpc>
            </a:pPr>
            <a:r>
              <a:rPr sz="8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  "left_hip_pitch":   8.0 * left_amp  * step_length_cm / 2.0,</a:t>
            </a:r>
          </a:p>
          <a:p>
            <a:pPr algn="l">
              <a:lnSpc>
                <a:spcPct val="114828"/>
              </a:lnSpc>
            </a:pPr>
            <a:r>
              <a:rPr sz="8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  "left_knee_pitch": 12.0 * left_amp  * step_height_cm,</a:t>
            </a:r>
          </a:p>
          <a:p>
            <a:pPr algn="l">
              <a:lnSpc>
                <a:spcPct val="114828"/>
              </a:lnSpc>
            </a:pPr>
            <a:r>
              <a:rPr sz="8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  "left_ankle_pitch": -6.0 * left_amp,</a:t>
            </a:r>
          </a:p>
          <a:p>
            <a:pPr algn="l">
              <a:lnSpc>
                <a:spcPct val="114828"/>
              </a:lnSpc>
            </a:pPr>
            <a:r>
              <a:rPr sz="8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  "trunk_pitch": 1.5 * math.sin(phase),</a:t>
            </a:r>
          </a:p>
          <a:p>
            <a:pPr algn="l">
              <a:lnSpc>
                <a:spcPct val="114828"/>
              </a:lnSpc>
            </a:pPr>
            <a:r>
              <a:rPr sz="8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  "trunk_roll":  1.0 * math.sin(phase / 2.0),</a:t>
            </a:r>
          </a:p>
          <a:p>
            <a:pPr algn="l">
              <a:lnSpc>
                <a:spcPct val="114828"/>
              </a:lnSpc>
            </a:pPr>
            <a:r>
              <a:rPr sz="8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39535" y="2450592"/>
            <a:ext cx="50907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动作库规范与数值安全防御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339535" y="2706624"/>
            <a:ext cx="5090739" cy="0"/>
          </a:xfrm>
          <a:prstGeom prst="line">
            <a:avLst/>
          </a:prstGeom>
          <a:ln w="1270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6339535" y="2816352"/>
            <a:ext cx="5090739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22415" y="2944368"/>
            <a:ext cx="4724979" cy="2697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① 关键帧动作库（ActionLibrary）</a:t>
            </a:r>
          </a:p>
          <a:p>
            <a:pPr algn="l">
              <a:lnSpc>
                <a:spcPct val="128000"/>
              </a:lnSpc>
              <a:spcBef>
                <a:spcPts val="300"/>
              </a:spcBef>
            </a:pPr>
            <a:r>
              <a:rPr sz="9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动作存储为标准 JSON 文件，调姿态、调舞蹈只需改 JSON 关键帧，无需重编 Python。校验器强制匹配 22 个合法关节名。</a:t>
            </a:r>
          </a:p>
          <a:p>
            <a:pPr algn="l">
              <a:spcBef>
                <a:spcPts val="600"/>
              </a:spcBef>
            </a:pPr>
            <a:r>
              <a:rPr sz="105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② 全局限位钳制</a:t>
            </a:r>
          </a:p>
          <a:p>
            <a:pPr algn="l">
              <a:lnSpc>
                <a:spcPct val="128000"/>
              </a:lnSpc>
              <a:spcBef>
                <a:spcPts val="300"/>
              </a:spcBef>
            </a:pPr>
            <a:r>
              <a:rPr sz="9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所有关节角度统一在 Cerebellum.set_angle() 内执行 min/max 范围限制，子类仅需实现底层 _write_angle()，实现业务与保护物理硬隔离。</a:t>
            </a:r>
          </a:p>
          <a:p>
            <a:pPr algn="l">
              <a:spcBef>
                <a:spcPts val="600"/>
              </a:spcBef>
            </a:pPr>
            <a:r>
              <a:rPr sz="105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③ 严防非有限值（NaN / Inf）</a:t>
            </a:r>
          </a:p>
          <a:p>
            <a:pPr algn="l">
              <a:lnSpc>
                <a:spcPct val="128000"/>
              </a:lnSpc>
              <a:spcBef>
                <a:spcPts val="300"/>
              </a:spcBef>
            </a:pPr>
            <a:r>
              <a:rPr sz="9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遇到 NaN/Inf 时直接抛出 ValueError 拒绝下发，绝不使用 clamp 静默将其转化为限位极值，防止舵机以最大扭矩撞击机械限位。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1695" y="5650992"/>
            <a:ext cx="10668579" cy="438912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1151" y="5650992"/>
            <a:ext cx="1022966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步态成熟度声明：</a:t>
            </a:r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当前步态生成器为运动学解析帧序列，用于打通调度到总线链路；物理地面的稳定性与参数整定需在实机装配后展开。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695" y="6016752"/>
            <a:ext cx="71323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本页状态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529791" y="6016752"/>
            <a:ext cx="771144" cy="237744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21231" y="6016752"/>
            <a:ext cx="6248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2E9E7B"/>
                </a:solidFill>
                <a:latin typeface="Source Han Sans SC Heavy"/>
                <a:ea typeface="Source Han Sans SC Heavy"/>
                <a:cs typeface="Source Han Sans SC Heavy"/>
              </a:rPr>
              <a:t>●</a:t>
            </a:r>
            <a:r>
              <a:rPr sz="1050" b="0" i="0">
                <a:solidFill>
                  <a:srgbClr val="2E9E7B"/>
                </a:solidFill>
                <a:latin typeface="Source Han Sans SC"/>
                <a:ea typeface="Source Han Sans SC"/>
                <a:cs typeface="Source Han Sans SC"/>
              </a:rPr>
              <a:t> 已完成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695" y="3657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03</a:t>
            </a:r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  软件契约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48095" y="365760"/>
            <a:ext cx="51821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软件契约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61695" y="6217920"/>
            <a:ext cx="10668579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61695" y="641908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A.T.R.I. 桌面自主人形智能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8095" y="6419088"/>
            <a:ext cx="51821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09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1695" y="713232"/>
            <a:ext cx="10668579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单目视觉本地运行：能检出框，特征比对未做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" y="1481328"/>
            <a:ext cx="10668579" cy="310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Q&amp;A 坦诚承认身份库未接；幻灯片坚决不吹成「认出是谁」。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61695" y="1847088"/>
            <a:ext cx="10668579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61695" y="1993392"/>
            <a:ext cx="50292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3 路本地检测</a:t>
            </a:r>
            <a:r>
              <a:rPr sz="11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 · 纯板载 OpenCV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1695" y="2450592"/>
            <a:ext cx="10668579" cy="310896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3135" y="2450592"/>
            <a:ext cx="10058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目标类别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41855" y="2450592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检测算法与原理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67935" y="2450592"/>
            <a:ext cx="21945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关键参数配置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45375" y="2450592"/>
            <a:ext cx="21031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当前输出结果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31375" y="2450592"/>
            <a:ext cx="170718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真实实现状态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3135" y="2761488"/>
            <a:ext cx="1005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人脸检测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41855" y="2761488"/>
            <a:ext cx="2743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Haar 级联分类器（本地 xml）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67935" y="2761488"/>
            <a:ext cx="2194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scaleFactor=1.1, minNeighbors=5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45375" y="2761488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bbox 坐标 + 置信度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31375" y="2761488"/>
            <a:ext cx="17071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● 已实现检测框定位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61695" y="3145536"/>
            <a:ext cx="10668579" cy="0"/>
          </a:xfrm>
          <a:prstGeom prst="line">
            <a:avLst/>
          </a:prstGeom>
          <a:ln w="6350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53135" y="3145536"/>
            <a:ext cx="1005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特征比对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41855" y="3145536"/>
            <a:ext cx="2743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人脸特征向量与数据库匹配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67935" y="3145536"/>
            <a:ext cx="2194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config/face_db.json（2条占位）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45375" y="3145536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当前回退任务卡默认姓名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31375" y="3145536"/>
            <a:ext cx="17071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○ 未实现（从未被加载）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61695" y="3529584"/>
            <a:ext cx="10668579" cy="0"/>
          </a:xfrm>
          <a:prstGeom prst="line">
            <a:avLst/>
          </a:prstGeom>
          <a:ln w="6350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53135" y="3529584"/>
            <a:ext cx="1005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二维码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41855" y="3529584"/>
            <a:ext cx="2743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单目透视矫正 + 解码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67935" y="3529584"/>
            <a:ext cx="2194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detectAndDecode 解析 JSON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45375" y="3529584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walk / turn 结构化指令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31375" y="3529584"/>
            <a:ext cx="17071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● 已实现标准解码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61695" y="3913632"/>
            <a:ext cx="10668579" cy="0"/>
          </a:xfrm>
          <a:prstGeom prst="line">
            <a:avLst/>
          </a:prstGeom>
          <a:ln w="6350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53135" y="3913632"/>
            <a:ext cx="1005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网球检测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41855" y="3913632"/>
            <a:ext cx="2743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HSV 颜色空间分割 + 轮廓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67935" y="3913632"/>
            <a:ext cx="2194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绿色区间 H:35-85, S:80-255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45375" y="3913632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x_cm / distance_cm / center_px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31375" y="3913632"/>
            <a:ext cx="17071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● 已实现单目几何测距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761695" y="4297680"/>
            <a:ext cx="10668579" cy="0"/>
          </a:xfrm>
          <a:prstGeom prst="line">
            <a:avLst/>
          </a:prstGeom>
          <a:ln w="6350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761695" y="4389120"/>
            <a:ext cx="10668579" cy="1243584"/>
          </a:xfrm>
          <a:prstGeom prst="rect">
            <a:avLst/>
          </a:prstGeom>
          <a:solidFill>
            <a:srgbClr val="FFFFFF"/>
          </a:solidFill>
          <a:ln w="15240">
            <a:solidFill>
              <a:srgbClr val="E45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81151" y="4498848"/>
            <a:ext cx="10229667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答辩核心诚信自律守则（评委重点核查项）：</a:t>
            </a: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sz="95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① 人脸识别仅完成「检测」，未完成「识别」：</a:t>
            </a:r>
            <a:r>
              <a:rPr sz="9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OpenCV detect_face 只能输出人脸所在位置。FaceSkill 在取不到身份时回落至默认名，置信度写死 0.93。绝不宣称实现了真实人脸身份识别。</a:t>
            </a: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sz="95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② 目标检测器缺失：</a:t>
            </a:r>
            <a:r>
              <a:rPr sz="9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物品搬运中没有通用的 detect_object，当前 perceive("object") 依赖任务卡参数兜底。通用轻量目标分类列为阶段二待办。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61695" y="5650992"/>
            <a:ext cx="10668579" cy="438912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81151" y="5650992"/>
            <a:ext cx="1022966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依赖说明：</a:t>
            </a:r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cv2 为懒加载可选依赖；自动化测试使用 fake cv2 桩模块，CI 环境无需预装巨大视觉库即可 100% 通过。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1695" y="6016752"/>
            <a:ext cx="71323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本页状态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529791" y="6016752"/>
            <a:ext cx="771144" cy="237744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21231" y="6016752"/>
            <a:ext cx="6248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2E9E7B"/>
                </a:solidFill>
                <a:latin typeface="Source Han Sans SC Heavy"/>
                <a:ea typeface="Source Han Sans SC Heavy"/>
                <a:cs typeface="Source Han Sans SC Heavy"/>
              </a:rPr>
              <a:t>●</a:t>
            </a:r>
            <a:r>
              <a:rPr sz="1050" b="0" i="0">
                <a:solidFill>
                  <a:srgbClr val="2E9E7B"/>
                </a:solidFill>
                <a:latin typeface="Source Han Sans SC"/>
                <a:ea typeface="Source Han Sans SC"/>
                <a:cs typeface="Source Han Sans SC"/>
              </a:rPr>
              <a:t> 已完成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447239" y="6016752"/>
            <a:ext cx="771144" cy="237744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538679" y="6016752"/>
            <a:ext cx="6248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6B7A8C"/>
                </a:solidFill>
                <a:latin typeface="Source Han Sans SC Heavy"/>
                <a:ea typeface="Source Han Sans SC Heavy"/>
                <a:cs typeface="Source Han Sans SC Heavy"/>
              </a:rPr>
              <a:t>○</a:t>
            </a:r>
            <a:r>
              <a:rPr sz="10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 规划中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695" y="3657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03</a:t>
            </a:r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  软件契约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48095" y="365760"/>
            <a:ext cx="51821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软件契约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61695" y="6217920"/>
            <a:ext cx="10668579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61695" y="641908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A.T.R.I. 桌面自主人形智能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8095" y="6419088"/>
            <a:ext cx="51821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10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1695" y="713232"/>
            <a:ext cx="10668579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离线语音交互：Linux 四级引擎探测，无发声安全 Mock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" y="1481328"/>
            <a:ext cx="10668579" cy="310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覆盖开发机 macOS、部署板 Linux 及无声卡 CI 自动化环境；ATRI_TTS 环境变量可强制。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61695" y="1847088"/>
            <a:ext cx="10668579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61695" y="199339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4 级动态探测</a:t>
            </a:r>
            <a:r>
              <a:rPr sz="11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 · ATRI_TTS 环境变量可强制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1695" y="2450592"/>
            <a:ext cx="2461404" cy="475488"/>
          </a:xfrm>
          <a:prstGeom prst="rect">
            <a:avLst/>
          </a:prstGeom>
          <a:solidFill>
            <a:srgbClr val="DCE9F4"/>
          </a:solidFill>
          <a:ln w="9525">
            <a:solidFill>
              <a:srgbClr val="9CC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6559" y="2450592"/>
            <a:ext cx="235167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1. piper (神经网络TTS)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68819" y="2688336"/>
            <a:ext cx="182880" cy="0"/>
          </a:xfrm>
          <a:prstGeom prst="line">
            <a:avLst/>
          </a:prstGeom>
          <a:ln w="12700">
            <a:solidFill>
              <a:srgbClr val="1264A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497419" y="2450592"/>
            <a:ext cx="2461404" cy="475488"/>
          </a:xfrm>
          <a:prstGeom prst="rect">
            <a:avLst/>
          </a:prstGeom>
          <a:solidFill>
            <a:srgbClr val="DCE9F4"/>
          </a:solidFill>
          <a:ln w="9525">
            <a:solidFill>
              <a:srgbClr val="9CC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52283" y="2450592"/>
            <a:ext cx="235167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2. espeak-ng (标准引擎)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04544" y="2688336"/>
            <a:ext cx="182880" cy="0"/>
          </a:xfrm>
          <a:prstGeom prst="line">
            <a:avLst/>
          </a:prstGeom>
          <a:ln w="12700">
            <a:solidFill>
              <a:srgbClr val="1264A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6233144" y="2450592"/>
            <a:ext cx="2461404" cy="475488"/>
          </a:xfrm>
          <a:prstGeom prst="rect">
            <a:avLst/>
          </a:prstGeom>
          <a:solidFill>
            <a:srgbClr val="DCE9F4"/>
          </a:solidFill>
          <a:ln w="9525">
            <a:solidFill>
              <a:srgbClr val="9CC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88008" y="2450592"/>
            <a:ext cx="235167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3. espeak (兼容回退)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740269" y="2688336"/>
            <a:ext cx="182880" cy="0"/>
          </a:xfrm>
          <a:prstGeom prst="line">
            <a:avLst/>
          </a:prstGeom>
          <a:ln w="12700">
            <a:solidFill>
              <a:srgbClr val="1264A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968869" y="2450592"/>
            <a:ext cx="2461404" cy="475488"/>
          </a:xfrm>
          <a:prstGeom prst="rect">
            <a:avLst/>
          </a:prstGeom>
          <a:solidFill>
            <a:srgbClr val="DCE9F4"/>
          </a:solidFill>
          <a:ln w="9525">
            <a:solidFill>
              <a:srgbClr val="9CC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23733" y="2450592"/>
            <a:ext cx="235167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4. spd-say (系统接口)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1695" y="3145536"/>
            <a:ext cx="3434273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4575" y="3273552"/>
            <a:ext cx="30685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Linux 边缘板运行模式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44575" y="3602736"/>
            <a:ext cx="3068513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44575" y="3712464"/>
            <a:ext cx="3068513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【推荐配置】apt 安装 espeak-ng 即可脱机直接发声；或配置 piper 获得更高自然度的神经网络中文语音。
【环境覆盖】支持 export ATRI_TTS=espeak-ng 显式指定后端，杜绝动态嗅探带来的不确定性。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78848" y="3145536"/>
            <a:ext cx="3434273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1728" y="3273552"/>
            <a:ext cx="30685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CI 与无头服务器模式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561728" y="3602736"/>
            <a:ext cx="3068513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561728" y="3712464"/>
            <a:ext cx="3068513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【零外部依赖】自动化测试与 CI 流水线中，若探测不到任何 TTS 引擎，自动无缝回退至 MockTTS。
【验证充分】344 项主包测试与 5/5 任务闭环在无音频设备的主机上顺利通过，文本全记录在内存中。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96001" y="3145536"/>
            <a:ext cx="3434273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78881" y="3273552"/>
            <a:ext cx="30685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macOS 本地开发模式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178881" y="3602736"/>
            <a:ext cx="3068513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178881" y="3712464"/>
            <a:ext cx="3068513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【原生体验】开发机 macOS 自动适配系统内置 say 命令行，免去繁琐的第三方音频库编译安装配置。
【统一接口】统一抽象为 speak(text, block=True)，业务代码完全与操作系统音频驱动解耦。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61695" y="5650992"/>
            <a:ext cx="10668579" cy="438912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1151" y="5650992"/>
            <a:ext cx="1022966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边界声明：</a:t>
            </a:r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全仓当前仅有 TTS 文本朗读与语音合成接口；娱乐任务中播放音乐文件（MP3/WAV）为设计规划项，尚无播放器代码。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1695" y="6016752"/>
            <a:ext cx="71323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本页状态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529791" y="6016752"/>
            <a:ext cx="771144" cy="237744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621231" y="6016752"/>
            <a:ext cx="6248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2E9E7B"/>
                </a:solidFill>
                <a:latin typeface="Source Han Sans SC Heavy"/>
                <a:ea typeface="Source Han Sans SC Heavy"/>
                <a:cs typeface="Source Han Sans SC Heavy"/>
              </a:rPr>
              <a:t>●</a:t>
            </a:r>
            <a:r>
              <a:rPr sz="1050" b="0" i="0">
                <a:solidFill>
                  <a:srgbClr val="2E9E7B"/>
                </a:solidFill>
                <a:latin typeface="Source Han Sans SC"/>
                <a:ea typeface="Source Han Sans SC"/>
                <a:cs typeface="Source Han Sans SC"/>
              </a:rPr>
              <a:t> 已完成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695" y="3657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04</a:t>
            </a:r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  五项任务闭环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48095" y="365760"/>
            <a:ext cx="51821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五项任务闭环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61695" y="6217920"/>
            <a:ext cx="10668579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61695" y="641908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A.T.R.I. 桌面自主人形智能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8095" y="6419088"/>
            <a:ext cx="51821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11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1695" y="713232"/>
            <a:ext cx="10668579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任务一 人脸识别：头部 2 自由度对准，不声称认出姓名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" y="1481328"/>
            <a:ext cx="10668579" cy="310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四步链路里第一步已经跑通，头部双舵机闭环跟准检测框，TTS 播报闭环。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61695" y="1847088"/>
            <a:ext cx="10668579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61695" y="1993392"/>
            <a:ext cx="3840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人脸检测</a:t>
            </a:r>
            <a:r>
              <a:rPr sz="11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 已可用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22215" y="2029968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实现完成度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22215" y="2267712"/>
            <a:ext cx="553212" cy="118872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530291" y="2267712"/>
            <a:ext cx="553212" cy="118872"/>
          </a:xfrm>
          <a:prstGeom prst="rect">
            <a:avLst/>
          </a:prstGeom>
          <a:solidFill>
            <a:srgbClr val="DCE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38367" y="2267712"/>
            <a:ext cx="553212" cy="118872"/>
          </a:xfrm>
          <a:prstGeom prst="rect">
            <a:avLst/>
          </a:prstGeom>
          <a:solidFill>
            <a:srgbClr val="DCE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746443" y="2267712"/>
            <a:ext cx="553212" cy="118872"/>
          </a:xfrm>
          <a:prstGeom prst="rect">
            <a:avLst/>
          </a:prstGeom>
          <a:solidFill>
            <a:srgbClr val="DCE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27671" y="2212848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E9E7B"/>
                </a:solidFill>
                <a:latin typeface="Source Han Sans SC Heavy"/>
                <a:ea typeface="Source Han Sans SC Heavy"/>
                <a:cs typeface="Source Han Sans SC Heavy"/>
              </a:rPr>
              <a:t>1/4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1695" y="2450592"/>
            <a:ext cx="4160520" cy="3127248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1151" y="2578608"/>
            <a:ext cx="37216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① 流程链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81151" y="2852928"/>
            <a:ext cx="3721608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9CC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2591" y="2852928"/>
            <a:ext cx="353872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摄像头采集取帧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32227" y="3182112"/>
            <a:ext cx="219456" cy="3246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 i="0">
                <a:solidFill>
                  <a:srgbClr val="1264A3"/>
                </a:solidFill>
                <a:latin typeface="Source Han Sans SC"/>
                <a:ea typeface="Source Han Sans SC"/>
                <a:cs typeface="Source Han Sans SC"/>
              </a:rPr>
              <a:t>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81151" y="3506724"/>
            <a:ext cx="3721608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9CC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2591" y="3506724"/>
            <a:ext cx="353872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OpenCV Haar 级联检测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32227" y="3835908"/>
            <a:ext cx="219456" cy="3246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 i="0">
                <a:solidFill>
                  <a:srgbClr val="1264A3"/>
                </a:solidFill>
                <a:latin typeface="Source Han Sans SC"/>
                <a:ea typeface="Source Han Sans SC"/>
                <a:cs typeface="Source Han Sans SC"/>
              </a:rPr>
              <a:t>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81151" y="4160520"/>
            <a:ext cx="3721608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9CC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72591" y="4160520"/>
            <a:ext cx="353872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特征向量比对（未实现）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32227" y="4489704"/>
            <a:ext cx="219456" cy="3246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 i="0">
                <a:solidFill>
                  <a:srgbClr val="1264A3"/>
                </a:solidFill>
                <a:latin typeface="Source Han Sans SC"/>
                <a:ea typeface="Source Han Sans SC"/>
                <a:cs typeface="Source Han Sans SC"/>
              </a:rPr>
              <a:t>↓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81151" y="4814316"/>
            <a:ext cx="3721608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9CC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72591" y="4814316"/>
            <a:ext cx="353872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本地 TTS 语音播报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1151" y="5614416"/>
            <a:ext cx="37216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代码基线: software/atri/atri/skills/face.py 真实闭环代码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230368" y="2450592"/>
            <a:ext cx="2916936" cy="292608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40096" y="2450592"/>
            <a:ext cx="26974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ource Han Sans SC Heavy"/>
                <a:ea typeface="Source Han Sans SC Heavy"/>
                <a:cs typeface="Source Han Sans SC Heavy"/>
              </a:rPr>
              <a:t>● 已实现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13064" y="2450592"/>
            <a:ext cx="2916936" cy="292608"/>
          </a:xfrm>
          <a:prstGeom prst="rect">
            <a:avLst/>
          </a:prstGeom>
          <a:solidFill>
            <a:srgbClr val="6B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22792" y="2450592"/>
            <a:ext cx="26974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ource Han Sans SC Heavy"/>
                <a:ea typeface="Source Han Sans SC Heavy"/>
                <a:cs typeface="Source Han Sans SC Heavy"/>
              </a:rPr>
              <a:t>○ 待开发</a:t>
            </a:r>
          </a:p>
        </p:txBody>
      </p:sp>
      <p:sp>
        <p:nvSpPr>
          <p:cNvPr id="35" name="Oval 34"/>
          <p:cNvSpPr/>
          <p:nvPr/>
        </p:nvSpPr>
        <p:spPr>
          <a:xfrm>
            <a:off x="5230368" y="2884932"/>
            <a:ext cx="45720" cy="45720"/>
          </a:xfrm>
          <a:prstGeom prst="ellipse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76672" y="2816352"/>
            <a:ext cx="27706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OpenCVPerception.detect_face() 用 Haar Cascade 返回 bbox + 置信度</a:t>
            </a:r>
          </a:p>
        </p:txBody>
      </p:sp>
      <p:sp>
        <p:nvSpPr>
          <p:cNvPr id="37" name="Oval 36"/>
          <p:cNvSpPr/>
          <p:nvPr/>
        </p:nvSpPr>
        <p:spPr>
          <a:xfrm>
            <a:off x="5230368" y="3634740"/>
            <a:ext cx="45720" cy="45720"/>
          </a:xfrm>
          <a:prstGeom prst="ellipse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76672" y="3566160"/>
            <a:ext cx="27706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头部 2 DOF（head_yaw ±90°, head_pitch ±45°）追踪人脸中心对齐</a:t>
            </a:r>
          </a:p>
        </p:txBody>
      </p:sp>
      <p:sp>
        <p:nvSpPr>
          <p:cNvPr id="39" name="Oval 38"/>
          <p:cNvSpPr/>
          <p:nvPr/>
        </p:nvSpPr>
        <p:spPr>
          <a:xfrm>
            <a:off x="5230368" y="4201668"/>
            <a:ext cx="45720" cy="45720"/>
          </a:xfrm>
          <a:prstGeom prst="ellipse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76672" y="4133088"/>
            <a:ext cx="27706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TTS 播报链路完备（Linux piper / espeak-ng / macOS say）</a:t>
            </a:r>
          </a:p>
        </p:txBody>
      </p:sp>
      <p:sp>
        <p:nvSpPr>
          <p:cNvPr id="41" name="Oval 40"/>
          <p:cNvSpPr/>
          <p:nvPr/>
        </p:nvSpPr>
        <p:spPr>
          <a:xfrm>
            <a:off x="8513064" y="2884932"/>
            <a:ext cx="45720" cy="45720"/>
          </a:xfrm>
          <a:prstGeom prst="ellipse">
            <a:avLst/>
          </a:prstGeom>
          <a:solidFill>
            <a:srgbClr val="6B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59368" y="2816352"/>
            <a:ext cx="27706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config/face_db.json 从未被任何业务代码加载，仅有 2 条占位向量</a:t>
            </a:r>
          </a:p>
        </p:txBody>
      </p:sp>
      <p:sp>
        <p:nvSpPr>
          <p:cNvPr id="43" name="Oval 42"/>
          <p:cNvSpPr/>
          <p:nvPr/>
        </p:nvSpPr>
        <p:spPr>
          <a:xfrm>
            <a:off x="8513064" y="3451860"/>
            <a:ext cx="45720" cy="45720"/>
          </a:xfrm>
          <a:prstGeom prst="ellipse">
            <a:avLst/>
          </a:prstGeom>
          <a:solidFill>
            <a:srgbClr val="6B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59368" y="3383280"/>
            <a:ext cx="27706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detect_face 不提取特征；FaceSkill 找不到人时回退任务卡默认姓名</a:t>
            </a:r>
          </a:p>
        </p:txBody>
      </p:sp>
      <p:sp>
        <p:nvSpPr>
          <p:cNvPr id="45" name="Oval 44"/>
          <p:cNvSpPr/>
          <p:nvPr/>
        </p:nvSpPr>
        <p:spPr>
          <a:xfrm>
            <a:off x="8513064" y="4018787"/>
            <a:ext cx="45720" cy="45720"/>
          </a:xfrm>
          <a:prstGeom prst="ellipse">
            <a:avLst/>
          </a:prstGeom>
          <a:solidFill>
            <a:srgbClr val="6B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59368" y="3950208"/>
            <a:ext cx="27706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真实人脸特征提取模型与多人员比对库列为阶段二重点攻关项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230368" y="5084064"/>
            <a:ext cx="6199632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45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31536" y="5157216"/>
            <a:ext cx="5797296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③ 考核指标　</a:t>
            </a:r>
            <a:r>
              <a:rPr sz="115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识别成功率 ≥ 90%</a:t>
            </a:r>
          </a:p>
          <a:p>
            <a:pPr algn="l">
              <a:spcBef>
                <a:spcPts val="200"/>
              </a:spcBef>
            </a:pPr>
            <a:r>
              <a:rPr sz="8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固定光照、距离 ≤ 1.5 m；当前实机指标待测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1695" y="6016752"/>
            <a:ext cx="71323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本页状态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529791" y="6016752"/>
            <a:ext cx="771144" cy="237744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621231" y="6016752"/>
            <a:ext cx="6248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◐</a:t>
            </a:r>
            <a:r>
              <a:rPr sz="1050" b="0" i="0">
                <a:solidFill>
                  <a:srgbClr val="E4572E"/>
                </a:solidFill>
                <a:latin typeface="Source Han Sans SC"/>
                <a:ea typeface="Source Han Sans SC"/>
                <a:cs typeface="Source Han Sans SC"/>
              </a:rPr>
              <a:t> 进行中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695" y="3657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04</a:t>
            </a:r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  五项任务闭环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48095" y="365760"/>
            <a:ext cx="51821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五项任务闭环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61695" y="6217920"/>
            <a:ext cx="10668579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61695" y="641908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A.T.R.I. 桌面自主人形智能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8095" y="6419088"/>
            <a:ext cx="51821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12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1695" y="713232"/>
            <a:ext cx="10668579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任务二 二维码循迹：二维码本身就是一段可执行 JSON 指令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" y="1481328"/>
            <a:ext cx="10668579" cy="310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现场改路径只需更换二维码贴纸，不用重新刷机、不用重新编译代码。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61695" y="1847088"/>
            <a:ext cx="10668579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61695" y="1993392"/>
            <a:ext cx="3840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{"action":"walk"}</a:t>
            </a:r>
            <a:r>
              <a:rPr sz="11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 指令内嵌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22215" y="2029968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实现完成度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22215" y="2267712"/>
            <a:ext cx="431596" cy="118872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08676" y="2267712"/>
            <a:ext cx="431596" cy="118872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95136" y="2267712"/>
            <a:ext cx="431596" cy="118872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81597" y="2267712"/>
            <a:ext cx="431596" cy="118872"/>
          </a:xfrm>
          <a:prstGeom prst="rect">
            <a:avLst/>
          </a:prstGeom>
          <a:solidFill>
            <a:srgbClr val="DCE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68058" y="2267712"/>
            <a:ext cx="431596" cy="118872"/>
          </a:xfrm>
          <a:prstGeom prst="rect">
            <a:avLst/>
          </a:prstGeom>
          <a:solidFill>
            <a:srgbClr val="DCE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27671" y="2212848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E9E7B"/>
                </a:solidFill>
                <a:latin typeface="Source Han Sans SC Heavy"/>
                <a:ea typeface="Source Han Sans SC Heavy"/>
                <a:cs typeface="Source Han Sans SC Heavy"/>
              </a:rPr>
              <a:t>3/5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1695" y="2450592"/>
            <a:ext cx="4160520" cy="3127248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1151" y="2578608"/>
            <a:ext cx="37216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① 流程链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1151" y="2834640"/>
            <a:ext cx="3721608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9CC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1" name="Picture 20" descr="qr_walk_steps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4695" y="2926080"/>
            <a:ext cx="1828800" cy="18288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81151" y="4901184"/>
            <a:ext cx="37216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样例: software/atri/qr_samples/qr_walk_steps3.png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1151" y="5614416"/>
            <a:ext cx="37216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代码基线: software/atri/atri/skills/qr.py 与 qrgen 工具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30368" y="2450592"/>
            <a:ext cx="2916936" cy="292608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40096" y="2450592"/>
            <a:ext cx="26974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ource Han Sans SC Heavy"/>
                <a:ea typeface="Source Han Sans SC Heavy"/>
                <a:cs typeface="Source Han Sans SC Heavy"/>
              </a:rPr>
              <a:t>● 已实现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13064" y="2450592"/>
            <a:ext cx="2916936" cy="292608"/>
          </a:xfrm>
          <a:prstGeom prst="rect">
            <a:avLst/>
          </a:prstGeom>
          <a:solidFill>
            <a:srgbClr val="6B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22792" y="2450592"/>
            <a:ext cx="26974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ource Han Sans SC Heavy"/>
                <a:ea typeface="Source Han Sans SC Heavy"/>
                <a:cs typeface="Source Han Sans SC Heavy"/>
              </a:rPr>
              <a:t>○ 待开发</a:t>
            </a:r>
          </a:p>
        </p:txBody>
      </p:sp>
      <p:sp>
        <p:nvSpPr>
          <p:cNvPr id="28" name="Oval 27"/>
          <p:cNvSpPr/>
          <p:nvPr/>
        </p:nvSpPr>
        <p:spPr>
          <a:xfrm>
            <a:off x="5230368" y="2884932"/>
            <a:ext cx="45720" cy="45720"/>
          </a:xfrm>
          <a:prstGeom prst="ellipse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76672" y="2816352"/>
            <a:ext cx="27706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指令内嵌：二维码内容即 JSON，原生支持 walk（steps）与 turn（deg）</a:t>
            </a:r>
          </a:p>
        </p:txBody>
      </p:sp>
      <p:sp>
        <p:nvSpPr>
          <p:cNvPr id="30" name="Oval 29"/>
          <p:cNvSpPr/>
          <p:nvPr/>
        </p:nvSpPr>
        <p:spPr>
          <a:xfrm>
            <a:off x="5230368" y="3451860"/>
            <a:ext cx="45720" cy="45720"/>
          </a:xfrm>
          <a:prstGeom prst="ellipse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76672" y="3383280"/>
            <a:ext cx="27706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指令生成器已就绪：python3 -m atri.qrgen --action walk --steps 3</a:t>
            </a:r>
          </a:p>
        </p:txBody>
      </p:sp>
      <p:sp>
        <p:nvSpPr>
          <p:cNvPr id="32" name="Oval 31"/>
          <p:cNvSpPr/>
          <p:nvPr/>
        </p:nvSpPr>
        <p:spPr>
          <a:xfrm>
            <a:off x="5230368" y="4201668"/>
            <a:ext cx="45720" cy="45720"/>
          </a:xfrm>
          <a:prstGeom prst="ellipse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76672" y="4133088"/>
            <a:ext cx="27706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qr_samples/ 下内置 3 张真实样例（walk / turn / dance）并通过解码测试</a:t>
            </a:r>
          </a:p>
        </p:txBody>
      </p:sp>
      <p:sp>
        <p:nvSpPr>
          <p:cNvPr id="34" name="Oval 33"/>
          <p:cNvSpPr/>
          <p:nvPr/>
        </p:nvSpPr>
        <p:spPr>
          <a:xfrm>
            <a:off x="8513064" y="2884932"/>
            <a:ext cx="45720" cy="45720"/>
          </a:xfrm>
          <a:prstGeom prst="ellipse">
            <a:avLst/>
          </a:prstGeom>
          <a:solidFill>
            <a:srgbClr val="6B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59368" y="2816352"/>
            <a:ext cx="27706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真实 USB 摄像头环境下的现场动态透视矫正与实时取帧尚未连接实机实跑</a:t>
            </a:r>
          </a:p>
        </p:txBody>
      </p:sp>
      <p:sp>
        <p:nvSpPr>
          <p:cNvPr id="36" name="Oval 35"/>
          <p:cNvSpPr/>
          <p:nvPr/>
        </p:nvSpPr>
        <p:spPr>
          <a:xfrm>
            <a:off x="8513064" y="3451860"/>
            <a:ext cx="45720" cy="45720"/>
          </a:xfrm>
          <a:prstGeom prst="ellipse">
            <a:avLst/>
          </a:prstGeom>
          <a:solidFill>
            <a:srgbClr val="6B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59368" y="3383280"/>
            <a:ext cx="27706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turn 转向指令当前通过 set_pose(hip_yaw) 实现，双脚着地时需配合踩步转向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230368" y="5084064"/>
            <a:ext cx="6199632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45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31536" y="5157216"/>
            <a:ext cx="5797296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③ 考核指标　</a:t>
            </a:r>
            <a:r>
              <a:rPr sz="115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识别 ≥ 90% · 指令执行 ≥ 95%</a:t>
            </a:r>
          </a:p>
          <a:p>
            <a:pPr algn="l">
              <a:spcBef>
                <a:spcPts val="200"/>
              </a:spcBef>
            </a:pPr>
            <a:r>
              <a:rPr sz="8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10 组指令回放序列；当前实机指标待测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1695" y="6016752"/>
            <a:ext cx="71323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本页状态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529791" y="6016752"/>
            <a:ext cx="771144" cy="237744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621231" y="6016752"/>
            <a:ext cx="6248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◐</a:t>
            </a:r>
            <a:r>
              <a:rPr sz="1050" b="0" i="0">
                <a:solidFill>
                  <a:srgbClr val="E4572E"/>
                </a:solidFill>
                <a:latin typeface="Source Han Sans SC"/>
                <a:ea typeface="Source Han Sans SC"/>
                <a:cs typeface="Source Han Sans SC"/>
              </a:rPr>
              <a:t> 进行中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695" y="3657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04</a:t>
            </a:r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  五项任务闭环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48095" y="365760"/>
            <a:ext cx="51821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五项任务闭环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61695" y="6217920"/>
            <a:ext cx="10668579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61695" y="641908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A.T.R.I. 桌面自主人形智能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8095" y="6419088"/>
            <a:ext cx="51821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13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1695" y="713232"/>
            <a:ext cx="10668579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任务三 物品搬运：夹爪与步数换算已就绪，缺的是一双眼睛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" y="1481328"/>
            <a:ext cx="10668579" cy="310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抓取的前提是对齐，搬运技能的状态流转已跑通，当前阶段需补齐目标检测器。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61695" y="1847088"/>
            <a:ext cx="10668579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61695" y="1993392"/>
            <a:ext cx="3840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2/6 步</a:t>
            </a:r>
            <a:r>
              <a:rPr sz="11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 已实现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22215" y="2029968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实现完成度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22215" y="2267712"/>
            <a:ext cx="350520" cy="118872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327599" y="2267712"/>
            <a:ext cx="350520" cy="118872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32983" y="2267712"/>
            <a:ext cx="350520" cy="118872"/>
          </a:xfrm>
          <a:prstGeom prst="rect">
            <a:avLst/>
          </a:prstGeom>
          <a:solidFill>
            <a:srgbClr val="DCE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38367" y="2267712"/>
            <a:ext cx="350520" cy="118872"/>
          </a:xfrm>
          <a:prstGeom prst="rect">
            <a:avLst/>
          </a:prstGeom>
          <a:solidFill>
            <a:srgbClr val="DCE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43751" y="2267712"/>
            <a:ext cx="350520" cy="118872"/>
          </a:xfrm>
          <a:prstGeom prst="rect">
            <a:avLst/>
          </a:prstGeom>
          <a:solidFill>
            <a:srgbClr val="DCE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49135" y="2267712"/>
            <a:ext cx="350520" cy="118872"/>
          </a:xfrm>
          <a:prstGeom prst="rect">
            <a:avLst/>
          </a:prstGeom>
          <a:solidFill>
            <a:srgbClr val="DCE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27671" y="2212848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E9E7B"/>
                </a:solidFill>
                <a:latin typeface="Source Han Sans SC Heavy"/>
                <a:ea typeface="Source Han Sans SC Heavy"/>
                <a:cs typeface="Source Han Sans SC Heavy"/>
              </a:rPr>
              <a:t>2/6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1695" y="2450592"/>
            <a:ext cx="4160520" cy="3127248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1151" y="2578608"/>
            <a:ext cx="37216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① 流程链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81151" y="2852928"/>
            <a:ext cx="3721608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9CC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2591" y="2852928"/>
            <a:ext cx="353872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视觉识别目标（未实现）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32227" y="3182112"/>
            <a:ext cx="219456" cy="1938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 i="0">
                <a:solidFill>
                  <a:srgbClr val="1264A3"/>
                </a:solidFill>
                <a:latin typeface="Source Han Sans SC"/>
                <a:ea typeface="Source Han Sans SC"/>
                <a:cs typeface="Source Han Sans SC"/>
              </a:rPr>
              <a:t>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81151" y="3375964"/>
            <a:ext cx="3721608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9CC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2591" y="3375964"/>
            <a:ext cx="353872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计算偏航角与距离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32227" y="3705148"/>
            <a:ext cx="219456" cy="1938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 i="0">
                <a:solidFill>
                  <a:srgbClr val="1264A3"/>
                </a:solidFill>
                <a:latin typeface="Source Han Sans SC"/>
                <a:ea typeface="Source Han Sans SC"/>
                <a:cs typeface="Source Han Sans SC"/>
              </a:rPr>
              <a:t>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81151" y="3899001"/>
            <a:ext cx="3721608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9CC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72591" y="3899001"/>
            <a:ext cx="353872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步态微调对位对齐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32227" y="4228185"/>
            <a:ext cx="219456" cy="1938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 i="0">
                <a:solidFill>
                  <a:srgbClr val="1264A3"/>
                </a:solidFill>
                <a:latin typeface="Source Han Sans SC"/>
                <a:ea typeface="Source Han Sans SC"/>
                <a:cs typeface="Source Han Sans SC"/>
              </a:rPr>
              <a:t>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81151" y="4422038"/>
            <a:ext cx="3721608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9CC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72591" y="4422038"/>
            <a:ext cx="353872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双臂夹爪协同闭合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32227" y="4751222"/>
            <a:ext cx="219456" cy="1938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 i="0">
                <a:solidFill>
                  <a:srgbClr val="1264A3"/>
                </a:solidFill>
                <a:latin typeface="Source Han Sans SC"/>
                <a:ea typeface="Source Han Sans SC"/>
                <a:cs typeface="Source Han Sans SC"/>
              </a:rPr>
              <a:t>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81151" y="4945075"/>
            <a:ext cx="3721608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9CC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72591" y="4945075"/>
            <a:ext cx="353872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负重平移与最终释放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1151" y="5614416"/>
            <a:ext cx="37216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代码基线: software/atri/atri/skills/carry.py 搬运状态机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230368" y="2450592"/>
            <a:ext cx="2916936" cy="292608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40096" y="2450592"/>
            <a:ext cx="26974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ource Han Sans SC Heavy"/>
                <a:ea typeface="Source Han Sans SC Heavy"/>
                <a:cs typeface="Source Han Sans SC Heavy"/>
              </a:rPr>
              <a:t>● 已实现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513064" y="2450592"/>
            <a:ext cx="2916936" cy="292608"/>
          </a:xfrm>
          <a:prstGeom prst="rect">
            <a:avLst/>
          </a:prstGeom>
          <a:solidFill>
            <a:srgbClr val="6B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22792" y="2450592"/>
            <a:ext cx="26974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ource Han Sans SC Heavy"/>
                <a:ea typeface="Source Han Sans SC Heavy"/>
                <a:cs typeface="Source Han Sans SC Heavy"/>
              </a:rPr>
              <a:t>○ 待开发</a:t>
            </a:r>
          </a:p>
        </p:txBody>
      </p:sp>
      <p:sp>
        <p:nvSpPr>
          <p:cNvPr id="40" name="Oval 39"/>
          <p:cNvSpPr/>
          <p:nvPr/>
        </p:nvSpPr>
        <p:spPr>
          <a:xfrm>
            <a:off x="5230368" y="2884932"/>
            <a:ext cx="45720" cy="45720"/>
          </a:xfrm>
          <a:prstGeom prst="ellipse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76672" y="2816352"/>
            <a:ext cx="27706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夹爪开合机制与距离换算逻辑：steps = max(2, int(distance_cm / 2.0))</a:t>
            </a:r>
          </a:p>
        </p:txBody>
      </p:sp>
      <p:sp>
        <p:nvSpPr>
          <p:cNvPr id="42" name="Oval 41"/>
          <p:cNvSpPr/>
          <p:nvPr/>
        </p:nvSpPr>
        <p:spPr>
          <a:xfrm>
            <a:off x="5230368" y="3634740"/>
            <a:ext cx="45720" cy="45720"/>
          </a:xfrm>
          <a:prstGeom prst="ellipse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76672" y="3566160"/>
            <a:ext cx="27706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有限状态机调用序列 align → grasp → walk → release 在闭环演示中全通</a:t>
            </a:r>
          </a:p>
        </p:txBody>
      </p:sp>
      <p:sp>
        <p:nvSpPr>
          <p:cNvPr id="44" name="Oval 43"/>
          <p:cNvSpPr/>
          <p:nvPr/>
        </p:nvSpPr>
        <p:spPr>
          <a:xfrm>
            <a:off x="5230368" y="4384548"/>
            <a:ext cx="45720" cy="45720"/>
          </a:xfrm>
          <a:prstGeom prst="ellipse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376672" y="4315968"/>
            <a:ext cx="27706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双臂 8 自由度（含两只末端夹爪）对称闭合姿态定义完备</a:t>
            </a:r>
          </a:p>
        </p:txBody>
      </p:sp>
      <p:sp>
        <p:nvSpPr>
          <p:cNvPr id="46" name="Oval 45"/>
          <p:cNvSpPr/>
          <p:nvPr/>
        </p:nvSpPr>
        <p:spPr>
          <a:xfrm>
            <a:off x="8513064" y="2884932"/>
            <a:ext cx="45720" cy="45720"/>
          </a:xfrm>
          <a:prstGeom prst="ellipse">
            <a:avLst/>
          </a:prstGeom>
          <a:solidFill>
            <a:srgbClr val="6B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659368" y="2816352"/>
            <a:ext cx="27706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感知后端无通用 detect_object，ctx.perceive("object") 暂取任务卡默认值</a:t>
            </a:r>
          </a:p>
        </p:txBody>
      </p:sp>
      <p:sp>
        <p:nvSpPr>
          <p:cNvPr id="48" name="Oval 47"/>
          <p:cNvSpPr/>
          <p:nvPr/>
        </p:nvSpPr>
        <p:spPr>
          <a:xfrm>
            <a:off x="8513064" y="3634740"/>
            <a:ext cx="45720" cy="45720"/>
          </a:xfrm>
          <a:prstGeom prst="ellipse">
            <a:avLst/>
          </a:prstGeom>
          <a:solidFill>
            <a:srgbClr val="6B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659368" y="3566160"/>
            <a:ext cx="27706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execute_motion("align", obs) 落到默认分支，实际抓取对齐精度待实测</a:t>
            </a:r>
          </a:p>
        </p:txBody>
      </p:sp>
      <p:sp>
        <p:nvSpPr>
          <p:cNvPr id="50" name="Oval 49"/>
          <p:cNvSpPr/>
          <p:nvPr/>
        </p:nvSpPr>
        <p:spPr>
          <a:xfrm>
            <a:off x="8513064" y="4201668"/>
            <a:ext cx="45720" cy="45720"/>
          </a:xfrm>
          <a:prstGeom prst="ellipse">
            <a:avLst/>
          </a:prstGeom>
          <a:solidFill>
            <a:srgbClr val="6B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659368" y="4133088"/>
            <a:ext cx="27706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全仓尚无轻量通用目标分类模型，轻物（≤100 g）标定为阶段二待办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30368" y="5084064"/>
            <a:ext cx="6199632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45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31536" y="5157216"/>
            <a:ext cx="5797296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③ 考核指标　</a:t>
            </a:r>
            <a:r>
              <a:rPr sz="115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抓取成功率 ≥ 80%</a:t>
            </a:r>
          </a:p>
          <a:p>
            <a:pPr algn="l">
              <a:spcBef>
                <a:spcPts val="200"/>
              </a:spcBef>
            </a:pPr>
            <a:r>
              <a:rPr sz="8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轻物目标 ≤ 100 g；当前实机指标待测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1695" y="6016752"/>
            <a:ext cx="71323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本页状态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529791" y="6016752"/>
            <a:ext cx="771144" cy="237744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621231" y="6016752"/>
            <a:ext cx="6248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◐</a:t>
            </a:r>
            <a:r>
              <a:rPr sz="1050" b="0" i="0">
                <a:solidFill>
                  <a:srgbClr val="E4572E"/>
                </a:solidFill>
                <a:latin typeface="Source Han Sans SC"/>
                <a:ea typeface="Source Han Sans SC"/>
                <a:cs typeface="Source Han Sans SC"/>
              </a:rPr>
              <a:t> 进行中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695" y="3657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04</a:t>
            </a:r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  五项任务闭环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48095" y="365760"/>
            <a:ext cx="51821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五项任务闭环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61695" y="6217920"/>
            <a:ext cx="10668579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61695" y="641908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A.T.R.I. 桌面自主人形智能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8095" y="6419088"/>
            <a:ext cx="51821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14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1695" y="713232"/>
            <a:ext cx="10668579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任务四 体育运动：检测到球后朝向伺服，当前执行单次修正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" y="1481328"/>
            <a:ext cx="10668579" cy="310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误差判据已进代码，闭环迭代律已在设计包中跑通，缺的是移植到技能层。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61695" y="1847088"/>
            <a:ext cx="10668579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61695" y="1993392"/>
            <a:ext cx="3840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|x| &gt; 1.0 cm</a:t>
            </a:r>
            <a:r>
              <a:rPr sz="11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 伺服判据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22215" y="2029968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实现完成度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22215" y="2267712"/>
            <a:ext cx="431596" cy="118872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08676" y="2267712"/>
            <a:ext cx="431596" cy="118872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95136" y="2267712"/>
            <a:ext cx="431596" cy="118872"/>
          </a:xfrm>
          <a:prstGeom prst="rect">
            <a:avLst/>
          </a:prstGeom>
          <a:solidFill>
            <a:srgbClr val="DCE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81597" y="2267712"/>
            <a:ext cx="431596" cy="118872"/>
          </a:xfrm>
          <a:prstGeom prst="rect">
            <a:avLst/>
          </a:prstGeom>
          <a:solidFill>
            <a:srgbClr val="DCE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68058" y="2267712"/>
            <a:ext cx="431596" cy="118872"/>
          </a:xfrm>
          <a:prstGeom prst="rect">
            <a:avLst/>
          </a:prstGeom>
          <a:solidFill>
            <a:srgbClr val="DCE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27671" y="2212848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E9E7B"/>
                </a:solidFill>
                <a:latin typeface="Source Han Sans SC Heavy"/>
                <a:ea typeface="Source Han Sans SC Heavy"/>
                <a:cs typeface="Source Han Sans SC Heavy"/>
              </a:rPr>
              <a:t>2/5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1695" y="2450592"/>
            <a:ext cx="4160520" cy="3127248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1151" y="2578608"/>
            <a:ext cx="37216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① 流程链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1151" y="2852928"/>
            <a:ext cx="3721608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9CC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2591" y="2852928"/>
            <a:ext cx="353872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单目色彩识别球位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32227" y="3182112"/>
            <a:ext cx="219456" cy="3246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 i="0">
                <a:solidFill>
                  <a:srgbClr val="1264A3"/>
                </a:solidFill>
                <a:latin typeface="Source Han Sans SC"/>
                <a:ea typeface="Source Han Sans SC"/>
                <a:cs typeface="Source Han Sans SC"/>
              </a:rPr>
              <a:t>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81151" y="3506724"/>
            <a:ext cx="3721608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9CC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2591" y="3506724"/>
            <a:ext cx="353872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计算横向中心偏差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32227" y="3835908"/>
            <a:ext cx="219456" cy="3246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 i="0">
                <a:solidFill>
                  <a:srgbClr val="1264A3"/>
                </a:solidFill>
                <a:latin typeface="Source Han Sans SC"/>
                <a:ea typeface="Source Han Sans SC"/>
                <a:cs typeface="Source Han Sans SC"/>
              </a:rPr>
              <a:t>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81151" y="4160520"/>
            <a:ext cx="3721608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9CC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72591" y="4160520"/>
            <a:ext cx="353872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朝向比例伺服（单次）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32227" y="4489704"/>
            <a:ext cx="219456" cy="3246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 i="0">
                <a:solidFill>
                  <a:srgbClr val="1264A3"/>
                </a:solidFill>
                <a:latin typeface="Source Han Sans SC"/>
                <a:ea typeface="Source Han Sans SC"/>
                <a:cs typeface="Source Han Sans SC"/>
              </a:rPr>
              <a:t>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81151" y="4814316"/>
            <a:ext cx="3721608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9CC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72591" y="4814316"/>
            <a:ext cx="353872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单腿支撑动态摆腿踢球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1151" y="5614416"/>
            <a:ext cx="37216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代码基线: software/atri/atri/skills/kick.py 踢球控制律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30368" y="2450592"/>
            <a:ext cx="2916936" cy="292608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40096" y="2450592"/>
            <a:ext cx="26974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ource Han Sans SC Heavy"/>
                <a:ea typeface="Source Han Sans SC Heavy"/>
                <a:cs typeface="Source Han Sans SC Heavy"/>
              </a:rPr>
              <a:t>● 已实现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513064" y="2450592"/>
            <a:ext cx="2916936" cy="292608"/>
          </a:xfrm>
          <a:prstGeom prst="rect">
            <a:avLst/>
          </a:prstGeom>
          <a:solidFill>
            <a:srgbClr val="6B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22792" y="2450592"/>
            <a:ext cx="26974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ource Han Sans SC Heavy"/>
                <a:ea typeface="Source Han Sans SC Heavy"/>
                <a:cs typeface="Source Han Sans SC Heavy"/>
              </a:rPr>
              <a:t>○ 待开发</a:t>
            </a:r>
          </a:p>
        </p:txBody>
      </p:sp>
      <p:sp>
        <p:nvSpPr>
          <p:cNvPr id="36" name="Oval 35"/>
          <p:cNvSpPr/>
          <p:nvPr/>
        </p:nvSpPr>
        <p:spPr>
          <a:xfrm>
            <a:off x="5230368" y="2884932"/>
            <a:ext cx="45720" cy="45720"/>
          </a:xfrm>
          <a:prstGeom prst="ellipse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76672" y="2816352"/>
            <a:ext cx="27706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伺服判据：|x| &gt; 1.0 cm 触发位姿修正，阈值过滤有效防止机器人噪声抖动</a:t>
            </a:r>
          </a:p>
        </p:txBody>
      </p:sp>
      <p:sp>
        <p:nvSpPr>
          <p:cNvPr id="38" name="Oval 37"/>
          <p:cNvSpPr/>
          <p:nvPr/>
        </p:nvSpPr>
        <p:spPr>
          <a:xfrm>
            <a:off x="5230368" y="3451860"/>
            <a:ext cx="45720" cy="45720"/>
          </a:xfrm>
          <a:prstGeom prst="ellipse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76672" y="3383280"/>
            <a:ext cx="27706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比例控制律已实现：yaw = clamp(x / 2, -10°, +10°)，限制单步超调</a:t>
            </a:r>
          </a:p>
        </p:txBody>
      </p:sp>
      <p:sp>
        <p:nvSpPr>
          <p:cNvPr id="40" name="Oval 39"/>
          <p:cNvSpPr/>
          <p:nvPr/>
        </p:nvSpPr>
        <p:spPr>
          <a:xfrm>
            <a:off x="5230368" y="4018787"/>
            <a:ext cx="45720" cy="45720"/>
          </a:xfrm>
          <a:prstGeom prst="ellipse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76672" y="3950208"/>
            <a:ext cx="27706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踢球动作关键帧时序清晰：单腿平稳支撑，另一腿完成摆动击球</a:t>
            </a:r>
          </a:p>
        </p:txBody>
      </p:sp>
      <p:sp>
        <p:nvSpPr>
          <p:cNvPr id="42" name="Oval 41"/>
          <p:cNvSpPr/>
          <p:nvPr/>
        </p:nvSpPr>
        <p:spPr>
          <a:xfrm>
            <a:off x="8513064" y="2884932"/>
            <a:ext cx="45720" cy="45720"/>
          </a:xfrm>
          <a:prstGeom prst="ellipse">
            <a:avLst/>
          </a:prstGeom>
          <a:solidFill>
            <a:srgbClr val="6B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59368" y="2816352"/>
            <a:ext cx="27706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技能层目前仅为单次开环修正，多轮迭代闭环已在 design 包验证待移植</a:t>
            </a:r>
          </a:p>
        </p:txBody>
      </p:sp>
      <p:sp>
        <p:nvSpPr>
          <p:cNvPr id="44" name="Oval 43"/>
          <p:cNvSpPr/>
          <p:nvPr/>
        </p:nvSpPr>
        <p:spPr>
          <a:xfrm>
            <a:off x="8513064" y="3451860"/>
            <a:ext cx="45720" cy="45720"/>
          </a:xfrm>
          <a:prstGeom prst="ellipse">
            <a:avLst/>
          </a:prstGeom>
          <a:solidFill>
            <a:srgbClr val="6B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59368" y="3383280"/>
            <a:ext cx="27706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x(cm) → yaw(deg) 转换缺精确雅可比矩阵，设计相机模型下控制律偏小</a:t>
            </a:r>
          </a:p>
        </p:txBody>
      </p:sp>
      <p:sp>
        <p:nvSpPr>
          <p:cNvPr id="46" name="Oval 45"/>
          <p:cNvSpPr/>
          <p:nvPr/>
        </p:nvSpPr>
        <p:spPr>
          <a:xfrm>
            <a:off x="8513064" y="4018787"/>
            <a:ext cx="45720" cy="45720"/>
          </a:xfrm>
          <a:prstGeom prst="ellipse">
            <a:avLst/>
          </a:prstGeom>
          <a:solidFill>
            <a:srgbClr val="6B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659368" y="3950208"/>
            <a:ext cx="27706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转向执行依赖 hip_yaw，后续需结合小脑动态双足碎步转向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230368" y="5084064"/>
            <a:ext cx="6199632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45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31536" y="5157216"/>
            <a:ext cx="5797296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③ 考核指标　</a:t>
            </a:r>
            <a:r>
              <a:rPr sz="115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踢球成功率 ≥ 70%</a:t>
            </a:r>
          </a:p>
          <a:p>
            <a:pPr algn="l">
              <a:spcBef>
                <a:spcPts val="200"/>
              </a:spcBef>
            </a:pPr>
            <a:r>
              <a:rPr sz="8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球距 10–20 cm 范围；当前实机指标待测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1695" y="6016752"/>
            <a:ext cx="71323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本页状态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529791" y="6016752"/>
            <a:ext cx="771144" cy="237744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621231" y="6016752"/>
            <a:ext cx="6248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◐</a:t>
            </a:r>
            <a:r>
              <a:rPr sz="1050" b="0" i="0">
                <a:solidFill>
                  <a:srgbClr val="E4572E"/>
                </a:solidFill>
                <a:latin typeface="Source Han Sans SC"/>
                <a:ea typeface="Source Han Sans SC"/>
                <a:cs typeface="Source Han Sans SC"/>
              </a:rPr>
              <a:t> 进行中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695" y="3657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04</a:t>
            </a:r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  五项任务闭环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48095" y="365760"/>
            <a:ext cx="51821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五项任务闭环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61695" y="6217920"/>
            <a:ext cx="10668579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61695" y="641908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A.T.R.I. 桌面自主人形智能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8095" y="6419088"/>
            <a:ext cx="51821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15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1695" y="713232"/>
            <a:ext cx="10668579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任务五 娱乐休闲：22 轴舞蹈轨迹能算，音乐文件还需要播放器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" y="1481328"/>
            <a:ext cx="10668579" cy="310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舞蹈不是播放预录视频，而是全机 22 个关节按时间轴实时插补出的连续轨迹。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61695" y="1847088"/>
            <a:ext cx="10668579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61695" y="1993392"/>
            <a:ext cx="3840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22 关节</a:t>
            </a:r>
            <a:r>
              <a:rPr sz="11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 空间插补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22215" y="2029968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实现完成度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22215" y="2267712"/>
            <a:ext cx="431596" cy="118872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08676" y="2267712"/>
            <a:ext cx="431596" cy="118872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95136" y="2267712"/>
            <a:ext cx="431596" cy="118872"/>
          </a:xfrm>
          <a:prstGeom prst="rect">
            <a:avLst/>
          </a:prstGeom>
          <a:solidFill>
            <a:srgbClr val="DCE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81597" y="2267712"/>
            <a:ext cx="431596" cy="118872"/>
          </a:xfrm>
          <a:prstGeom prst="rect">
            <a:avLst/>
          </a:prstGeom>
          <a:solidFill>
            <a:srgbClr val="DCE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68058" y="2267712"/>
            <a:ext cx="431596" cy="118872"/>
          </a:xfrm>
          <a:prstGeom prst="rect">
            <a:avLst/>
          </a:prstGeom>
          <a:solidFill>
            <a:srgbClr val="DCE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27671" y="2212848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E9E7B"/>
                </a:solidFill>
                <a:latin typeface="Source Han Sans SC Heavy"/>
                <a:ea typeface="Source Han Sans SC Heavy"/>
                <a:cs typeface="Source Han Sans SC Heavy"/>
              </a:rPr>
              <a:t>2/5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1695" y="2450592"/>
            <a:ext cx="4160520" cy="3127248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1151" y="2578608"/>
            <a:ext cx="37216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① 流程链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1151" y="2852928"/>
            <a:ext cx="3721608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9CC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2591" y="2852928"/>
            <a:ext cx="353872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麦克风离线唤醒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32227" y="3182112"/>
            <a:ext cx="219456" cy="1938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 i="0">
                <a:solidFill>
                  <a:srgbClr val="1264A3"/>
                </a:solidFill>
                <a:latin typeface="Source Han Sans SC"/>
                <a:ea typeface="Source Han Sans SC"/>
                <a:cs typeface="Source Han Sans SC"/>
              </a:rPr>
              <a:t>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81151" y="3375964"/>
            <a:ext cx="3721608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9CC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2591" y="3375964"/>
            <a:ext cx="353872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关键词识别触发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32227" y="3705148"/>
            <a:ext cx="219456" cy="1938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 i="0">
                <a:solidFill>
                  <a:srgbClr val="1264A3"/>
                </a:solidFill>
                <a:latin typeface="Source Han Sans SC"/>
                <a:ea typeface="Source Han Sans SC"/>
                <a:cs typeface="Source Han Sans SC"/>
              </a:rPr>
              <a:t>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81151" y="3899001"/>
            <a:ext cx="3721608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9CC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72591" y="3899001"/>
            <a:ext cx="353872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音频播放（待开发）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32227" y="4228185"/>
            <a:ext cx="219456" cy="1938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 i="0">
                <a:solidFill>
                  <a:srgbClr val="1264A3"/>
                </a:solidFill>
                <a:latin typeface="Source Han Sans SC"/>
                <a:ea typeface="Source Han Sans SC"/>
                <a:cs typeface="Source Han Sans SC"/>
              </a:rPr>
              <a:t>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81151" y="4422038"/>
            <a:ext cx="3721608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9CC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72591" y="4422038"/>
            <a:ext cx="353872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22 轴协调短舞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32227" y="4751222"/>
            <a:ext cx="219456" cy="1938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 i="0">
                <a:solidFill>
                  <a:srgbClr val="1264A3"/>
                </a:solidFill>
                <a:latin typeface="Source Han Sans SC"/>
                <a:ea typeface="Source Han Sans SC"/>
                <a:cs typeface="Source Han Sans SC"/>
              </a:rPr>
              <a:t>↓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81151" y="4945075"/>
            <a:ext cx="3721608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9CC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72591" y="4945075"/>
            <a:ext cx="353872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本地 TTS 互动应答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1151" y="5614416"/>
            <a:ext cx="37216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代码基线: software/atri/atri/cerebellum.py::dance() 真实插补序列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230368" y="2450592"/>
            <a:ext cx="2916936" cy="292608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40096" y="2450592"/>
            <a:ext cx="26974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ource Han Sans SC Heavy"/>
                <a:ea typeface="Source Han Sans SC Heavy"/>
                <a:cs typeface="Source Han Sans SC Heavy"/>
              </a:rPr>
              <a:t>● 已实现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513064" y="2450592"/>
            <a:ext cx="2916936" cy="292608"/>
          </a:xfrm>
          <a:prstGeom prst="rect">
            <a:avLst/>
          </a:prstGeom>
          <a:solidFill>
            <a:srgbClr val="6B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22792" y="2450592"/>
            <a:ext cx="26974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ource Han Sans SC Heavy"/>
                <a:ea typeface="Source Han Sans SC Heavy"/>
                <a:cs typeface="Source Han Sans SC Heavy"/>
              </a:rPr>
              <a:t>○ 待开发</a:t>
            </a:r>
          </a:p>
        </p:txBody>
      </p:sp>
      <p:sp>
        <p:nvSpPr>
          <p:cNvPr id="39" name="Oval 38"/>
          <p:cNvSpPr/>
          <p:nvPr/>
        </p:nvSpPr>
        <p:spPr>
          <a:xfrm>
            <a:off x="5230368" y="2884932"/>
            <a:ext cx="45720" cy="45720"/>
          </a:xfrm>
          <a:prstGeom prst="ellipse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76672" y="2816352"/>
            <a:ext cx="27706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全机 22 轴多关节舞蹈插补生成器完备（cerebellum.dance()）：</a:t>
            </a:r>
          </a:p>
        </p:txBody>
      </p:sp>
      <p:sp>
        <p:nvSpPr>
          <p:cNvPr id="41" name="Oval 40"/>
          <p:cNvSpPr/>
          <p:nvPr/>
        </p:nvSpPr>
        <p:spPr>
          <a:xfrm>
            <a:off x="5230368" y="3451860"/>
            <a:ext cx="45720" cy="45720"/>
          </a:xfrm>
          <a:prstGeom prst="ellipse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76672" y="3383280"/>
            <a:ext cx="27706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  head_yaw ±20°(2π), head_pitch ±10°(4π), trunk_roll ±4° 动态防晃,</a:t>
            </a:r>
          </a:p>
        </p:txBody>
      </p:sp>
      <p:sp>
        <p:nvSpPr>
          <p:cNvPr id="43" name="Oval 42"/>
          <p:cNvSpPr/>
          <p:nvPr/>
        </p:nvSpPr>
        <p:spPr>
          <a:xfrm>
            <a:off x="5230368" y="4201668"/>
            <a:ext cx="45720" cy="45720"/>
          </a:xfrm>
          <a:prstGeom prst="ellipse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376672" y="4133088"/>
            <a:ext cx="27706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  hip_pitch ∓8° 反相摆动, shoulder ∓20° 挥臂, elbow −25°±15° 弯曲</a:t>
            </a:r>
          </a:p>
        </p:txBody>
      </p:sp>
      <p:sp>
        <p:nvSpPr>
          <p:cNvPr id="45" name="Oval 44"/>
          <p:cNvSpPr/>
          <p:nvPr/>
        </p:nvSpPr>
        <p:spPr>
          <a:xfrm>
            <a:off x="5230368" y="4951476"/>
            <a:ext cx="45720" cy="45720"/>
          </a:xfrm>
          <a:prstGeom prst="ellipse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376672" y="4882896"/>
            <a:ext cx="27706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唤醒与 TTS 互动应答链路在无硬件演示中 100% 跑通</a:t>
            </a:r>
          </a:p>
        </p:txBody>
      </p:sp>
      <p:sp>
        <p:nvSpPr>
          <p:cNvPr id="47" name="Oval 46"/>
          <p:cNvSpPr/>
          <p:nvPr/>
        </p:nvSpPr>
        <p:spPr>
          <a:xfrm>
            <a:off x="8513064" y="2884932"/>
            <a:ext cx="45720" cy="45720"/>
          </a:xfrm>
          <a:prstGeom prst="ellipse">
            <a:avLst/>
          </a:prstGeom>
          <a:solidFill>
            <a:srgbClr val="6B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659368" y="2816352"/>
            <a:ext cx="27706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全仓目前仅有文本 TTS 播报，无 MP3/WAV 媒体音频播放器物理代码</a:t>
            </a:r>
          </a:p>
        </p:txBody>
      </p:sp>
      <p:sp>
        <p:nvSpPr>
          <p:cNvPr id="49" name="Oval 48"/>
          <p:cNvSpPr/>
          <p:nvPr/>
        </p:nvSpPr>
        <p:spPr>
          <a:xfrm>
            <a:off x="8513064" y="3451860"/>
            <a:ext cx="45720" cy="45720"/>
          </a:xfrm>
          <a:prstGeom prst="ellipse">
            <a:avLst/>
          </a:prstGeom>
          <a:solidFill>
            <a:srgbClr val="6B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659368" y="3383280"/>
            <a:ext cx="27706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动作节拍与真实音乐的音频时间戳硬同步有待实机联调定型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230368" y="5084064"/>
            <a:ext cx="6199632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45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431536" y="5157216"/>
            <a:ext cx="5797296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③ 考核指标　</a:t>
            </a:r>
            <a:r>
              <a:rPr sz="115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连续执行完成度 100%</a:t>
            </a:r>
          </a:p>
          <a:p>
            <a:pPr algn="l">
              <a:spcBef>
                <a:spcPts val="200"/>
              </a:spcBef>
            </a:pPr>
            <a:r>
              <a:rPr sz="8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本地 TTS 响应延迟 ≤ 1.0 s；实机节拍待联调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1695" y="6016752"/>
            <a:ext cx="71323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本页状态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529791" y="6016752"/>
            <a:ext cx="771144" cy="237744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621231" y="6016752"/>
            <a:ext cx="6248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◐</a:t>
            </a:r>
            <a:r>
              <a:rPr sz="1050" b="0" i="0">
                <a:solidFill>
                  <a:srgbClr val="E4572E"/>
                </a:solidFill>
                <a:latin typeface="Source Han Sans SC"/>
                <a:ea typeface="Source Han Sans SC"/>
                <a:cs typeface="Source Han Sans SC"/>
              </a:rPr>
              <a:t> 进行中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695" y="3657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05</a:t>
            </a:r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  仿真与机械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48095" y="365760"/>
            <a:ext cx="51821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仿真与机械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61695" y="6217920"/>
            <a:ext cx="10668579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61695" y="641908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A.T.R.I. 桌面自主人形智能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8095" y="6419088"/>
            <a:ext cx="51821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16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1695" y="713232"/>
            <a:ext cx="10668579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Webots 仿真：三层判定守护绑定，零重力不是走路证明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" y="1481328"/>
            <a:ext cx="10668579" cy="310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离线 40 项控制器测试全过；映射截断或零速度必须报错，保持仿真口径诚实。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61695" y="1847088"/>
            <a:ext cx="10668579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61695" y="199339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40 项测试</a:t>
            </a:r>
            <a:r>
              <a:rPr sz="11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 · 3 层判定防御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1695" y="2450592"/>
            <a:ext cx="3434273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4575" y="2578608"/>
            <a:ext cx="30685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第一层 · 映射全覆盖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44575" y="2907792"/>
            <a:ext cx="3068513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44575" y="3017520"/>
            <a:ext cx="3068513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【规则要求】控制器映射字典必须严格对应 22 个合法关节名称。
【测试验证】测试断言覆盖每一个关节命名，映射键若发生缺失、错拼或截断，测试立即判负，防止下发遗漏。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78848" y="2450592"/>
            <a:ext cx="3434273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61728" y="2578608"/>
            <a:ext cx="30685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第二层 · 节点完整绑定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561728" y="2907792"/>
            <a:ext cx="3068513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561728" y="3017520"/>
            <a:ext cx="3068513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【规则要求】Webots 机器人节点树中所有非空电机对象必须全部成功绑定句柄。
【异构兼容】支持 Nao 等异构平台（允许留空特定无用自由度），但在 A.T.R.I. 原生模型上坚持 22 轴 100% 绑定。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96001" y="2450592"/>
            <a:ext cx="3434273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78881" y="2578608"/>
            <a:ext cx="30685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第三层 · 实质角位移验证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178881" y="2907792"/>
            <a:ext cx="3068513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178881" y="3017520"/>
            <a:ext cx="3068513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【规则要求】仿真步进后，至少有一个关键关节的角位移行程必须 &gt; 1°。
【反虚假测试】若传入 --velocity 0 或舵机未实际驱动产生位移，测试立即判为失败，坚决杜绝空跑假通过。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1695" y="5029200"/>
            <a:ext cx="10668579" cy="1225296"/>
          </a:xfrm>
          <a:prstGeom prst="rect">
            <a:avLst/>
          </a:prstGeom>
          <a:solidFill>
            <a:srgbClr val="FFFFFF"/>
          </a:solidFill>
          <a:ln w="15240">
            <a:solidFill>
              <a:srgbClr val="E45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1151" y="5138928"/>
            <a:ext cx="10229667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仿真真实边界说明（正面回答评委质疑）：</a:t>
            </a: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sz="95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① 零重力不等于真实行走：</a:t>
            </a:r>
            <a:r>
              <a:rPr sz="9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当前 webots/worlds/atri_22dof.wbt 运行于零重力环境，主要用于检验 22 轴运动学自洽与控制器时钟同步，不代表物理实机在重力下已能稳定行走 1 m。</a:t>
            </a: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sz="95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② 测试执行命令：</a:t>
            </a:r>
            <a:r>
              <a:rPr sz="9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cd webots/tests &amp;&amp; python3 -m unittest test_atri_controller → 全部 40 项测试在纯无头环境下稳定复现。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1695" y="5650992"/>
            <a:ext cx="10668579" cy="438912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1151" y="5650992"/>
            <a:ext cx="1022966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2E9E7B"/>
                </a:solidFill>
                <a:latin typeface="Source Han Sans SC Heavy"/>
                <a:ea typeface="Source Han Sans SC Heavy"/>
                <a:cs typeface="Source Han Sans SC Heavy"/>
              </a:rPr>
              <a:t>结论：</a:t>
            </a:r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仿真控制器与大脑小脑架构完全打通，动力学双足实机闭环列为阶段三攻关任务。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1695" y="6016752"/>
            <a:ext cx="71323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本页状态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529791" y="6016752"/>
            <a:ext cx="771144" cy="237744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621231" y="6016752"/>
            <a:ext cx="6248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2E9E7B"/>
                </a:solidFill>
                <a:latin typeface="Source Han Sans SC Heavy"/>
                <a:ea typeface="Source Han Sans SC Heavy"/>
                <a:cs typeface="Source Han Sans SC Heavy"/>
              </a:rPr>
              <a:t>●</a:t>
            </a:r>
            <a:r>
              <a:rPr sz="1050" b="0" i="0">
                <a:solidFill>
                  <a:srgbClr val="2E9E7B"/>
                </a:solidFill>
                <a:latin typeface="Source Han Sans SC"/>
                <a:ea typeface="Source Han Sans SC"/>
                <a:cs typeface="Source Han Sans SC"/>
              </a:rPr>
              <a:t> 已完成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695" y="3657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05</a:t>
            </a:r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  仿真与机械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48095" y="365760"/>
            <a:ext cx="51821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仿真与机械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61695" y="6217920"/>
            <a:ext cx="10668579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61695" y="641908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A.T.R.I. 桌面自主人形智能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8095" y="6419088"/>
            <a:ext cx="51821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17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1695" y="713232"/>
            <a:ext cx="10668579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髋肩错轴抽出 30–35 mm，彻底消除 19.6 mm 轴距干涉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" y="1481328"/>
            <a:ext cx="10668579" cy="310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19.6 mm 轴距塞不下两只 35 mm 舵机；转动轴心不变，机体沿自身法向抽出。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61695" y="1847088"/>
            <a:ext cx="10668579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61695" y="199339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30–35 mm</a:t>
            </a:r>
            <a:r>
              <a:rPr sz="11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 · 错轴抽出量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1695" y="2450592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干涉物理成因与错轴拓扑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61695" y="2706624"/>
            <a:ext cx="5486400" cy="0"/>
          </a:xfrm>
          <a:prstGeom prst="line">
            <a:avLst/>
          </a:prstGeom>
          <a:ln w="1270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761695" y="2816352"/>
            <a:ext cx="548640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2863" y="2944368"/>
            <a:ext cx="5084064" cy="2697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物理碰撞死锁：</a:t>
            </a:r>
          </a:p>
          <a:p>
            <a:pPr algn="l">
              <a:lnSpc>
                <a:spcPct val="130000"/>
              </a:lnSpc>
              <a:spcBef>
                <a:spcPts val="200"/>
              </a:spcBef>
            </a:pPr>
            <a:r>
              <a:rPr sz="9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骨盆与双肩交汇处轴距仅 19.6 mm，而 STS3215 舵机厚度达 35 mm。若在同一平面直连，相邻舵机机壳发生严重穿透干涉，空间上完全无法物理装配。</a:t>
            </a:r>
          </a:p>
          <a:p>
            <a:pPr algn="l">
              <a:spcBef>
                <a:spcPts val="500"/>
              </a:spcBef>
            </a:pPr>
            <a:r>
              <a:rPr sz="105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权威错轴方案（取自 cad/tools/fit_stagger.py）：</a:t>
            </a:r>
          </a:p>
          <a:p>
            <a:pPr algn="l">
              <a:lnSpc>
                <a:spcPct val="130000"/>
              </a:lnSpc>
              <a:spcBef>
                <a:spcPts val="200"/>
              </a:spcBef>
            </a:pPr>
            <a:r>
              <a:rPr sz="9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① 保持各关节运动学旋转轴心位置不变，仅机体沿轴向抽出；
② hip_roll（髋滚转）与 shoulder_pitch（肩俯仰）抽出 +35 mm；
③ hip_pitch（髋俯仰）抽出 +30 mm；
④ 专项设计 cluster_horn_arm 与 cluster_outrigger 转接加强支架。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2415" y="2450592"/>
            <a:ext cx="49078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口径澄清与电子件安装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522415" y="2706624"/>
            <a:ext cx="4907859" cy="0"/>
          </a:xfrm>
          <a:prstGeom prst="line">
            <a:avLst/>
          </a:prstGeom>
          <a:ln w="1270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6522415" y="2816352"/>
            <a:ext cx="4907859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3583" y="2944368"/>
            <a:ext cx="4505523" cy="2697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严正口径纠偏（禁止混淆）：</a:t>
            </a:r>
          </a:p>
          <a:p>
            <a:pPr algn="l">
              <a:lnSpc>
                <a:spcPct val="130000"/>
              </a:lnSpc>
              <a:spcBef>
                <a:spcPts val="200"/>
              </a:spcBef>
            </a:pPr>
            <a:r>
              <a:rPr sz="9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工程图上标注的 8–12 mm 为安装端面边缘净距，严禁将其作为错轴量误改回模型！错轴量必须严格锁定为 30–35 mm。</a:t>
            </a:r>
          </a:p>
          <a:p>
            <a:pPr algn="l">
              <a:spcBef>
                <a:spcPts val="500"/>
              </a:spcBef>
            </a:pPr>
            <a:r>
              <a:rPr sz="105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电子件按类型精准落座：</a:t>
            </a:r>
          </a:p>
          <a:p>
            <a:pPr algn="l">
              <a:lnSpc>
                <a:spcPct val="130000"/>
              </a:lnSpc>
              <a:spcBef>
                <a:spcPts val="200"/>
              </a:spcBef>
            </a:pPr>
            <a:r>
              <a:rPr sz="9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所有板载传感器与控制器按 kind 属性对齐安装座：
· 树莓派 4B 与 STM32 安装于背腔主舱；
· 6 轴 IMU 紧贴机体质心轴线；
· 单目摄像头与扬声器居中置于头部。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1695" y="5650992"/>
            <a:ext cx="10668579" cy="438912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1151" y="5650992"/>
            <a:ext cx="1022966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结构增重：</a:t>
            </a:r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错轴转接支架增加结构件质量约 86 g，结构总重由 CAD 1404 g 变为约 1490 g，已纳入整体力矩校核。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1695" y="6016752"/>
            <a:ext cx="71323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本页状态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29791" y="6016752"/>
            <a:ext cx="771144" cy="237744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21231" y="6016752"/>
            <a:ext cx="6248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2E9E7B"/>
                </a:solidFill>
                <a:latin typeface="Source Han Sans SC Heavy"/>
                <a:ea typeface="Source Han Sans SC Heavy"/>
                <a:cs typeface="Source Han Sans SC Heavy"/>
              </a:rPr>
              <a:t>●</a:t>
            </a:r>
            <a:r>
              <a:rPr sz="1050" b="0" i="0">
                <a:solidFill>
                  <a:srgbClr val="2E9E7B"/>
                </a:solidFill>
                <a:latin typeface="Source Han Sans SC"/>
                <a:ea typeface="Source Han Sans SC"/>
                <a:cs typeface="Source Han Sans SC"/>
              </a:rPr>
              <a:t> 已完成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695" y="3657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05</a:t>
            </a:r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  仿真与机械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48095" y="365760"/>
            <a:ext cx="51821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仿真与机械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61695" y="6217920"/>
            <a:ext cx="10668579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61695" y="641908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A.T.R.I. 桌面自主人形智能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8095" y="6419088"/>
            <a:ext cx="51821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18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1695" y="713232"/>
            <a:ext cx="10668579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两套质量数据各有依据，CAD 减重显著但尚未回灌 URDF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" y="1481328"/>
            <a:ext cx="10668579" cy="310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CAD 优化后结构轻量化至 1404 g，但交接包与测试基线仍锁定 URDF 1790 g，仿真按原口径。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61695" y="1847088"/>
            <a:ext cx="10668579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61695" y="199339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3050 g vs 3437 g</a:t>
            </a:r>
            <a:r>
              <a:rPr sz="11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 · 两层数据明晰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1695" y="2450592"/>
            <a:ext cx="10668579" cy="310896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3135" y="2450592"/>
            <a:ext cx="18288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数据层级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64815" y="2450592"/>
            <a:ext cx="17373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结构部件质量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85055" y="2450592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舵机与电气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0975" y="2450592"/>
            <a:ext cx="16459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整机总质量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9775" y="2450592"/>
            <a:ext cx="307878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工程用途与状态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3135" y="2761488"/>
            <a:ext cx="18288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提交 / URDF 口径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64815" y="2761488"/>
            <a:ext cx="17373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1790 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85055" y="2761488"/>
            <a:ext cx="14630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1647 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30975" y="2761488"/>
            <a:ext cx="16459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3437 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9775" y="2761488"/>
            <a:ext cx="3078784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测试套件与交接包固定口径（严格冻结）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61695" y="3200400"/>
            <a:ext cx="10668579" cy="0"/>
          </a:xfrm>
          <a:prstGeom prst="line">
            <a:avLst/>
          </a:prstGeom>
          <a:ln w="6350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53135" y="3200400"/>
            <a:ext cx="18288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CAD 现行拓扑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64815" y="3200400"/>
            <a:ext cx="17373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1404 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85055" y="3200400"/>
            <a:ext cx="14630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1646 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30975" y="3200400"/>
            <a:ext cx="16459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3050 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9775" y="3200400"/>
            <a:ext cx="3078784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结构镂空优化减重 386 g（尚未回灌 URDF）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61695" y="3639312"/>
            <a:ext cx="10668579" cy="0"/>
          </a:xfrm>
          <a:prstGeom prst="line">
            <a:avLst/>
          </a:prstGeom>
          <a:ln w="6350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53135" y="3639312"/>
            <a:ext cx="18288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错轴后结构预估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64815" y="3639312"/>
            <a:ext cx="17373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约 1490 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85055" y="3639312"/>
            <a:ext cx="14630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1646 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30975" y="3639312"/>
            <a:ext cx="16459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约 3136 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59775" y="3639312"/>
            <a:ext cx="3078784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计入错轴支架（+86 g）后的物理装配预估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61695" y="4078224"/>
            <a:ext cx="10668579" cy="0"/>
          </a:xfrm>
          <a:prstGeom prst="line">
            <a:avLst/>
          </a:prstGeom>
          <a:ln w="6350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761695" y="4151376"/>
            <a:ext cx="5197129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4575" y="4261104"/>
            <a:ext cx="4831369" cy="1335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质量分布明细（以 CAD 拓扑为例）：</a:t>
            </a: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· 22 只 STS3215 磁编总线舵机（单只 55 g）：合计 1210 g
· 3S 11.1V 锂电池组：180 g
· 树莓派 4B 参考主控 + 传感器组：136 g
· 紧固螺栓、轴承与导线线束：约 120 g
· 3D 打印主体骨架：1404 g（胸腔 320g / 骨盆 260g / 腿臂 824g）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33144" y="4151376"/>
            <a:ext cx="5197129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16024" y="4261104"/>
            <a:ext cx="4831369" cy="1335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数据回灌工作计划：</a:t>
            </a:r>
          </a:p>
          <a:p>
            <a:pPr algn="l">
              <a:lnSpc>
                <a:spcPct val="130000"/>
              </a:lnSpc>
              <a:spcBef>
                <a:spcPts val="300"/>
              </a:spcBef>
            </a:pPr>
            <a:r>
              <a:rPr sz="9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当前绝不在未测前随意覆盖提交口径。后续在 CadQuery 最终参数冻结后，将执行系统级质心与转动惯量矩阵重解算，一次性完整反哺回灌至 software/atri 及 webots 仿真模型中，消除 3437g 与 3050g 的双轨差额。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61695" y="5650992"/>
            <a:ext cx="10668579" cy="438912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81151" y="5650992"/>
            <a:ext cx="1022966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自律声明：</a:t>
            </a:r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幻灯片严禁混用两套质量，URDF 是过去的基线，CAD 是当前的物理演进，两者皆为客观事实。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1695" y="6016752"/>
            <a:ext cx="71323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本页状态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529791" y="6016752"/>
            <a:ext cx="771144" cy="237744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621231" y="6016752"/>
            <a:ext cx="6248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◐</a:t>
            </a:r>
            <a:r>
              <a:rPr sz="1050" b="0" i="0">
                <a:solidFill>
                  <a:srgbClr val="E4572E"/>
                </a:solidFill>
                <a:latin typeface="Source Han Sans SC"/>
                <a:ea typeface="Source Han Sans SC"/>
                <a:cs typeface="Source Han Sans SC"/>
              </a:rPr>
              <a:t> 进行中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695" y="3657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05</a:t>
            </a:r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  仿真与机械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48095" y="365760"/>
            <a:ext cx="51821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仿真与机械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61695" y="6217920"/>
            <a:ext cx="10668579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61695" y="641908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A.T.R.I. 桌面自主人形智能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8095" y="6419088"/>
            <a:ext cx="51821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19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1695" y="713232"/>
            <a:ext cx="10668579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动力学扭矩主判据：连续额定 0.98 N·m，直面踝部腰部过载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" y="1481328"/>
            <a:ext cx="10668579" cy="310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严禁用 1.47 N·m 瞬态峰值粉饰过载；踝关节与腰关节需专项减重与连杆辅助。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61695" y="1847088"/>
            <a:ext cx="10668579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61695" y="199339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0.98 N·m</a:t>
            </a:r>
            <a:r>
              <a:rPr sz="11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 · 连续额定主判据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1695" y="2450592"/>
            <a:ext cx="3434273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1695" y="2450592"/>
            <a:ext cx="3434273" cy="45720"/>
          </a:xfrm>
          <a:prstGeom prst="rect">
            <a:avLst/>
          </a:prstGeom>
          <a:solidFill>
            <a:srgbClr val="1264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4575" y="2578608"/>
            <a:ext cx="30685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主判据准则：连续额定 0.98 N·m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44575" y="2907792"/>
            <a:ext cx="3068513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44575" y="3017520"/>
            <a:ext cx="3068513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【判据澄清】选型 STS3215，其连续额定扭矩为 0.98 N·m（来自 12V 规格标称）。
【拒绝粉饰】峰值 1.47 N·m 仅为堵转极限，用于长时间双足站立与行走极易导致电机过热烧毁。CAD 标注的「102%」因采用峰值计算，已被本轮审计废止。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78848" y="2450592"/>
            <a:ext cx="3434273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78848" y="2450592"/>
            <a:ext cx="3434273" cy="45720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61728" y="2578608"/>
            <a:ext cx="30685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踝关节负载：1.630 N·m（167%）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561728" y="2907792"/>
            <a:ext cx="3068513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561728" y="3017520"/>
            <a:ext cx="3068513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【计算依据】单腿支撑与迈步冲击动态系数 2.0，足底压力中心偏移 25 mm，静态推导得出踝俯仰负载高达 1.63 N·m。
【过载判定】达到连续额定的 167%，属于明确过载项，实机必须通过弹簧储能或连杆卸载。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96001" y="2450592"/>
            <a:ext cx="3434273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96001" y="2450592"/>
            <a:ext cx="3434273" cy="45720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78881" y="2578608"/>
            <a:ext cx="30685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腰关节负载：2.092 N·m（214%）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178881" y="2907792"/>
            <a:ext cx="3068513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178881" y="3017520"/>
            <a:ext cx="3068513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【计算依据】上身（含双臂、头部与电池板载）前倾与加速时，腰俯仰静态保持扭矩达 2.092 N·m。
【过载判定】达到连续额定的 214%，属于严重过载项，必须通过步态小步快走限制俯仰角。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1695" y="5029200"/>
            <a:ext cx="10668579" cy="1225296"/>
          </a:xfrm>
          <a:prstGeom prst="rect">
            <a:avLst/>
          </a:prstGeom>
          <a:solidFill>
            <a:srgbClr val="FFFFFF"/>
          </a:solidFill>
          <a:ln w="15240">
            <a:solidFill>
              <a:srgbClr val="E45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1151" y="5138928"/>
            <a:ext cx="10229667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工程应对措施与下一步攻关方案：</a:t>
            </a: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sz="95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① 采购 12V 舵机搭建测试台：</a:t>
            </a:r>
            <a:r>
              <a:rPr sz="9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仓库已有规格书为 7.4V，现行 0.98 N·m 依据 12V 兄弟型号推导，晋级后将首先采购一只实物测定真实温升与持续扭矩。</a:t>
            </a: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sz="95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② 机构优化出路：</a:t>
            </a:r>
            <a:r>
              <a:rPr sz="9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若评分细则不限速，降低动态系数（2.0 → 1.4）是零成本出路；高要求下踝部将增加拉簧被动补偿，腰部采用双舵机联动并联。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1695" y="5650992"/>
            <a:ext cx="10668579" cy="438912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1151" y="5650992"/>
            <a:ext cx="1022966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动力学底线：</a:t>
            </a:r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把过载坦率写在幻灯片上，代表团队懂真实的机器人动力学，而不是掩耳盗铃。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1695" y="6016752"/>
            <a:ext cx="71323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本页状态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529791" y="6016752"/>
            <a:ext cx="904494" cy="237744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621231" y="6016752"/>
            <a:ext cx="75819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◇</a:t>
            </a:r>
            <a:r>
              <a:rPr sz="1050" b="0" i="0">
                <a:solidFill>
                  <a:srgbClr val="1264A3"/>
                </a:solidFill>
                <a:latin typeface="Source Han Sans SC"/>
                <a:ea typeface="Source Han Sans SC"/>
                <a:cs typeface="Source Han Sans SC"/>
              </a:rPr>
              <a:t> 设计目标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695" y="3657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05</a:t>
            </a:r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  仿真与机械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48095" y="365760"/>
            <a:ext cx="51821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仿真与机械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61695" y="6217920"/>
            <a:ext cx="10668579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61695" y="641908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A.T.R.I. 桌面自主人形智能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8095" y="6419088"/>
            <a:ext cx="51821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20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1695" y="713232"/>
            <a:ext cx="10668579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2000 mAh 支撑约 13 分钟，赛题 30 分钟需标称 ≥4.53 Ah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" y="1481328"/>
            <a:ext cx="10668579" cy="310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现选电池不满足赛题续航要求；补足电池会加重机体，扭矩与功耗面临系统级挑战。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61695" y="1847088"/>
            <a:ext cx="10668579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61695" y="199339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13 min vs 30 min</a:t>
            </a:r>
            <a:r>
              <a:rPr sz="11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 · 需 ≥ 4.53 Ah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1695" y="2450592"/>
            <a:ext cx="5303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整机重载功耗测算推导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61695" y="2706624"/>
            <a:ext cx="5303520" cy="0"/>
          </a:xfrm>
          <a:prstGeom prst="line">
            <a:avLst/>
          </a:prstGeom>
          <a:ln w="1270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761695" y="2816352"/>
            <a:ext cx="530352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4575" y="2944368"/>
            <a:ext cx="4937759" cy="2697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整机功率消耗模型（11.1 V 供电系统）：</a:t>
            </a:r>
          </a:p>
          <a:p>
            <a:pPr algn="l">
              <a:lnSpc>
                <a:spcPct val="135000"/>
              </a:lnSpc>
              <a:spcBef>
                <a:spcPts val="300"/>
              </a:spcBef>
            </a:pPr>
            <a:r>
              <a:rPr sz="9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· 22 路舵机静态站立维持：150 mA × 22 ≈ 3.30 A
· 动态行走与踢球动作峰值：腿部 10 舵机平均拉升 ≈ 2.70 A
· 树莓派 4B 计算板 + 视觉图像采集：≈ 1.25 A
· 整机重载持续工作平均电流：约 7.25 A</a:t>
            </a:r>
          </a:p>
          <a:p>
            <a:pPr algn="l">
              <a:spcBef>
                <a:spcPts val="500"/>
              </a:spcBef>
            </a:pPr>
            <a:r>
              <a:rPr sz="105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现选电池工况核算：</a:t>
            </a:r>
          </a:p>
          <a:p>
            <a:pPr algn="l">
              <a:lnSpc>
                <a:spcPct val="135000"/>
              </a:lnSpc>
              <a:spcBef>
                <a:spcPts val="300"/>
              </a:spcBef>
            </a:pPr>
            <a:r>
              <a:rPr sz="9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现选电池：2000 mAh（3S 11.1V 25C）
可用能量（按 80% 安全放电深度）：2.0 Ah × 0.8 = 1.60 Ah
实测推算续航：1.60 Ah / 7.25 A × 60 ≈ 13 分钟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9535" y="2450592"/>
            <a:ext cx="50907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赛题 30 分钟连续作业缺口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339535" y="2706624"/>
            <a:ext cx="5090739" cy="0"/>
          </a:xfrm>
          <a:prstGeom prst="line">
            <a:avLst/>
          </a:prstGeom>
          <a:ln w="1270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6339535" y="2816352"/>
            <a:ext cx="5090739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22415" y="2944368"/>
            <a:ext cx="4724979" cy="2697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赛题硬约束与理论需求容量：</a:t>
            </a:r>
          </a:p>
          <a:p>
            <a:pPr algn="l">
              <a:lnSpc>
                <a:spcPct val="135000"/>
              </a:lnSpc>
              <a:spcBef>
                <a:spcPts val="300"/>
              </a:spcBef>
            </a:pPr>
            <a:r>
              <a:rPr sz="9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· 赛题规则要求：自主完成五项赛题连续作业 ≥ 30 min
· 30 min 需耗电：7.25 A × 0.5 h = 3.625 Ah
· 逆推电池标称需求：3.625 / 0.8 ≥ 4.53 Ah
· 现有 2000 mAh 仅能支撑计划时长的 43%</a:t>
            </a:r>
          </a:p>
          <a:p>
            <a:pPr algn="l">
              <a:spcBef>
                <a:spcPts val="500"/>
              </a:spcBef>
            </a:pPr>
            <a:r>
              <a:rPr sz="105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连锁反应与权衡出路：</a:t>
            </a:r>
          </a:p>
          <a:p>
            <a:pPr algn="l">
              <a:lnSpc>
                <a:spcPct val="135000"/>
              </a:lnSpc>
              <a:spcBef>
                <a:spcPts val="300"/>
              </a:spcBef>
            </a:pPr>
            <a:r>
              <a:rPr sz="9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① 换装 4.53 Ah 电池，电池增重约 180 g，踝部扭矩过载将进一步恶化；
② 优化步态降低待机能耗，待机电流压至 1.5 A 可延长至 20 min；
③ 比赛策略：准备双组快拆电池，单场跑完即换。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1695" y="5650992"/>
            <a:ext cx="10668579" cy="438912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1151" y="5650992"/>
            <a:ext cx="1022966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诚实总结：</a:t>
            </a:r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现选 2000 mAh 电池无法支撑 30 分钟连续作业，我们不隐瞒续航短板，明确将高比能电池选型列为实装攻关项。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1695" y="6016752"/>
            <a:ext cx="71323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本页状态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29791" y="6016752"/>
            <a:ext cx="771144" cy="237744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21231" y="6016752"/>
            <a:ext cx="6248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6B7A8C"/>
                </a:solidFill>
                <a:latin typeface="Source Han Sans SC Heavy"/>
                <a:ea typeface="Source Han Sans SC Heavy"/>
                <a:cs typeface="Source Han Sans SC Heavy"/>
              </a:rPr>
              <a:t>○</a:t>
            </a:r>
            <a:r>
              <a:rPr sz="10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 规划中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695" y="3657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06</a:t>
            </a:r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  验证与推进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48095" y="365760"/>
            <a:ext cx="51821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验证与推进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61695" y="6217920"/>
            <a:ext cx="10668579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61695" y="641908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A.T.R.I. 桌面自主人形智能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8095" y="6419088"/>
            <a:ext cx="51821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21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1695" y="713232"/>
            <a:ext cx="10668579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物料清单与预算：全口径与新增采购明晰区分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" y="1481328"/>
            <a:ext cx="10668579" cy="310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树莓派 4B 为 BOM 参考板，软件面向通用 Linux 编写；两套口径清清楚楚。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61695" y="1847088"/>
            <a:ext cx="10668579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61695" y="199339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¥2725–3260</a:t>
            </a:r>
            <a:r>
              <a:rPr sz="11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 元新增采购 · 全口径 ¥3350–3950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1695" y="2450592"/>
            <a:ext cx="6949440" cy="256032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3135" y="2450592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组件类别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41855" y="2450592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规格选型说明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67935" y="2450592"/>
            <a:ext cx="457199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数量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08015" y="2450592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单价预算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415" y="245059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小计金额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3135" y="2706624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主动总线舵机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41855" y="2706624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飞特 STS3215 磁编码串行总线舵机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67935" y="2706624"/>
            <a:ext cx="457199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22 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08015" y="27066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¥90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2415" y="2706624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¥1980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61695" y="2962656"/>
            <a:ext cx="6949440" cy="0"/>
          </a:xfrm>
          <a:prstGeom prst="line">
            <a:avLst/>
          </a:prstGeom>
          <a:ln w="6350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53135" y="2962656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备用舵机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41855" y="2962656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STS3215 备用舵机（含 25T 舵盘）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67935" y="2962656"/>
            <a:ext cx="457199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2 只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08015" y="2962656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¥90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2415" y="2962656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¥180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61695" y="3218688"/>
            <a:ext cx="6949440" cy="0"/>
          </a:xfrm>
          <a:prstGeom prst="line">
            <a:avLst/>
          </a:prstGeom>
          <a:ln w="6350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53135" y="3218688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边缘计算板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41855" y="3218688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树莓派 4B 4GB（参考板，软件按通用 Linux aarch64）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67935" y="3218688"/>
            <a:ext cx="457199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1 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08015" y="3218688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¥450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22415" y="3218688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¥450（实验室已有）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61695" y="3474720"/>
            <a:ext cx="6949440" cy="0"/>
          </a:xfrm>
          <a:prstGeom prst="line">
            <a:avLst/>
          </a:prstGeom>
          <a:ln w="6350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53135" y="3474720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下层控制板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41855" y="3474720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STM32F405 最小系统板（规划）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67935" y="3474720"/>
            <a:ext cx="457199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1 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08015" y="3474720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¥50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22415" y="3474720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¥50（实验室已有）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761695" y="3730752"/>
            <a:ext cx="6949440" cy="0"/>
          </a:xfrm>
          <a:prstGeom prst="line">
            <a:avLst/>
          </a:prstGeom>
          <a:ln w="6350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853135" y="3730752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动力电源组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41855" y="3730752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3S 11.1 V 锂电池组 + B3 平衡充电器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67935" y="3730752"/>
            <a:ext cx="457199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1 套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08015" y="3730752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¥140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22415" y="37307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¥140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761695" y="3986784"/>
            <a:ext cx="6949440" cy="0"/>
          </a:xfrm>
          <a:prstGeom prst="line">
            <a:avLst/>
          </a:prstGeom>
          <a:ln w="6350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853135" y="3986784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视觉与交互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041855" y="3986784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USB 广角免驱摄像头 + 麦克风功放喇叭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67935" y="3986784"/>
            <a:ext cx="457199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1 套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08015" y="398678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¥90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22415" y="3986784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¥90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761695" y="4242816"/>
            <a:ext cx="6949440" cy="0"/>
          </a:xfrm>
          <a:prstGeom prst="line">
            <a:avLst/>
          </a:prstGeom>
          <a:ln w="6350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853135" y="4242816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3D 打印结构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41855" y="4242816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高韧性 PETG 耗材（含 35% 损耗）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967935" y="4242816"/>
            <a:ext cx="457199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1 套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608015" y="4242816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¥160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22415" y="4242816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¥160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761695" y="4498848"/>
            <a:ext cx="6949440" cy="0"/>
          </a:xfrm>
          <a:prstGeom prst="line">
            <a:avLst/>
          </a:prstGeom>
          <a:ln w="6350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853135" y="4498848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五金与线束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041855" y="4498848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MF106ZZ 轴承 22 只 + 铜螺母 + 定制硅胶线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967935" y="4498848"/>
            <a:ext cx="457199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1 套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608015" y="4498848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¥150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522415" y="4498848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¥150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761695" y="4754880"/>
            <a:ext cx="6949440" cy="0"/>
          </a:xfrm>
          <a:prstGeom prst="line">
            <a:avLst/>
          </a:prstGeom>
          <a:ln w="6350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853135" y="4754880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错轴定制支架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041855" y="4754880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轻质铝合金定制错轴连接臂与外伸支架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967935" y="4754880"/>
            <a:ext cx="457199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1 套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608015" y="4754880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¥150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522415" y="4754880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¥150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761695" y="5010912"/>
            <a:ext cx="6949440" cy="0"/>
          </a:xfrm>
          <a:prstGeom prst="line">
            <a:avLst/>
          </a:prstGeom>
          <a:ln w="6350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ectangle 70"/>
          <p:cNvSpPr/>
          <p:nvPr/>
        </p:nvSpPr>
        <p:spPr>
          <a:xfrm>
            <a:off x="7909560" y="2450592"/>
            <a:ext cx="3490539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092440" y="2560320"/>
            <a:ext cx="3124779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全口径预算</a:t>
            </a:r>
          </a:p>
          <a:p>
            <a:pPr algn="l">
              <a:spcBef>
                <a:spcPts val="200"/>
              </a:spcBef>
            </a:pPr>
            <a:r>
              <a:rPr sz="15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¥3350–3950 元</a:t>
            </a: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sz="8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涵盖全新采购所有 22+2 舵机、参考计算板、电池、充电器及全部标准件与耗材。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909560" y="4059936"/>
            <a:ext cx="3490539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092440" y="4169664"/>
            <a:ext cx="3124779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新增采购预算（报名单）</a:t>
            </a:r>
          </a:p>
          <a:p>
            <a:pPr algn="l">
              <a:spcBef>
                <a:spcPts val="200"/>
              </a:spcBef>
            </a:pPr>
            <a:r>
              <a:rPr sz="15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¥2725–3260 元</a:t>
            </a: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sz="8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扣减高校实验室已有的计算主板与 STM32 开发板后的实际净采购支出。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61695" y="5650992"/>
            <a:ext cx="10668579" cy="438912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81151" y="5650992"/>
            <a:ext cx="1022966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BOM 纪律：</a:t>
            </a:r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本清单为实测预算设计，尚未正式下单采购；价格随市场浮动，坚决不编造虚假已采购发票。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61695" y="6016752"/>
            <a:ext cx="71323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本页状态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529791" y="6016752"/>
            <a:ext cx="904494" cy="237744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621231" y="6016752"/>
            <a:ext cx="75819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◇</a:t>
            </a:r>
            <a:r>
              <a:rPr sz="1050" b="0" i="0">
                <a:solidFill>
                  <a:srgbClr val="1264A3"/>
                </a:solidFill>
                <a:latin typeface="Source Han Sans SC"/>
                <a:ea typeface="Source Han Sans SC"/>
                <a:cs typeface="Source Han Sans SC"/>
              </a:rPr>
              <a:t> 设计目标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695" y="3657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06</a:t>
            </a:r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  验证与推进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48095" y="365760"/>
            <a:ext cx="51821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验证与推进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61695" y="6217920"/>
            <a:ext cx="10668579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61695" y="641908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A.T.R.I. 桌面自主人形智能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8095" y="6419088"/>
            <a:ext cx="51821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22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1695" y="713232"/>
            <a:ext cx="10668579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工程质量基线：现场可跑的四条命令与测试证据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" y="1481328"/>
            <a:ext cx="10668579" cy="310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本机 Ubuntu Linux Python 3.14.7 环境已跑通；纯控制台确定性复现，拒绝伪造输出。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61695" y="1847088"/>
            <a:ext cx="10668579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61695" y="199339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344 + 40</a:t>
            </a:r>
            <a:r>
              <a:rPr sz="11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 项自动化测试全部通过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1695" y="2450592"/>
            <a:ext cx="10668579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1695" y="2450592"/>
            <a:ext cx="41148" cy="658368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4575" y="2505456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1. 主包单元测试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47695" y="2505456"/>
            <a:ext cx="819969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cd software/atri &amp;&amp; python3 -m unittest discover -s tests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47695" y="2779776"/>
            <a:ext cx="819969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✔ Ran 344 tests ... OK（覆盖 FSM、任务卡、技能安全契约、防假阳性、TTS 探测）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1695" y="3182112"/>
            <a:ext cx="10668579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1695" y="3182112"/>
            <a:ext cx="41148" cy="658368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4575" y="3236976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2. 五项赛题闭环演示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47695" y="3236976"/>
            <a:ext cx="819969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python3 run_demo.py --fast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47695" y="3511296"/>
            <a:ext cx="819969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✔ 闭环演示完成: 5/5 项赛题全部通过（人脸/二维码/搬运/踢球/舞蹈 无硬件端到端闭环）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1695" y="3913632"/>
            <a:ext cx="10668579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1695" y="3913632"/>
            <a:ext cx="41148" cy="658368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4575" y="3968496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3. Webots 控制器测试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47695" y="3968496"/>
            <a:ext cx="819969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cd webots/tests &amp;&amp; python3 -m unittest test_atri_controller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47695" y="4242816"/>
            <a:ext cx="819969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✔ Ran 40 tests ... OK（22 关节全映射绑定、节点非空验证、&gt;1° 行程角位移检查）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1695" y="4645152"/>
            <a:ext cx="10668579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1695" y="4645152"/>
            <a:ext cx="41148" cy="658368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4575" y="4700016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4. 世界模型生成幂等性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47695" y="4700016"/>
            <a:ext cx="819969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python3 webots/tools/generate_atri_world.py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47695" y="4974336"/>
            <a:ext cx="819969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✔ 输出世界文件 webots/worlds/atri_22dof.wbt，多次运行哈希完全一致，模型完全幂等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1695" y="5650992"/>
            <a:ext cx="10668579" cy="438912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1151" y="5650992"/>
            <a:ext cx="1022966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2E9E7B"/>
                </a:solidFill>
                <a:latin typeface="Source Han Sans SC Heavy"/>
                <a:ea typeface="Source Han Sans SC Heavy"/>
                <a:cs typeface="Source Han Sans SC Heavy"/>
              </a:rPr>
              <a:t>实事求是声明：</a:t>
            </a:r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本机环境 Python 3.14 验证通过；CadQuery 与带 GUI 的真实 Webots 3D 窗口未在本机跑，不作虚假宣称。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1695" y="6016752"/>
            <a:ext cx="71323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本页状态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529791" y="6016752"/>
            <a:ext cx="771144" cy="237744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621231" y="6016752"/>
            <a:ext cx="6248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2E9E7B"/>
                </a:solidFill>
                <a:latin typeface="Source Han Sans SC Heavy"/>
                <a:ea typeface="Source Han Sans SC Heavy"/>
                <a:cs typeface="Source Han Sans SC Heavy"/>
              </a:rPr>
              <a:t>●</a:t>
            </a:r>
            <a:r>
              <a:rPr sz="1050" b="0" i="0">
                <a:solidFill>
                  <a:srgbClr val="2E9E7B"/>
                </a:solidFill>
                <a:latin typeface="Source Han Sans SC"/>
                <a:ea typeface="Source Han Sans SC"/>
                <a:cs typeface="Source Han Sans SC"/>
              </a:rPr>
              <a:t> 已完成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695" y="3657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06</a:t>
            </a:r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  验证与推进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48095" y="365760"/>
            <a:ext cx="51821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验证与推进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61695" y="6217920"/>
            <a:ext cx="10668579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61695" y="641908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A.T.R.I. 桌面自主人形智能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8095" y="6419088"/>
            <a:ext cx="51821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23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1695" y="713232"/>
            <a:ext cx="10668579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还没做的，写在这里：实事求是的攻坚路线图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" y="1481328"/>
            <a:ext cx="10668579" cy="310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减重回灌、12V 扭矩实测、真实串口总线驱动与大容量电池；不把规划包装成已完成。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61695" y="1847088"/>
            <a:ext cx="10668579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61695" y="1993392"/>
            <a:ext cx="4572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4 大攻关项</a:t>
            </a:r>
            <a:r>
              <a:rPr sz="11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 · 绝不隐瞒工程差距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1695" y="2450592"/>
            <a:ext cx="2564274" cy="3163824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1695" y="2450592"/>
            <a:ext cx="2564274" cy="45720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7999" y="2578608"/>
            <a:ext cx="227166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01 质量数据真实反哺回灌 URDF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07999" y="2980944"/>
            <a:ext cx="2271666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07999" y="3090672"/>
            <a:ext cx="2271666" cy="2423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【现状问题】CAD 拓扑优化后结构压至 1404 g，但 URDF 模型仍停留在 1790 g 初始交接值。
【攻关计划】完成错轴装配定型后，通过 CadQuery 重新提取质心与转动惯量矩阵，统一写入 robot_model.json 与 URDF。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63129" y="2450592"/>
            <a:ext cx="2564274" cy="3163824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63129" y="2450592"/>
            <a:ext cx="2564274" cy="45720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09433" y="2578608"/>
            <a:ext cx="227166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02 采购 12V 舵机实测连续扭矩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609433" y="2980944"/>
            <a:ext cx="2271667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609433" y="3090672"/>
            <a:ext cx="2271666" cy="2423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【现状问题】当前 0.98 N·m 判据来自兄弟型号标称，缺少针对 STS3215 真实温升与持续扭矩台架实测。
【攻关计划】晋级后首先采购 1 只 12V STS3215，搭建简易测功摆臂，实测连续扭矩曲线，标定真实过载安全系数。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64564" y="2450592"/>
            <a:ext cx="2564274" cy="3163824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64564" y="2450592"/>
            <a:ext cx="2564274" cy="45720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10868" y="2578608"/>
            <a:ext cx="227166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03 真实硬件总线驱动与 STM32 下沉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310868" y="2980944"/>
            <a:ext cx="2271667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310868" y="3090672"/>
            <a:ext cx="2271666" cy="2423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【现状问题】目前运行于内存 MockServoBus 与 Webots 仿真总线，缺少物理 UART 半双工串口驱动代码。
【攻关计划】编写 SerialServoBus 驱动真实 22 路舵机总线，推进小脑正弦步态下沉至 STM32 固件中运行。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865999" y="2450592"/>
            <a:ext cx="2564274" cy="3163824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865999" y="2450592"/>
            <a:ext cx="2564274" cy="45720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12303" y="2578608"/>
            <a:ext cx="227166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04 高比能电池选型与 30 min 续航达标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012303" y="2980944"/>
            <a:ext cx="2271667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9012303" y="3090672"/>
            <a:ext cx="2271666" cy="2423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【现状问题】现有 2000 mAh 电池仅支持约 13 分钟重载作业，无法满足赛题 30 分钟连续作业要求。
【攻关计划】评估高倍率 21700 锂电方案，容量提升至 ≥4.53 Ah，并结合机体配重重新进行动态平衡校核。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1695" y="5650992"/>
            <a:ext cx="10668579" cy="438912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1151" y="5650992"/>
            <a:ext cx="1022966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态度宣言：</a:t>
            </a:r>
            <a:r>
              <a:rPr sz="9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实事求是是科技创新的第一准则。我们清楚地知道距离一台完美真机还有多远，并且已经规划好了每一步。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1695" y="6016752"/>
            <a:ext cx="71323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本页状态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529791" y="6016752"/>
            <a:ext cx="771144" cy="237744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621231" y="6016752"/>
            <a:ext cx="6248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6B7A8C"/>
                </a:solidFill>
                <a:latin typeface="Source Han Sans SC Heavy"/>
                <a:ea typeface="Source Han Sans SC Heavy"/>
                <a:cs typeface="Source Han Sans SC Heavy"/>
              </a:rPr>
              <a:t>○</a:t>
            </a:r>
            <a:r>
              <a:rPr sz="10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 规划中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695" y="749808"/>
            <a:ext cx="10058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9CC0DC"/>
                </a:solidFill>
                <a:latin typeface="Source Han Sans SC"/>
                <a:ea typeface="Source Han Sans SC"/>
                <a:cs typeface="Source Han Sans SC"/>
              </a:rPr>
              <a:t>中国国际大学生创新大赛（2026）</a:t>
            </a:r>
            <a:r>
              <a:rPr sz="10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　陕西赛区特色专项 · 人形机器人专项 · 小人形组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695" y="1353312"/>
            <a:ext cx="1060704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i="0">
                <a:solidFill>
                  <a:srgbClr val="FFFFFF"/>
                </a:solidFill>
                <a:latin typeface="Source Han Sans SC Heavy"/>
                <a:ea typeface="Source Han Sans SC Heavy"/>
                <a:cs typeface="Source Han Sans SC Heavy"/>
              </a:rPr>
              <a:t>扎实地基构筑自主智能，随时迎接真机制造</a:t>
            </a:r>
          </a:p>
        </p:txBody>
      </p:sp>
      <p:sp>
        <p:nvSpPr>
          <p:cNvPr id="4" name="Rectangle 3"/>
          <p:cNvSpPr/>
          <p:nvPr/>
        </p:nvSpPr>
        <p:spPr>
          <a:xfrm>
            <a:off x="761695" y="2139696"/>
            <a:ext cx="731520" cy="45720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1695" y="2450592"/>
            <a:ext cx="2060563" cy="2157984"/>
          </a:xfrm>
          <a:prstGeom prst="rect">
            <a:avLst/>
          </a:prstGeom>
          <a:solidFill>
            <a:srgbClr val="122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1695" y="2450592"/>
            <a:ext cx="2060563" cy="36576"/>
          </a:xfrm>
          <a:prstGeom prst="rect">
            <a:avLst/>
          </a:prstGeom>
          <a:solidFill>
            <a:srgbClr val="9CC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9711" y="2615184"/>
            <a:ext cx="180453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Source Han Sans SC Heavy"/>
                <a:ea typeface="Source Han Sans SC Heavy"/>
                <a:cs typeface="Source Han Sans SC Heavy"/>
              </a:rPr>
              <a:t>何浩睿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9711" y="2907792"/>
            <a:ext cx="18045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E4572E"/>
                </a:solidFill>
                <a:latin typeface="Source Han Sans SC"/>
                <a:ea typeface="Source Han Sans SC"/>
                <a:cs typeface="Source Han Sans SC"/>
              </a:rPr>
              <a:t>机械与步态负责人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9711" y="3182112"/>
            <a:ext cx="1804531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850" b="0" i="0">
                <a:solidFill>
                  <a:srgbClr val="B0C4DE"/>
                </a:solidFill>
                <a:latin typeface="Source Han Sans SC"/>
                <a:ea typeface="Source Han Sans SC"/>
                <a:cs typeface="Source Han Sans SC"/>
              </a:rPr>
              <a:t>22 DOF 机构拓扑、错轴装配设计、舵机选型与正弦步态参数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13699" y="2450592"/>
            <a:ext cx="2060563" cy="2157984"/>
          </a:xfrm>
          <a:prstGeom prst="rect">
            <a:avLst/>
          </a:prstGeom>
          <a:solidFill>
            <a:srgbClr val="122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13699" y="2450592"/>
            <a:ext cx="2060563" cy="36576"/>
          </a:xfrm>
          <a:prstGeom prst="rect">
            <a:avLst/>
          </a:prstGeom>
          <a:solidFill>
            <a:srgbClr val="9CC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41715" y="2615184"/>
            <a:ext cx="180453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Source Han Sans SC Heavy"/>
                <a:ea typeface="Source Han Sans SC Heavy"/>
                <a:cs typeface="Source Han Sans SC Heavy"/>
              </a:rPr>
              <a:t>周柏宇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1715" y="2907792"/>
            <a:ext cx="18045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E4572E"/>
                </a:solidFill>
                <a:latin typeface="Source Han Sans SC"/>
                <a:ea typeface="Source Han Sans SC"/>
                <a:cs typeface="Source Han Sans SC"/>
              </a:rPr>
              <a:t>项目统筹与集成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41715" y="3182112"/>
            <a:ext cx="1804531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850" b="0" i="0">
                <a:solidFill>
                  <a:srgbClr val="B0C4DE"/>
                </a:solidFill>
                <a:latin typeface="Source Han Sans SC"/>
                <a:ea typeface="Source Han Sans SC"/>
                <a:cs typeface="Source Han Sans SC"/>
              </a:rPr>
              <a:t>大赛申报材料统筹、答辩汇报组织、软硬件集成联调与验收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65702" y="2450592"/>
            <a:ext cx="2060563" cy="2157984"/>
          </a:xfrm>
          <a:prstGeom prst="rect">
            <a:avLst/>
          </a:prstGeom>
          <a:solidFill>
            <a:srgbClr val="122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65702" y="2450592"/>
            <a:ext cx="2060563" cy="36576"/>
          </a:xfrm>
          <a:prstGeom prst="rect">
            <a:avLst/>
          </a:prstGeom>
          <a:solidFill>
            <a:srgbClr val="9CC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93718" y="2615184"/>
            <a:ext cx="180453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Source Han Sans SC Heavy"/>
                <a:ea typeface="Source Han Sans SC Heavy"/>
                <a:cs typeface="Source Han Sans SC Heavy"/>
              </a:rPr>
              <a:t>胡晟瑞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93718" y="2907792"/>
            <a:ext cx="18045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E4572E"/>
                </a:solidFill>
                <a:latin typeface="Source Han Sans SC"/>
                <a:ea typeface="Source Han Sans SC"/>
                <a:cs typeface="Source Han Sans SC"/>
              </a:rPr>
              <a:t>算法研发与感知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93718" y="3182112"/>
            <a:ext cx="1804531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850" b="0" i="0">
                <a:solidFill>
                  <a:srgbClr val="B0C4DE"/>
                </a:solidFill>
                <a:latin typeface="Source Han Sans SC"/>
                <a:ea typeface="Source Han Sans SC"/>
                <a:cs typeface="Source Han Sans SC"/>
              </a:rPr>
              <a:t>单目轻量视觉感知、二维码指令解析、踢球伺服控制律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17706" y="2450592"/>
            <a:ext cx="2060563" cy="2157984"/>
          </a:xfrm>
          <a:prstGeom prst="rect">
            <a:avLst/>
          </a:prstGeom>
          <a:solidFill>
            <a:srgbClr val="122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217706" y="2450592"/>
            <a:ext cx="2060563" cy="36576"/>
          </a:xfrm>
          <a:prstGeom prst="rect">
            <a:avLst/>
          </a:prstGeom>
          <a:solidFill>
            <a:srgbClr val="9CC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45722" y="2615184"/>
            <a:ext cx="180453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Source Han Sans SC Heavy"/>
                <a:ea typeface="Source Han Sans SC Heavy"/>
                <a:cs typeface="Source Han Sans SC Heavy"/>
              </a:rPr>
              <a:t>王旭琪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45722" y="2907792"/>
            <a:ext cx="18045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E4572E"/>
                </a:solidFill>
                <a:latin typeface="Source Han Sans SC"/>
                <a:ea typeface="Source Han Sans SC"/>
                <a:cs typeface="Source Han Sans SC"/>
              </a:rPr>
              <a:t>系统架构与仿真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45722" y="3182112"/>
            <a:ext cx="1804531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850" b="0" i="0">
                <a:solidFill>
                  <a:srgbClr val="B0C4DE"/>
                </a:solidFill>
                <a:latin typeface="Source Han Sans SC"/>
                <a:ea typeface="Source Han Sans SC"/>
                <a:cs typeface="Source Han Sans SC"/>
              </a:rPr>
              <a:t>大脑有限状态机、JSON 任务卡规范、技能契约与 Webots 仿真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369710" y="2450592"/>
            <a:ext cx="2060563" cy="2157984"/>
          </a:xfrm>
          <a:prstGeom prst="rect">
            <a:avLst/>
          </a:prstGeom>
          <a:solidFill>
            <a:srgbClr val="122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369710" y="2450592"/>
            <a:ext cx="2060563" cy="36576"/>
          </a:xfrm>
          <a:prstGeom prst="rect">
            <a:avLst/>
          </a:prstGeom>
          <a:solidFill>
            <a:srgbClr val="9CC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97726" y="2615184"/>
            <a:ext cx="180453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Source Han Sans SC Heavy"/>
                <a:ea typeface="Source Han Sans SC Heavy"/>
                <a:cs typeface="Source Han Sans SC Heavy"/>
              </a:rPr>
              <a:t>张景昆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97726" y="2907792"/>
            <a:ext cx="18045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E4572E"/>
                </a:solidFill>
                <a:latin typeface="Source Han Sans SC"/>
                <a:ea typeface="Source Han Sans SC"/>
                <a:cs typeface="Source Han Sans SC"/>
              </a:rPr>
              <a:t>小脑控制与总线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97726" y="3182112"/>
            <a:ext cx="1804531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850" b="0" i="0">
                <a:solidFill>
                  <a:srgbClr val="B0C4DE"/>
                </a:solidFill>
                <a:latin typeface="Source Han Sans SC"/>
                <a:ea typeface="Source Han Sans SC"/>
                <a:cs typeface="Source Han Sans SC"/>
              </a:rPr>
              <a:t>STM32 舵机总线驱动、IMU 姿态解算与失稳保护、串口协议设计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61695" y="4882896"/>
            <a:ext cx="10668579" cy="0"/>
          </a:xfrm>
          <a:prstGeom prst="line">
            <a:avLst/>
          </a:prstGeom>
          <a:ln w="12700">
            <a:solidFill>
              <a:srgbClr val="1E4A7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61695" y="5084064"/>
            <a:ext cx="10607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ource Han Sans SC Heavy"/>
                <a:ea typeface="Source Han Sans SC Heavy"/>
                <a:cs typeface="Source Han Sans SC Heavy"/>
              </a:rPr>
              <a:t>A.T.R.I. 桌面自主人形智能</a:t>
            </a:r>
            <a:r>
              <a:rPr sz="1100" b="0" i="0">
                <a:solidFill>
                  <a:srgbClr val="9CC0DC"/>
                </a:solidFill>
                <a:latin typeface="Source Han Sans SC"/>
                <a:ea typeface="Source Han Sans SC"/>
                <a:cs typeface="Source Han Sans SC"/>
              </a:rPr>
              <a:t>　｜　西安交通大学　｜　指导教师：陈妍 · 李璐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1695" y="5413248"/>
            <a:ext cx="10607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现行技术基线：22 DOF · 418 mm 包络 · 344+40 测试通过 · Python 3.14 only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1695" y="5870448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Source Han Sans SC Heavy"/>
                <a:ea typeface="Source Han Sans SC Heavy"/>
                <a:cs typeface="Source Han Sans SC Heavy"/>
              </a:rPr>
              <a:t>恳请各位专家评委批评指正！</a:t>
            </a:r>
          </a:p>
        </p:txBody>
      </p:sp>
    </p:spTree>
  </p:cSld>
  <p:clrMapOvr>
    <a:masterClrMapping/>
  </p:clrMapOvr>
  <p:transition spd="med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