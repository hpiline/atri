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23A42"/>
        </a:solidFill>
        <a:effectLst/>
      </p:bgPr>
    </p:bg>
    <p:spTree>
      <p:nvGrpSpPr>
        <p:cNvPr id="1" name=""/>
        <p:cNvGrpSpPr/>
        <p:nvPr/>
      </p:nvGrpSpPr>
      <p:grpSpPr/>
      <p:sp>
        <p:nvSpPr>
          <p:cNvPr id="2" name="Rectangle 1"/>
          <p:cNvSpPr/>
          <p:nvPr/>
        </p:nvSpPr>
        <p:spPr>
          <a:xfrm>
            <a:off x="0" y="0"/>
            <a:ext cx="6784848"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1695" y="658368"/>
            <a:ext cx="6766560" cy="237744"/>
          </a:xfrm>
          <a:prstGeom prst="rect">
            <a:avLst/>
          </a:prstGeom>
          <a:noFill/>
        </p:spPr>
        <p:txBody>
          <a:bodyPr wrap="square" lIns="0" rIns="0" tIns="0" bIns="0" anchor="t">
            <a:spAutoFit/>
          </a:bodyPr>
          <a:lstStyle/>
          <a:p>
            <a:pPr algn="l"/>
            <a:r>
              <a:rPr sz="1050" b="0" i="0">
                <a:solidFill>
                  <a:srgbClr val="9CC0DC"/>
                </a:solidFill>
                <a:latin typeface="Source Han Sans SC Heavy"/>
                <a:ea typeface="Source Han Sans SC Heavy"/>
                <a:cs typeface="Source Han Sans SC Heavy"/>
              </a:rPr>
              <a:t>中国国际大学生创新大赛（2026）</a:t>
            </a:r>
            <a:r>
              <a:rPr sz="1050" b="0" i="0">
                <a:solidFill>
                  <a:srgbClr val="9CC0DC"/>
                </a:solidFill>
                <a:latin typeface="Source Han Sans SC"/>
                <a:ea typeface="Source Han Sans SC"/>
                <a:cs typeface="Source Han Sans SC"/>
              </a:rPr>
              <a:t>　陕西赛区特色专项 · 人形机器人专项 · 小人形组</a:t>
            </a:r>
          </a:p>
        </p:txBody>
      </p:sp>
      <p:sp>
        <p:nvSpPr>
          <p:cNvPr id="4" name="TextBox 3"/>
          <p:cNvSpPr txBox="1"/>
          <p:nvPr/>
        </p:nvSpPr>
        <p:spPr>
          <a:xfrm>
            <a:off x="761695" y="1152144"/>
            <a:ext cx="6766560" cy="877824"/>
          </a:xfrm>
          <a:prstGeom prst="rect">
            <a:avLst/>
          </a:prstGeom>
          <a:noFill/>
        </p:spPr>
        <p:txBody>
          <a:bodyPr wrap="square" lIns="0" rIns="0" tIns="0" bIns="0" anchor="t">
            <a:spAutoFit/>
          </a:bodyPr>
          <a:lstStyle/>
          <a:p>
            <a:pPr algn="l">
              <a:lnSpc>
                <a:spcPct val="100000"/>
              </a:lnSpc>
            </a:pPr>
            <a:r>
              <a:rPr sz="5000" b="0" i="0" spc="150">
                <a:solidFill>
                  <a:srgbClr val="FFFFFF"/>
                </a:solidFill>
                <a:latin typeface="Source Han Sans SC Heavy"/>
                <a:ea typeface="Source Han Sans SC Heavy"/>
                <a:cs typeface="Source Han Sans SC Heavy"/>
              </a:rPr>
              <a:t>A.T.R.I.</a:t>
            </a:r>
          </a:p>
        </p:txBody>
      </p:sp>
      <p:sp>
        <p:nvSpPr>
          <p:cNvPr id="5" name="TextBox 4"/>
          <p:cNvSpPr txBox="1"/>
          <p:nvPr/>
        </p:nvSpPr>
        <p:spPr>
          <a:xfrm>
            <a:off x="761695" y="2084831"/>
            <a:ext cx="6766560" cy="402336"/>
          </a:xfrm>
          <a:prstGeom prst="rect">
            <a:avLst/>
          </a:prstGeom>
          <a:noFill/>
        </p:spPr>
        <p:txBody>
          <a:bodyPr wrap="square" lIns="0" rIns="0" tIns="0" bIns="0" anchor="t">
            <a:spAutoFit/>
          </a:bodyPr>
          <a:lstStyle/>
          <a:p>
            <a:pPr algn="l"/>
            <a:r>
              <a:rPr sz="2600" b="0" i="0">
                <a:solidFill>
                  <a:srgbClr val="FFFFFF"/>
                </a:solidFill>
                <a:latin typeface="Source Han Sans SC Heavy"/>
                <a:ea typeface="Source Han Sans SC Heavy"/>
                <a:cs typeface="Source Han Sans SC Heavy"/>
              </a:rPr>
              <a:t>桌面自主人形智能</a:t>
            </a:r>
          </a:p>
        </p:txBody>
      </p:sp>
      <p:sp>
        <p:nvSpPr>
          <p:cNvPr id="6" name="TextBox 5"/>
          <p:cNvSpPr txBox="1"/>
          <p:nvPr/>
        </p:nvSpPr>
        <p:spPr>
          <a:xfrm>
            <a:off x="761695" y="2560320"/>
            <a:ext cx="6766560" cy="237744"/>
          </a:xfrm>
          <a:prstGeom prst="rect">
            <a:avLst/>
          </a:prstGeom>
          <a:noFill/>
        </p:spPr>
        <p:txBody>
          <a:bodyPr wrap="square" lIns="0" rIns="0" tIns="0" bIns="0" anchor="t">
            <a:spAutoFit/>
          </a:bodyPr>
          <a:lstStyle/>
          <a:p>
            <a:pPr algn="l"/>
            <a:r>
              <a:rPr sz="950" b="0" i="0" spc="80">
                <a:solidFill>
                  <a:srgbClr val="9CC0DC"/>
                </a:solidFill>
                <a:latin typeface="Source Han Sans SC"/>
                <a:ea typeface="Source Han Sans SC"/>
                <a:cs typeface="Source Han Sans SC"/>
              </a:rPr>
              <a:t>AUTONOMOUS TABLETOP ROBOTIC INTELLIGENCE</a:t>
            </a:r>
          </a:p>
        </p:txBody>
      </p:sp>
      <p:sp>
        <p:nvSpPr>
          <p:cNvPr id="7" name="Rectangle 6"/>
          <p:cNvSpPr/>
          <p:nvPr/>
        </p:nvSpPr>
        <p:spPr>
          <a:xfrm>
            <a:off x="761695" y="2907792"/>
            <a:ext cx="658368" cy="4572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1695" y="3108960"/>
            <a:ext cx="6583680" cy="310896"/>
          </a:xfrm>
          <a:prstGeom prst="rect">
            <a:avLst/>
          </a:prstGeom>
          <a:noFill/>
        </p:spPr>
        <p:txBody>
          <a:bodyPr wrap="square" lIns="0" rIns="0" tIns="0" bIns="0" anchor="t">
            <a:spAutoFit/>
          </a:bodyPr>
          <a:lstStyle/>
          <a:p>
            <a:pPr algn="l"/>
            <a:r>
              <a:rPr sz="1500" b="0" i="0">
                <a:solidFill>
                  <a:srgbClr val="FFFFFF"/>
                </a:solidFill>
                <a:latin typeface="Source Han Sans SC"/>
                <a:ea typeface="Source Han Sans SC"/>
                <a:cs typeface="Source Han Sans SC"/>
              </a:rPr>
              <a:t>20 自由度高紧凑构型设计与全离线具身智能任务栈</a:t>
            </a:r>
          </a:p>
        </p:txBody>
      </p:sp>
      <p:sp>
        <p:nvSpPr>
          <p:cNvPr id="9" name="TextBox 8"/>
          <p:cNvSpPr txBox="1"/>
          <p:nvPr/>
        </p:nvSpPr>
        <p:spPr>
          <a:xfrm>
            <a:off x="761695" y="3529584"/>
            <a:ext cx="6583680" cy="274320"/>
          </a:xfrm>
          <a:prstGeom prst="rect">
            <a:avLst/>
          </a:prstGeom>
          <a:noFill/>
        </p:spPr>
        <p:txBody>
          <a:bodyPr wrap="square" lIns="0" rIns="0" tIns="0" bIns="0" anchor="t">
            <a:spAutoFit/>
          </a:bodyPr>
          <a:lstStyle/>
          <a:p>
            <a:pPr algn="l"/>
            <a:r>
              <a:rPr sz="1500" b="0" i="0">
                <a:solidFill>
                  <a:srgbClr val="E4572E"/>
                </a:solidFill>
                <a:latin typeface="Source Han Sans SC Heavy"/>
                <a:ea typeface="Source Han Sans SC Heavy"/>
                <a:cs typeface="Source Han Sans SC Heavy"/>
              </a:rPr>
              <a:t>20 DOF</a:t>
            </a:r>
            <a:r>
              <a:rPr sz="1100" b="0" i="0">
                <a:solidFill>
                  <a:srgbClr val="9CC0DC"/>
                </a:solidFill>
                <a:latin typeface="Source Han Sans SC"/>
                <a:ea typeface="Source Han Sans SC"/>
                <a:cs typeface="Source Han Sans SC"/>
              </a:rPr>
              <a:t>　·　</a:t>
            </a:r>
            <a:r>
              <a:rPr sz="1500" b="0" i="0">
                <a:solidFill>
                  <a:srgbClr val="E4572E"/>
                </a:solidFill>
                <a:latin typeface="Source Han Sans SC Heavy"/>
                <a:ea typeface="Source Han Sans SC Heavy"/>
                <a:cs typeface="Source Han Sans SC Heavy"/>
              </a:rPr>
              <a:t>466.5 mm 站高</a:t>
            </a:r>
            <a:r>
              <a:rPr sz="1100" b="0" i="0">
                <a:solidFill>
                  <a:srgbClr val="9CC0DC"/>
                </a:solidFill>
                <a:latin typeface="Source Han Sans SC"/>
                <a:ea typeface="Source Han Sans SC"/>
                <a:cs typeface="Source Han Sans SC"/>
              </a:rPr>
              <a:t>　·　</a:t>
            </a:r>
            <a:r>
              <a:rPr sz="1500" b="0" i="0">
                <a:solidFill>
                  <a:srgbClr val="E4572E"/>
                </a:solidFill>
                <a:latin typeface="Source Han Sans SC Heavy"/>
                <a:ea typeface="Source Han Sans SC Heavy"/>
                <a:cs typeface="Source Han Sans SC Heavy"/>
              </a:rPr>
              <a:t>699+41 项离线测试</a:t>
            </a:r>
          </a:p>
        </p:txBody>
      </p:sp>
      <p:sp>
        <p:nvSpPr>
          <p:cNvPr id="10" name="TextBox 9"/>
          <p:cNvSpPr txBox="1"/>
          <p:nvPr/>
        </p:nvSpPr>
        <p:spPr>
          <a:xfrm>
            <a:off x="761695" y="4133087"/>
            <a:ext cx="1417320" cy="237744"/>
          </a:xfrm>
          <a:prstGeom prst="rect">
            <a:avLst/>
          </a:prstGeom>
          <a:noFill/>
        </p:spPr>
        <p:txBody>
          <a:bodyPr wrap="square" lIns="0" rIns="0" tIns="0" bIns="0" anchor="t">
            <a:spAutoFit/>
          </a:bodyPr>
          <a:lstStyle/>
          <a:p>
            <a:pPr algn="l"/>
            <a:r>
              <a:rPr sz="1050" b="0" i="0">
                <a:solidFill>
                  <a:srgbClr val="9CC0DC"/>
                </a:solidFill>
                <a:latin typeface="Source Han Sans SC Heavy"/>
                <a:ea typeface="Source Han Sans SC Heavy"/>
                <a:cs typeface="Source Han Sans SC Heavy"/>
              </a:rPr>
              <a:t>高紧凑构型</a:t>
            </a:r>
          </a:p>
        </p:txBody>
      </p:sp>
      <p:sp>
        <p:nvSpPr>
          <p:cNvPr id="11" name="TextBox 10"/>
          <p:cNvSpPr txBox="1"/>
          <p:nvPr/>
        </p:nvSpPr>
        <p:spPr>
          <a:xfrm>
            <a:off x="2243023" y="4133087"/>
            <a:ext cx="4389120" cy="402336"/>
          </a:xfrm>
          <a:prstGeom prst="rect">
            <a:avLst/>
          </a:prstGeom>
          <a:noFill/>
        </p:spPr>
        <p:txBody>
          <a:bodyPr wrap="square" lIns="0" rIns="0" tIns="0" bIns="0" anchor="t">
            <a:spAutoFit/>
          </a:bodyPr>
          <a:lstStyle/>
          <a:p>
            <a:pPr algn="l">
              <a:lnSpc>
                <a:spcPct val="126000"/>
              </a:lnSpc>
            </a:pPr>
            <a:r>
              <a:rPr sz="1000" b="0" i="0">
                <a:solidFill>
                  <a:srgbClr val="FFFFFF"/>
                </a:solidFill>
                <a:latin typeface="Source Han Sans SC"/>
                <a:ea typeface="Source Han Sans SC"/>
                <a:cs typeface="Source Han Sans SC"/>
              </a:rPr>
              <a:t>20-DOF 仿人拓扑 · 桌面级尺度 · 铝夹层承力</a:t>
            </a:r>
          </a:p>
        </p:txBody>
      </p:sp>
      <p:sp>
        <p:nvSpPr>
          <p:cNvPr id="12" name="TextBox 11"/>
          <p:cNvSpPr txBox="1"/>
          <p:nvPr/>
        </p:nvSpPr>
        <p:spPr>
          <a:xfrm>
            <a:off x="761695" y="4608575"/>
            <a:ext cx="1417320" cy="237744"/>
          </a:xfrm>
          <a:prstGeom prst="rect">
            <a:avLst/>
          </a:prstGeom>
          <a:noFill/>
        </p:spPr>
        <p:txBody>
          <a:bodyPr wrap="square" lIns="0" rIns="0" tIns="0" bIns="0" anchor="t">
            <a:spAutoFit/>
          </a:bodyPr>
          <a:lstStyle/>
          <a:p>
            <a:pPr algn="l"/>
            <a:r>
              <a:rPr sz="1050" b="0" i="0">
                <a:solidFill>
                  <a:srgbClr val="9CC0DC"/>
                </a:solidFill>
                <a:latin typeface="Source Han Sans SC Heavy"/>
                <a:ea typeface="Source Han Sans SC Heavy"/>
                <a:cs typeface="Source Han Sans SC Heavy"/>
              </a:rPr>
              <a:t>全离线任务栈</a:t>
            </a:r>
          </a:p>
        </p:txBody>
      </p:sp>
      <p:sp>
        <p:nvSpPr>
          <p:cNvPr id="13" name="TextBox 12"/>
          <p:cNvSpPr txBox="1"/>
          <p:nvPr/>
        </p:nvSpPr>
        <p:spPr>
          <a:xfrm>
            <a:off x="2243023" y="4608575"/>
            <a:ext cx="4389120" cy="402336"/>
          </a:xfrm>
          <a:prstGeom prst="rect">
            <a:avLst/>
          </a:prstGeom>
          <a:noFill/>
        </p:spPr>
        <p:txBody>
          <a:bodyPr wrap="square" lIns="0" rIns="0" tIns="0" bIns="0" anchor="t">
            <a:spAutoFit/>
          </a:bodyPr>
          <a:lstStyle/>
          <a:p>
            <a:pPr algn="l">
              <a:lnSpc>
                <a:spcPct val="126000"/>
              </a:lnSpc>
            </a:pPr>
            <a:r>
              <a:rPr sz="1000" b="0" i="0">
                <a:solidFill>
                  <a:srgbClr val="FFFFFF"/>
                </a:solidFill>
                <a:latin typeface="Source Han Sans SC"/>
                <a:ea typeface="Source Han Sans SC"/>
                <a:cs typeface="Source Han Sans SC"/>
              </a:rPr>
              <a:t>端侧感知与任务卡状态机调度 · 零云端依赖</a:t>
            </a:r>
          </a:p>
        </p:txBody>
      </p:sp>
      <p:sp>
        <p:nvSpPr>
          <p:cNvPr id="14" name="TextBox 13"/>
          <p:cNvSpPr txBox="1"/>
          <p:nvPr/>
        </p:nvSpPr>
        <p:spPr>
          <a:xfrm>
            <a:off x="761695" y="5084063"/>
            <a:ext cx="1417320" cy="237744"/>
          </a:xfrm>
          <a:prstGeom prst="rect">
            <a:avLst/>
          </a:prstGeom>
          <a:noFill/>
        </p:spPr>
        <p:txBody>
          <a:bodyPr wrap="square" lIns="0" rIns="0" tIns="0" bIns="0" anchor="t">
            <a:spAutoFit/>
          </a:bodyPr>
          <a:lstStyle/>
          <a:p>
            <a:pPr algn="l"/>
            <a:r>
              <a:rPr sz="1050" b="0" i="0">
                <a:solidFill>
                  <a:srgbClr val="9CC0DC"/>
                </a:solidFill>
                <a:latin typeface="Source Han Sans SC Heavy"/>
                <a:ea typeface="Source Han Sans SC Heavy"/>
                <a:cs typeface="Source Han Sans SC Heavy"/>
              </a:rPr>
              <a:t>高保真验证</a:t>
            </a:r>
          </a:p>
        </p:txBody>
      </p:sp>
      <p:sp>
        <p:nvSpPr>
          <p:cNvPr id="15" name="TextBox 14"/>
          <p:cNvSpPr txBox="1"/>
          <p:nvPr/>
        </p:nvSpPr>
        <p:spPr>
          <a:xfrm>
            <a:off x="2243023" y="5084063"/>
            <a:ext cx="4389120" cy="402336"/>
          </a:xfrm>
          <a:prstGeom prst="rect">
            <a:avLst/>
          </a:prstGeom>
          <a:noFill/>
        </p:spPr>
        <p:txBody>
          <a:bodyPr wrap="square" lIns="0" rIns="0" tIns="0" bIns="0" anchor="t">
            <a:spAutoFit/>
          </a:bodyPr>
          <a:lstStyle/>
          <a:p>
            <a:pPr algn="l">
              <a:lnSpc>
                <a:spcPct val="126000"/>
              </a:lnSpc>
            </a:pPr>
            <a:r>
              <a:rPr sz="1000" b="0" i="0">
                <a:solidFill>
                  <a:srgbClr val="FFFFFF"/>
                </a:solidFill>
                <a:latin typeface="Source Han Sans SC"/>
                <a:ea typeface="Source Han Sans SC"/>
                <a:cs typeface="Source Han Sans SC"/>
              </a:rPr>
              <a:t>全链路 CAD 数字样机 + 离线测试矩阵</a:t>
            </a:r>
          </a:p>
        </p:txBody>
      </p:sp>
      <p:sp>
        <p:nvSpPr>
          <p:cNvPr id="16" name="TextBox 15"/>
          <p:cNvSpPr txBox="1"/>
          <p:nvPr/>
        </p:nvSpPr>
        <p:spPr>
          <a:xfrm>
            <a:off x="761695" y="5760720"/>
            <a:ext cx="6583680" cy="237744"/>
          </a:xfrm>
          <a:prstGeom prst="rect">
            <a:avLst/>
          </a:prstGeom>
          <a:noFill/>
        </p:spPr>
        <p:txBody>
          <a:bodyPr wrap="square" lIns="0" rIns="0" tIns="0" bIns="0" anchor="t">
            <a:spAutoFit/>
          </a:bodyPr>
          <a:lstStyle/>
          <a:p>
            <a:pPr algn="l"/>
            <a:r>
              <a:rPr sz="950" b="0" i="0">
                <a:solidFill>
                  <a:srgbClr val="9CC0DC"/>
                </a:solidFill>
                <a:latin typeface="Source Han Sans SC"/>
                <a:ea typeface="Source Han Sans SC"/>
                <a:cs typeface="Source Han Sans SC"/>
              </a:rPr>
              <a:t>项目团队　</a:t>
            </a:r>
            <a:r>
              <a:rPr sz="950" b="0" i="0">
                <a:solidFill>
                  <a:srgbClr val="FFFFFF"/>
                </a:solidFill>
                <a:latin typeface="Source Han Sans SC"/>
                <a:ea typeface="Source Han Sans SC"/>
                <a:cs typeface="Source Han Sans SC"/>
              </a:rPr>
              <a:t>何浩睿 · 周柏宇 · 胡晟瑞 · 王旭琪 · 张景昆</a:t>
            </a:r>
          </a:p>
        </p:txBody>
      </p:sp>
      <p:sp>
        <p:nvSpPr>
          <p:cNvPr id="17" name="TextBox 16"/>
          <p:cNvSpPr txBox="1"/>
          <p:nvPr/>
        </p:nvSpPr>
        <p:spPr>
          <a:xfrm>
            <a:off x="761695" y="6016752"/>
            <a:ext cx="6583680" cy="237744"/>
          </a:xfrm>
          <a:prstGeom prst="rect">
            <a:avLst/>
          </a:prstGeom>
          <a:noFill/>
        </p:spPr>
        <p:txBody>
          <a:bodyPr wrap="square" lIns="0" rIns="0" tIns="0" bIns="0" anchor="t">
            <a:spAutoFit/>
          </a:bodyPr>
          <a:lstStyle/>
          <a:p>
            <a:pPr algn="l"/>
            <a:r>
              <a:rPr sz="950" b="0" i="0">
                <a:solidFill>
                  <a:srgbClr val="9CC0DC"/>
                </a:solidFill>
                <a:latin typeface="Source Han Sans SC"/>
                <a:ea typeface="Source Han Sans SC"/>
                <a:cs typeface="Source Han Sans SC"/>
              </a:rPr>
              <a:t>指导教师　</a:t>
            </a:r>
            <a:r>
              <a:rPr sz="950" b="0" i="0">
                <a:solidFill>
                  <a:srgbClr val="FFFFFF"/>
                </a:solidFill>
                <a:latin typeface="Source Han Sans SC"/>
                <a:ea typeface="Source Han Sans SC"/>
                <a:cs typeface="Source Han Sans SC"/>
              </a:rPr>
              <a:t>陈妍 · 李璐</a:t>
            </a:r>
          </a:p>
        </p:txBody>
      </p:sp>
      <p:sp>
        <p:nvSpPr>
          <p:cNvPr id="18" name="Rectangle 17"/>
          <p:cNvSpPr/>
          <p:nvPr/>
        </p:nvSpPr>
        <p:spPr>
          <a:xfrm>
            <a:off x="6784848" y="0"/>
            <a:ext cx="5407121" cy="6858000"/>
          </a:xfrm>
          <a:prstGeom prst="rect">
            <a:avLst/>
          </a:prstGeom>
          <a:solidFill>
            <a:srgbClr val="323A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hero_front.jpg"/>
          <p:cNvPicPr>
            <a:picLocks noChangeAspect="1"/>
          </p:cNvPicPr>
          <p:nvPr/>
        </p:nvPicPr>
        <p:blipFill>
          <a:blip r:embed="rId2"/>
          <a:stretch>
            <a:fillRect/>
          </a:stretch>
        </p:blipFill>
        <p:spPr>
          <a:xfrm>
            <a:off x="7597274" y="0"/>
            <a:ext cx="3782267" cy="6858000"/>
          </a:xfrm>
          <a:prstGeom prst="rect">
            <a:avLst/>
          </a:prstGeom>
        </p:spPr>
      </p:pic>
      <p:sp>
        <p:nvSpPr>
          <p:cNvPr id="20" name="TextBox 19"/>
          <p:cNvSpPr txBox="1"/>
          <p:nvPr/>
        </p:nvSpPr>
        <p:spPr>
          <a:xfrm>
            <a:off x="7150608" y="6144768"/>
            <a:ext cx="4754880" cy="274320"/>
          </a:xfrm>
          <a:prstGeom prst="rect">
            <a:avLst/>
          </a:prstGeom>
          <a:noFill/>
        </p:spPr>
        <p:txBody>
          <a:bodyPr wrap="square" lIns="0" rIns="0" tIns="0" bIns="0" anchor="t">
            <a:spAutoFit/>
          </a:bodyPr>
          <a:lstStyle/>
          <a:p>
            <a:pPr algn="l"/>
            <a:r>
              <a:rPr sz="900" b="0" i="0">
                <a:solidFill>
                  <a:srgbClr val="C9D3DC"/>
                </a:solidFill>
                <a:latin typeface="Source Han Sans SC"/>
                <a:ea typeface="Source Han Sans SC"/>
                <a:cs typeface="Source Han Sans SC"/>
              </a:rPr>
              <a:t>图 0-1　整机正视图（CAD 光追渲染，整机零位）</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00</a:t>
            </a:r>
            <a:r>
              <a:rPr sz="1000" b="0" i="0">
                <a:solidFill>
                  <a:srgbClr val="6B7A8C"/>
                </a:solidFill>
                <a:latin typeface="Source Han Sans SC"/>
                <a:ea typeface="Source Han Sans SC"/>
                <a:cs typeface="Source Han Sans SC"/>
              </a:rPr>
              <a:t>  项目摘要</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项目定位</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02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项目定位与系统全貌</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项目以「数字样机先行、物理样机跟进」的方式推进：构型、结构与全离线算法栈已在 CAD 与离线环境中闭环，整机进入试制与标定阶段。</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139696"/>
            <a:ext cx="2564274" cy="1243584"/>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61695" y="2139696"/>
            <a:ext cx="41148" cy="1243584"/>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81151" y="2267712"/>
            <a:ext cx="2198514" cy="478789"/>
          </a:xfrm>
          <a:prstGeom prst="rect">
            <a:avLst/>
          </a:prstGeom>
          <a:noFill/>
        </p:spPr>
        <p:txBody>
          <a:bodyPr wrap="square" lIns="0" rIns="0" tIns="0" bIns="0" anchor="t">
            <a:spAutoFit/>
          </a:bodyPr>
          <a:lstStyle/>
          <a:p>
            <a:pPr algn="l">
              <a:lnSpc>
                <a:spcPct val="100000"/>
              </a:lnSpc>
            </a:pPr>
            <a:r>
              <a:rPr sz="2600" b="0" i="0">
                <a:solidFill>
                  <a:srgbClr val="0A2540"/>
                </a:solidFill>
                <a:latin typeface="Source Han Sans SC Heavy"/>
                <a:ea typeface="Source Han Sans SC Heavy"/>
                <a:cs typeface="Source Han Sans SC Heavy"/>
              </a:rPr>
              <a:t>20</a:t>
            </a:r>
            <a:r>
              <a:rPr sz="1300" b="0" i="0">
                <a:solidFill>
                  <a:srgbClr val="0A2540"/>
                </a:solidFill>
                <a:latin typeface="Source Han Sans SC Heavy"/>
                <a:ea typeface="Source Han Sans SC Heavy"/>
                <a:cs typeface="Source Han Sans SC Heavy"/>
              </a:rPr>
              <a:t> DOF</a:t>
            </a:r>
          </a:p>
        </p:txBody>
      </p:sp>
      <p:sp>
        <p:nvSpPr>
          <p:cNvPr id="13" name="TextBox 12"/>
          <p:cNvSpPr txBox="1"/>
          <p:nvPr/>
        </p:nvSpPr>
        <p:spPr>
          <a:xfrm>
            <a:off x="981151" y="2819654"/>
            <a:ext cx="2198514" cy="490473"/>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仿人拓扑：头 2 · 躯干 2 · 臂 8 · 腿 8</a:t>
            </a:r>
          </a:p>
        </p:txBody>
      </p:sp>
      <p:sp>
        <p:nvSpPr>
          <p:cNvPr id="14" name="Rectangle 13"/>
          <p:cNvSpPr/>
          <p:nvPr/>
        </p:nvSpPr>
        <p:spPr>
          <a:xfrm>
            <a:off x="3463129" y="2139696"/>
            <a:ext cx="2564274" cy="1243584"/>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463129" y="2139696"/>
            <a:ext cx="41148" cy="1243584"/>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82585" y="2267712"/>
            <a:ext cx="2198514" cy="478789"/>
          </a:xfrm>
          <a:prstGeom prst="rect">
            <a:avLst/>
          </a:prstGeom>
          <a:noFill/>
        </p:spPr>
        <p:txBody>
          <a:bodyPr wrap="square" lIns="0" rIns="0" tIns="0" bIns="0" anchor="t">
            <a:spAutoFit/>
          </a:bodyPr>
          <a:lstStyle/>
          <a:p>
            <a:pPr algn="l">
              <a:lnSpc>
                <a:spcPct val="100000"/>
              </a:lnSpc>
            </a:pPr>
            <a:r>
              <a:rPr sz="2600" b="0" i="0">
                <a:solidFill>
                  <a:srgbClr val="0A2540"/>
                </a:solidFill>
                <a:latin typeface="Source Han Sans SC Heavy"/>
                <a:ea typeface="Source Han Sans SC Heavy"/>
                <a:cs typeface="Source Han Sans SC Heavy"/>
              </a:rPr>
              <a:t>466.5</a:t>
            </a:r>
            <a:r>
              <a:rPr sz="1300" b="0" i="0">
                <a:solidFill>
                  <a:srgbClr val="0A2540"/>
                </a:solidFill>
                <a:latin typeface="Source Han Sans SC Heavy"/>
                <a:ea typeface="Source Han Sans SC Heavy"/>
                <a:cs typeface="Source Han Sans SC Heavy"/>
              </a:rPr>
              <a:t> mm</a:t>
            </a:r>
          </a:p>
        </p:txBody>
      </p:sp>
      <p:sp>
        <p:nvSpPr>
          <p:cNvPr id="17" name="TextBox 16"/>
          <p:cNvSpPr txBox="1"/>
          <p:nvPr/>
        </p:nvSpPr>
        <p:spPr>
          <a:xfrm>
            <a:off x="3682585" y="2819654"/>
            <a:ext cx="2198514" cy="490473"/>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整机站高，桌面级尺度，CAD 实算包络</a:t>
            </a:r>
          </a:p>
        </p:txBody>
      </p:sp>
      <p:sp>
        <p:nvSpPr>
          <p:cNvPr id="18" name="Rectangle 17"/>
          <p:cNvSpPr/>
          <p:nvPr/>
        </p:nvSpPr>
        <p:spPr>
          <a:xfrm>
            <a:off x="6164564" y="2139696"/>
            <a:ext cx="2564274" cy="1243584"/>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164564" y="2139696"/>
            <a:ext cx="41148" cy="1243584"/>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84020" y="2267712"/>
            <a:ext cx="2198514" cy="478789"/>
          </a:xfrm>
          <a:prstGeom prst="rect">
            <a:avLst/>
          </a:prstGeom>
          <a:noFill/>
        </p:spPr>
        <p:txBody>
          <a:bodyPr wrap="square" lIns="0" rIns="0" tIns="0" bIns="0" anchor="t">
            <a:spAutoFit/>
          </a:bodyPr>
          <a:lstStyle/>
          <a:p>
            <a:pPr algn="l">
              <a:lnSpc>
                <a:spcPct val="100000"/>
              </a:lnSpc>
            </a:pPr>
            <a:r>
              <a:rPr sz="2600" b="0" i="0">
                <a:solidFill>
                  <a:srgbClr val="0A2540"/>
                </a:solidFill>
                <a:latin typeface="Source Han Sans SC Heavy"/>
                <a:ea typeface="Source Han Sans SC Heavy"/>
                <a:cs typeface="Source Han Sans SC Heavy"/>
              </a:rPr>
              <a:t>1029</a:t>
            </a:r>
            <a:r>
              <a:rPr sz="1300" b="0" i="0">
                <a:solidFill>
                  <a:srgbClr val="0A2540"/>
                </a:solidFill>
                <a:latin typeface="Source Han Sans SC Heavy"/>
                <a:ea typeface="Source Han Sans SC Heavy"/>
                <a:cs typeface="Source Han Sans SC Heavy"/>
              </a:rPr>
              <a:t> 件</a:t>
            </a:r>
          </a:p>
        </p:txBody>
      </p:sp>
      <p:sp>
        <p:nvSpPr>
          <p:cNvPr id="21" name="TextBox 20"/>
          <p:cNvSpPr txBox="1"/>
          <p:nvPr/>
        </p:nvSpPr>
        <p:spPr>
          <a:xfrm>
            <a:off x="6384020" y="2819654"/>
            <a:ext cx="2198514" cy="490473"/>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同源装配体零件数，几何零相交</a:t>
            </a:r>
          </a:p>
        </p:txBody>
      </p:sp>
      <p:sp>
        <p:nvSpPr>
          <p:cNvPr id="22" name="Rectangle 21"/>
          <p:cNvSpPr/>
          <p:nvPr/>
        </p:nvSpPr>
        <p:spPr>
          <a:xfrm>
            <a:off x="8865999" y="2139696"/>
            <a:ext cx="2564274" cy="1243584"/>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865999" y="2139696"/>
            <a:ext cx="41148" cy="1243584"/>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085455" y="2267712"/>
            <a:ext cx="2198514" cy="478789"/>
          </a:xfrm>
          <a:prstGeom prst="rect">
            <a:avLst/>
          </a:prstGeom>
          <a:noFill/>
        </p:spPr>
        <p:txBody>
          <a:bodyPr wrap="square" lIns="0" rIns="0" tIns="0" bIns="0" anchor="t">
            <a:spAutoFit/>
          </a:bodyPr>
          <a:lstStyle/>
          <a:p>
            <a:pPr algn="l">
              <a:lnSpc>
                <a:spcPct val="100000"/>
              </a:lnSpc>
            </a:pPr>
            <a:r>
              <a:rPr sz="2600" b="0" i="0">
                <a:solidFill>
                  <a:srgbClr val="0A2540"/>
                </a:solidFill>
                <a:latin typeface="Source Han Sans SC Heavy"/>
                <a:ea typeface="Source Han Sans SC Heavy"/>
                <a:cs typeface="Source Han Sans SC Heavy"/>
              </a:rPr>
              <a:t>699+41</a:t>
            </a:r>
            <a:r>
              <a:rPr sz="1300" b="0" i="0">
                <a:solidFill>
                  <a:srgbClr val="0A2540"/>
                </a:solidFill>
                <a:latin typeface="Source Han Sans SC Heavy"/>
                <a:ea typeface="Source Han Sans SC Heavy"/>
                <a:cs typeface="Source Han Sans SC Heavy"/>
              </a:rPr>
              <a:t> 项</a:t>
            </a:r>
          </a:p>
        </p:txBody>
      </p:sp>
      <p:sp>
        <p:nvSpPr>
          <p:cNvPr id="25" name="TextBox 24"/>
          <p:cNvSpPr txBox="1"/>
          <p:nvPr/>
        </p:nvSpPr>
        <p:spPr>
          <a:xfrm>
            <a:off x="9085455" y="2819654"/>
            <a:ext cx="2198514" cy="490473"/>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可复现离线测试：软件主包 + 运动学</a:t>
            </a:r>
          </a:p>
        </p:txBody>
      </p:sp>
      <p:sp>
        <p:nvSpPr>
          <p:cNvPr id="26" name="Rectangle 25"/>
          <p:cNvSpPr/>
          <p:nvPr/>
        </p:nvSpPr>
        <p:spPr>
          <a:xfrm>
            <a:off x="761695" y="3529584"/>
            <a:ext cx="5105689" cy="2743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89711" y="3529584"/>
            <a:ext cx="4849657" cy="274320"/>
          </a:xfrm>
          <a:prstGeom prst="rect">
            <a:avLst/>
          </a:prstGeom>
          <a:noFill/>
        </p:spPr>
        <p:txBody>
          <a:bodyPr wrap="square" lIns="0" rIns="0" tIns="0" bIns="0" anchor="ctr">
            <a:spAutoFit/>
          </a:bodyPr>
          <a:lstStyle/>
          <a:p>
            <a:pPr algn="l"/>
            <a:r>
              <a:rPr sz="1050" b="0" i="0">
                <a:solidFill>
                  <a:srgbClr val="FFFFFF"/>
                </a:solidFill>
                <a:latin typeface="Source Han Sans SC Heavy"/>
                <a:ea typeface="Source Han Sans SC Heavy"/>
                <a:cs typeface="Source Han Sans SC Heavy"/>
              </a:rPr>
              <a:t>系统构成</a:t>
            </a:r>
          </a:p>
        </p:txBody>
      </p:sp>
      <p:sp>
        <p:nvSpPr>
          <p:cNvPr id="28" name="Rectangle 27"/>
          <p:cNvSpPr/>
          <p:nvPr/>
        </p:nvSpPr>
        <p:spPr>
          <a:xfrm>
            <a:off x="6324584" y="3529584"/>
            <a:ext cx="5105689" cy="2743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52600" y="3529584"/>
            <a:ext cx="4849657" cy="274320"/>
          </a:xfrm>
          <a:prstGeom prst="rect">
            <a:avLst/>
          </a:prstGeom>
          <a:noFill/>
        </p:spPr>
        <p:txBody>
          <a:bodyPr wrap="square" lIns="0" rIns="0" tIns="0" bIns="0" anchor="ctr">
            <a:spAutoFit/>
          </a:bodyPr>
          <a:lstStyle/>
          <a:p>
            <a:pPr algn="l"/>
            <a:r>
              <a:rPr sz="1050" b="0" i="0">
                <a:solidFill>
                  <a:srgbClr val="FFFFFF"/>
                </a:solidFill>
                <a:latin typeface="Source Han Sans SC Heavy"/>
                <a:ea typeface="Source Han Sans SC Heavy"/>
                <a:cs typeface="Source Han Sans SC Heavy"/>
              </a:rPr>
              <a:t>研发路线</a:t>
            </a:r>
          </a:p>
        </p:txBody>
      </p:sp>
      <p:sp>
        <p:nvSpPr>
          <p:cNvPr id="30" name="Rectangle 29"/>
          <p:cNvSpPr/>
          <p:nvPr/>
        </p:nvSpPr>
        <p:spPr>
          <a:xfrm>
            <a:off x="779983" y="4005072"/>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44575" y="3922776"/>
            <a:ext cx="4886233"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构型：20 自由度仿人拓扑，关节表与固件配置同源，越界输入一律拒绝。</a:t>
            </a:r>
          </a:p>
        </p:txBody>
      </p:sp>
      <p:sp>
        <p:nvSpPr>
          <p:cNvPr id="32" name="Rectangle 31"/>
          <p:cNvSpPr/>
          <p:nvPr/>
        </p:nvSpPr>
        <p:spPr>
          <a:xfrm>
            <a:off x="779983" y="4462272"/>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44575" y="4379976"/>
            <a:ext cx="4886233"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结构：6061 铝夹层承力 + 2.4 mm PETG 外壳，髋与腰改为前后双侧支承。</a:t>
            </a:r>
          </a:p>
        </p:txBody>
      </p:sp>
      <p:sp>
        <p:nvSpPr>
          <p:cNvPr id="34" name="Rectangle 33"/>
          <p:cNvSpPr/>
          <p:nvPr/>
        </p:nvSpPr>
        <p:spPr>
          <a:xfrm>
            <a:off x="779983" y="4919472"/>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44575" y="4837176"/>
            <a:ext cx="4886233"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电子：20 只总线舵机单线级联，单包 3S 电源，主控板与单目相机进主装配。</a:t>
            </a:r>
          </a:p>
        </p:txBody>
      </p:sp>
      <p:sp>
        <p:nvSpPr>
          <p:cNvPr id="36" name="Rectangle 35"/>
          <p:cNvSpPr/>
          <p:nvPr/>
        </p:nvSpPr>
        <p:spPr>
          <a:xfrm>
            <a:off x="779983" y="5376672"/>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44575" y="5294376"/>
            <a:ext cx="4886233"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软件：任务卡 + 状态机 + 技能插件，纯标准库运行时，换场景只换配置。</a:t>
            </a:r>
          </a:p>
        </p:txBody>
      </p:sp>
      <p:sp>
        <p:nvSpPr>
          <p:cNvPr id="38" name="Rectangle 37"/>
          <p:cNvSpPr/>
          <p:nvPr/>
        </p:nvSpPr>
        <p:spPr>
          <a:xfrm>
            <a:off x="6342872" y="4005072"/>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07464" y="3922776"/>
            <a:ext cx="4886233"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阶段一（已达成）数字化设计与算法验证：构型、结构、算法栈与验收大纲。</a:t>
            </a:r>
          </a:p>
        </p:txBody>
      </p:sp>
      <p:sp>
        <p:nvSpPr>
          <p:cNvPr id="40" name="Rectangle 39"/>
          <p:cNvSpPr/>
          <p:nvPr/>
        </p:nvSpPr>
        <p:spPr>
          <a:xfrm>
            <a:off x="6342872" y="4572000"/>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507464" y="4489704"/>
            <a:ext cx="4886233"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阶段二（进行中）物理样机试制与联合调试：备料、装配、台架实测与标定。</a:t>
            </a:r>
          </a:p>
        </p:txBody>
      </p:sp>
      <p:sp>
        <p:nvSpPr>
          <p:cNvPr id="42" name="Rectangle 41"/>
          <p:cNvSpPr/>
          <p:nvPr/>
        </p:nvSpPr>
        <p:spPr>
          <a:xfrm>
            <a:off x="6342872" y="5138928"/>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507464" y="5056632"/>
            <a:ext cx="4886233"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阶段三（规划中）赛务场景实测与性能闭环：现场感知、动态步态与续航优化。</a:t>
            </a:r>
          </a:p>
        </p:txBody>
      </p:sp>
      <p:sp>
        <p:nvSpPr>
          <p:cNvPr id="44" name="TextBox 43"/>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CAD 装配体实算 + 离线测试本机复跑结果</a:t>
            </a:r>
          </a:p>
        </p:txBody>
      </p:sp>
      <p:sp>
        <p:nvSpPr>
          <p:cNvPr id="45" name="TextBox 44"/>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46" name="Rectangle 45"/>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48" name="Rectangle 47"/>
          <p:cNvSpPr/>
          <p:nvPr/>
        </p:nvSpPr>
        <p:spPr>
          <a:xfrm>
            <a:off x="244723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253867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00</a:t>
            </a:r>
            <a:r>
              <a:rPr sz="1000" b="0" i="0">
                <a:solidFill>
                  <a:srgbClr val="6B7A8C"/>
                </a:solidFill>
                <a:latin typeface="Source Han Sans SC"/>
                <a:ea typeface="Source Han Sans SC"/>
                <a:cs typeface="Source Han Sans SC"/>
              </a:rPr>
              <a:t>  项目摘要</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立项依据</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03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立项依据：三项可量化的教学与赛务约束</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约束分别来自设备采购预算、代码组织方式与赛场网络条件，均可给出量化口径。</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3403793" cy="321868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61695" y="2048256"/>
            <a:ext cx="3403793" cy="4114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2863" y="2231136"/>
            <a:ext cx="3001457" cy="274320"/>
          </a:xfrm>
          <a:prstGeom prst="rect">
            <a:avLst/>
          </a:prstGeom>
          <a:noFill/>
        </p:spPr>
        <p:txBody>
          <a:bodyPr wrap="square" lIns="0" rIns="0" tIns="0" bIns="0" anchor="t">
            <a:spAutoFit/>
          </a:bodyPr>
          <a:lstStyle/>
          <a:p>
            <a:pPr algn="l"/>
            <a:r>
              <a:rPr sz="1250" b="0" i="0">
                <a:solidFill>
                  <a:srgbClr val="0A2540"/>
                </a:solidFill>
                <a:latin typeface="Source Han Sans SC Heavy"/>
                <a:ea typeface="Source Han Sans SC Heavy"/>
                <a:cs typeface="Source Han Sans SC Heavy"/>
              </a:rPr>
              <a:t>约束一　设备采购预算</a:t>
            </a:r>
          </a:p>
        </p:txBody>
      </p:sp>
      <p:cxnSp>
        <p:nvCxnSpPr>
          <p:cNvPr id="13" name="Connector 12"/>
          <p:cNvCxnSpPr/>
          <p:nvPr/>
        </p:nvCxnSpPr>
        <p:spPr>
          <a:xfrm>
            <a:off x="962863" y="2615184"/>
            <a:ext cx="3001457"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62863" y="2743200"/>
            <a:ext cx="3001457" cy="219456"/>
          </a:xfrm>
          <a:prstGeom prst="rect">
            <a:avLst/>
          </a:prstGeom>
          <a:noFill/>
        </p:spPr>
        <p:txBody>
          <a:bodyPr wrap="square" lIns="0" rIns="0" tIns="0" bIns="0" anchor="t">
            <a:spAutoFit/>
          </a:bodyPr>
          <a:lstStyle/>
          <a:p>
            <a:pPr algn="l"/>
            <a:r>
              <a:rPr sz="950" b="0" i="0">
                <a:solidFill>
                  <a:srgbClr val="E4572E"/>
                </a:solidFill>
                <a:latin typeface="Source Han Sans SC Heavy"/>
                <a:ea typeface="Source Han Sans SC Heavy"/>
                <a:cs typeface="Source Han Sans SC Heavy"/>
              </a:rPr>
              <a:t>现状</a:t>
            </a:r>
          </a:p>
        </p:txBody>
      </p:sp>
      <p:sp>
        <p:nvSpPr>
          <p:cNvPr id="15" name="TextBox 14"/>
          <p:cNvSpPr txBox="1"/>
          <p:nvPr/>
        </p:nvSpPr>
        <p:spPr>
          <a:xfrm>
            <a:off x="962863" y="2962656"/>
            <a:ext cx="3001457" cy="676656"/>
          </a:xfrm>
          <a:prstGeom prst="rect">
            <a:avLst/>
          </a:prstGeom>
          <a:noFill/>
        </p:spPr>
        <p:txBody>
          <a:bodyPr wrap="square" lIns="0" rIns="0" tIns="0" bIns="0" anchor="t">
            <a:spAutoFit/>
          </a:bodyPr>
          <a:lstStyle/>
          <a:p>
            <a:pPr algn="l">
              <a:lnSpc>
                <a:spcPct val="128000"/>
              </a:lnSpc>
            </a:pPr>
            <a:r>
              <a:rPr sz="950" b="0" i="0">
                <a:solidFill>
                  <a:srgbClr val="1F2A37"/>
                </a:solidFill>
                <a:latin typeface="Source Han Sans SC"/>
                <a:ea typeface="Source Han Sans SC"/>
                <a:cs typeface="Source Han Sans SC"/>
              </a:rPr>
              <a:t>同类教育型小型双足套件单台 6000–12000 元/台；按 20 台配置，班级预算 12–24 万元。</a:t>
            </a:r>
          </a:p>
        </p:txBody>
      </p:sp>
      <p:sp>
        <p:nvSpPr>
          <p:cNvPr id="16" name="TextBox 15"/>
          <p:cNvSpPr txBox="1"/>
          <p:nvPr/>
        </p:nvSpPr>
        <p:spPr>
          <a:xfrm>
            <a:off x="962863" y="3584448"/>
            <a:ext cx="3001457" cy="219456"/>
          </a:xfrm>
          <a:prstGeom prst="rect">
            <a:avLst/>
          </a:prstGeom>
          <a:noFill/>
        </p:spPr>
        <p:txBody>
          <a:bodyPr wrap="square" lIns="0" rIns="0" tIns="0" bIns="0" anchor="t">
            <a:spAutoFit/>
          </a:bodyPr>
          <a:lstStyle/>
          <a:p>
            <a:pPr algn="l"/>
            <a:r>
              <a:rPr sz="950" b="0" i="0">
                <a:solidFill>
                  <a:srgbClr val="E4572E"/>
                </a:solidFill>
                <a:latin typeface="Source Han Sans SC Heavy"/>
                <a:ea typeface="Source Han Sans SC Heavy"/>
                <a:cs typeface="Source Han Sans SC Heavy"/>
              </a:rPr>
              <a:t>影响</a:t>
            </a:r>
          </a:p>
        </p:txBody>
      </p:sp>
      <p:sp>
        <p:nvSpPr>
          <p:cNvPr id="17" name="TextBox 16"/>
          <p:cNvSpPr txBox="1"/>
          <p:nvPr/>
        </p:nvSpPr>
        <p:spPr>
          <a:xfrm>
            <a:off x="962863" y="3803904"/>
            <a:ext cx="3001457" cy="676656"/>
          </a:xfrm>
          <a:prstGeom prst="rect">
            <a:avLst/>
          </a:prstGeom>
          <a:noFill/>
        </p:spPr>
        <p:txBody>
          <a:bodyPr wrap="square" lIns="0" rIns="0" tIns="0" bIns="0" anchor="t">
            <a:spAutoFit/>
          </a:bodyPr>
          <a:lstStyle/>
          <a:p>
            <a:pPr algn="l">
              <a:lnSpc>
                <a:spcPct val="128000"/>
              </a:lnSpc>
            </a:pPr>
            <a:r>
              <a:rPr sz="950" b="0" i="0">
                <a:solidFill>
                  <a:srgbClr val="1F2A37"/>
                </a:solidFill>
                <a:latin typeface="Source Han Sans SC"/>
                <a:ea typeface="Source Han Sans SC"/>
                <a:cs typeface="Source Han Sans SC"/>
              </a:rPr>
              <a:t>多数实验室只能配置 1–2 台用于演示，学生无法逐一完成硬件调试。</a:t>
            </a:r>
          </a:p>
        </p:txBody>
      </p:sp>
      <p:sp>
        <p:nvSpPr>
          <p:cNvPr id="18" name="TextBox 17"/>
          <p:cNvSpPr txBox="1"/>
          <p:nvPr/>
        </p:nvSpPr>
        <p:spPr>
          <a:xfrm>
            <a:off x="962863" y="4425696"/>
            <a:ext cx="3001457" cy="219456"/>
          </a:xfrm>
          <a:prstGeom prst="rect">
            <a:avLst/>
          </a:prstGeom>
          <a:noFill/>
        </p:spPr>
        <p:txBody>
          <a:bodyPr wrap="square" lIns="0" rIns="0" tIns="0" bIns="0" anchor="t">
            <a:spAutoFit/>
          </a:bodyPr>
          <a:lstStyle/>
          <a:p>
            <a:pPr algn="l"/>
            <a:r>
              <a:rPr sz="950" b="0" i="0">
                <a:solidFill>
                  <a:srgbClr val="E4572E"/>
                </a:solidFill>
                <a:latin typeface="Source Han Sans SC Heavy"/>
                <a:ea typeface="Source Han Sans SC Heavy"/>
                <a:cs typeface="Source Han Sans SC Heavy"/>
              </a:rPr>
              <a:t>设计指标</a:t>
            </a:r>
          </a:p>
        </p:txBody>
      </p:sp>
      <p:sp>
        <p:nvSpPr>
          <p:cNvPr id="19" name="TextBox 18"/>
          <p:cNvSpPr txBox="1"/>
          <p:nvPr/>
        </p:nvSpPr>
        <p:spPr>
          <a:xfrm>
            <a:off x="962863" y="4645152"/>
            <a:ext cx="3001457" cy="676656"/>
          </a:xfrm>
          <a:prstGeom prst="rect">
            <a:avLst/>
          </a:prstGeom>
          <a:noFill/>
        </p:spPr>
        <p:txBody>
          <a:bodyPr wrap="square" lIns="0" rIns="0" tIns="0" bIns="0" anchor="t">
            <a:spAutoFit/>
          </a:bodyPr>
          <a:lstStyle/>
          <a:p>
            <a:pPr algn="l">
              <a:lnSpc>
                <a:spcPct val="128000"/>
              </a:lnSpc>
            </a:pPr>
            <a:r>
              <a:rPr sz="950" b="0" i="0">
                <a:solidFill>
                  <a:srgbClr val="1F2A37"/>
                </a:solidFill>
                <a:latin typeface="Source Han Sans SC"/>
                <a:ea typeface="Source Han Sans SC"/>
                <a:cs typeface="Source Han Sans SC"/>
              </a:rPr>
              <a:t>全口径 3137–3961 元/台。</a:t>
            </a:r>
          </a:p>
          <a:p>
            <a:pPr algn="l">
              <a:lnSpc>
                <a:spcPct val="128000"/>
              </a:lnSpc>
            </a:pPr>
            <a:r>
              <a:rPr sz="950" b="0" i="0">
                <a:solidFill>
                  <a:srgbClr val="1F2A37"/>
                </a:solidFill>
                <a:latin typeface="Source Han Sans SC"/>
                <a:ea typeface="Source Han Sans SC"/>
                <a:cs typeface="Source Han Sans SC"/>
              </a:rPr>
              <a:t>20 台班级投入 6.3–7.9 万元，约为同级平台的三分之一。</a:t>
            </a:r>
          </a:p>
        </p:txBody>
      </p:sp>
      <p:sp>
        <p:nvSpPr>
          <p:cNvPr id="20" name="Rectangle 19"/>
          <p:cNvSpPr/>
          <p:nvPr/>
        </p:nvSpPr>
        <p:spPr>
          <a:xfrm>
            <a:off x="4394088" y="2048256"/>
            <a:ext cx="3403793" cy="321868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394088" y="2048256"/>
            <a:ext cx="3403793"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95256" y="2231136"/>
            <a:ext cx="3001457" cy="274320"/>
          </a:xfrm>
          <a:prstGeom prst="rect">
            <a:avLst/>
          </a:prstGeom>
          <a:noFill/>
        </p:spPr>
        <p:txBody>
          <a:bodyPr wrap="square" lIns="0" rIns="0" tIns="0" bIns="0" anchor="t">
            <a:spAutoFit/>
          </a:bodyPr>
          <a:lstStyle/>
          <a:p>
            <a:pPr algn="l"/>
            <a:r>
              <a:rPr sz="1250" b="0" i="0">
                <a:solidFill>
                  <a:srgbClr val="0A2540"/>
                </a:solidFill>
                <a:latin typeface="Source Han Sans SC Heavy"/>
                <a:ea typeface="Source Han Sans SC Heavy"/>
                <a:cs typeface="Source Han Sans SC Heavy"/>
              </a:rPr>
              <a:t>约束二　代码组织方式</a:t>
            </a:r>
          </a:p>
        </p:txBody>
      </p:sp>
      <p:cxnSp>
        <p:nvCxnSpPr>
          <p:cNvPr id="23" name="Connector 22"/>
          <p:cNvCxnSpPr/>
          <p:nvPr/>
        </p:nvCxnSpPr>
        <p:spPr>
          <a:xfrm>
            <a:off x="4595256" y="2615184"/>
            <a:ext cx="3001457"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95256" y="2743200"/>
            <a:ext cx="3001457" cy="219456"/>
          </a:xfrm>
          <a:prstGeom prst="rect">
            <a:avLst/>
          </a:prstGeom>
          <a:noFill/>
        </p:spPr>
        <p:txBody>
          <a:bodyPr wrap="square" lIns="0" rIns="0" tIns="0" bIns="0" anchor="t">
            <a:spAutoFit/>
          </a:bodyPr>
          <a:lstStyle/>
          <a:p>
            <a:pPr algn="l"/>
            <a:r>
              <a:rPr sz="950" b="0" i="0">
                <a:solidFill>
                  <a:srgbClr val="1264A3"/>
                </a:solidFill>
                <a:latin typeface="Source Han Sans SC Heavy"/>
                <a:ea typeface="Source Han Sans SC Heavy"/>
                <a:cs typeface="Source Han Sans SC Heavy"/>
              </a:rPr>
              <a:t>现状</a:t>
            </a:r>
          </a:p>
        </p:txBody>
      </p:sp>
      <p:sp>
        <p:nvSpPr>
          <p:cNvPr id="25" name="TextBox 24"/>
          <p:cNvSpPr txBox="1"/>
          <p:nvPr/>
        </p:nvSpPr>
        <p:spPr>
          <a:xfrm>
            <a:off x="4595256" y="2962656"/>
            <a:ext cx="3001457" cy="676656"/>
          </a:xfrm>
          <a:prstGeom prst="rect">
            <a:avLst/>
          </a:prstGeom>
          <a:noFill/>
        </p:spPr>
        <p:txBody>
          <a:bodyPr wrap="square" lIns="0" rIns="0" tIns="0" bIns="0" anchor="t">
            <a:spAutoFit/>
          </a:bodyPr>
          <a:lstStyle/>
          <a:p>
            <a:pPr algn="l">
              <a:lnSpc>
                <a:spcPct val="128000"/>
              </a:lnSpc>
            </a:pPr>
            <a:r>
              <a:rPr sz="950" b="0" i="0">
                <a:solidFill>
                  <a:srgbClr val="1F2A37"/>
                </a:solidFill>
                <a:latin typeface="Source Han Sans SC"/>
                <a:ea typeface="Source Han Sans SC"/>
                <a:cs typeface="Source Han Sans SC"/>
              </a:rPr>
              <a:t>视觉、循迹、抓取与步态分属不同工程，主循环与状态管理各自实现。</a:t>
            </a:r>
          </a:p>
        </p:txBody>
      </p:sp>
      <p:sp>
        <p:nvSpPr>
          <p:cNvPr id="26" name="TextBox 25"/>
          <p:cNvSpPr txBox="1"/>
          <p:nvPr/>
        </p:nvSpPr>
        <p:spPr>
          <a:xfrm>
            <a:off x="4595256" y="3584448"/>
            <a:ext cx="3001457" cy="219456"/>
          </a:xfrm>
          <a:prstGeom prst="rect">
            <a:avLst/>
          </a:prstGeom>
          <a:noFill/>
        </p:spPr>
        <p:txBody>
          <a:bodyPr wrap="square" lIns="0" rIns="0" tIns="0" bIns="0" anchor="t">
            <a:spAutoFit/>
          </a:bodyPr>
          <a:lstStyle/>
          <a:p>
            <a:pPr algn="l"/>
            <a:r>
              <a:rPr sz="950" b="0" i="0">
                <a:solidFill>
                  <a:srgbClr val="1264A3"/>
                </a:solidFill>
                <a:latin typeface="Source Han Sans SC Heavy"/>
                <a:ea typeface="Source Han Sans SC Heavy"/>
                <a:cs typeface="Source Han Sans SC Heavy"/>
              </a:rPr>
              <a:t>影响</a:t>
            </a:r>
          </a:p>
        </p:txBody>
      </p:sp>
      <p:sp>
        <p:nvSpPr>
          <p:cNvPr id="27" name="TextBox 26"/>
          <p:cNvSpPr txBox="1"/>
          <p:nvPr/>
        </p:nvSpPr>
        <p:spPr>
          <a:xfrm>
            <a:off x="4595256" y="3803904"/>
            <a:ext cx="3001457" cy="676656"/>
          </a:xfrm>
          <a:prstGeom prst="rect">
            <a:avLst/>
          </a:prstGeom>
          <a:noFill/>
        </p:spPr>
        <p:txBody>
          <a:bodyPr wrap="square" lIns="0" rIns="0" tIns="0" bIns="0" anchor="t">
            <a:spAutoFit/>
          </a:bodyPr>
          <a:lstStyle/>
          <a:p>
            <a:pPr algn="l">
              <a:lnSpc>
                <a:spcPct val="128000"/>
              </a:lnSpc>
            </a:pPr>
            <a:r>
              <a:rPr sz="950" b="0" i="0">
                <a:solidFill>
                  <a:srgbClr val="1F2A37"/>
                </a:solidFill>
                <a:latin typeface="Source Han Sans SC"/>
                <a:ea typeface="Source Han Sans SC"/>
                <a:cs typeface="Source Han Sans SC"/>
              </a:rPr>
              <a:t>学生拿到的是互不兼容的独立脚本，难以完成系统级任务调度训练。</a:t>
            </a:r>
          </a:p>
        </p:txBody>
      </p:sp>
      <p:sp>
        <p:nvSpPr>
          <p:cNvPr id="28" name="TextBox 27"/>
          <p:cNvSpPr txBox="1"/>
          <p:nvPr/>
        </p:nvSpPr>
        <p:spPr>
          <a:xfrm>
            <a:off x="4595256" y="4425696"/>
            <a:ext cx="3001457" cy="219456"/>
          </a:xfrm>
          <a:prstGeom prst="rect">
            <a:avLst/>
          </a:prstGeom>
          <a:noFill/>
        </p:spPr>
        <p:txBody>
          <a:bodyPr wrap="square" lIns="0" rIns="0" tIns="0" bIns="0" anchor="t">
            <a:spAutoFit/>
          </a:bodyPr>
          <a:lstStyle/>
          <a:p>
            <a:pPr algn="l"/>
            <a:r>
              <a:rPr sz="950" b="0" i="0">
                <a:solidFill>
                  <a:srgbClr val="1264A3"/>
                </a:solidFill>
                <a:latin typeface="Source Han Sans SC Heavy"/>
                <a:ea typeface="Source Han Sans SC Heavy"/>
                <a:cs typeface="Source Han Sans SC Heavy"/>
              </a:rPr>
              <a:t>设计指标</a:t>
            </a:r>
          </a:p>
        </p:txBody>
      </p:sp>
      <p:sp>
        <p:nvSpPr>
          <p:cNvPr id="29" name="TextBox 28"/>
          <p:cNvSpPr txBox="1"/>
          <p:nvPr/>
        </p:nvSpPr>
        <p:spPr>
          <a:xfrm>
            <a:off x="4595256" y="4645152"/>
            <a:ext cx="3001457" cy="676656"/>
          </a:xfrm>
          <a:prstGeom prst="rect">
            <a:avLst/>
          </a:prstGeom>
          <a:noFill/>
        </p:spPr>
        <p:txBody>
          <a:bodyPr wrap="square" lIns="0" rIns="0" tIns="0" bIns="0" anchor="t">
            <a:spAutoFit/>
          </a:bodyPr>
          <a:lstStyle/>
          <a:p>
            <a:pPr algn="l">
              <a:lnSpc>
                <a:spcPct val="128000"/>
              </a:lnSpc>
            </a:pPr>
            <a:r>
              <a:rPr sz="950" b="0" i="0">
                <a:solidFill>
                  <a:srgbClr val="1F2A37"/>
                </a:solidFill>
                <a:latin typeface="Source Han Sans SC"/>
                <a:ea typeface="Source Han Sans SC"/>
                <a:cs typeface="Source Han Sans SC"/>
              </a:rPr>
              <a:t>统一任务卡规范与状态机调度，技能以插件方式接入；换任务只改配置数据。</a:t>
            </a:r>
          </a:p>
        </p:txBody>
      </p:sp>
      <p:sp>
        <p:nvSpPr>
          <p:cNvPr id="30" name="Rectangle 29"/>
          <p:cNvSpPr/>
          <p:nvPr/>
        </p:nvSpPr>
        <p:spPr>
          <a:xfrm>
            <a:off x="8026481" y="2048256"/>
            <a:ext cx="3403793" cy="321868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026481" y="2048256"/>
            <a:ext cx="3403793" cy="41148"/>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27649" y="2231136"/>
            <a:ext cx="3001457" cy="274320"/>
          </a:xfrm>
          <a:prstGeom prst="rect">
            <a:avLst/>
          </a:prstGeom>
          <a:noFill/>
        </p:spPr>
        <p:txBody>
          <a:bodyPr wrap="square" lIns="0" rIns="0" tIns="0" bIns="0" anchor="t">
            <a:spAutoFit/>
          </a:bodyPr>
          <a:lstStyle/>
          <a:p>
            <a:pPr algn="l"/>
            <a:r>
              <a:rPr sz="1250" b="0" i="0">
                <a:solidFill>
                  <a:srgbClr val="0A2540"/>
                </a:solidFill>
                <a:latin typeface="Source Han Sans SC Heavy"/>
                <a:ea typeface="Source Han Sans SC Heavy"/>
                <a:cs typeface="Source Han Sans SC Heavy"/>
              </a:rPr>
              <a:t>约束三　赛场网络条件</a:t>
            </a:r>
          </a:p>
        </p:txBody>
      </p:sp>
      <p:cxnSp>
        <p:nvCxnSpPr>
          <p:cNvPr id="33" name="Connector 32"/>
          <p:cNvCxnSpPr/>
          <p:nvPr/>
        </p:nvCxnSpPr>
        <p:spPr>
          <a:xfrm>
            <a:off x="8227649" y="2615184"/>
            <a:ext cx="3001457"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227649" y="2743200"/>
            <a:ext cx="3001457" cy="219456"/>
          </a:xfrm>
          <a:prstGeom prst="rect">
            <a:avLst/>
          </a:prstGeom>
          <a:noFill/>
        </p:spPr>
        <p:txBody>
          <a:bodyPr wrap="square" lIns="0" rIns="0" tIns="0" bIns="0" anchor="t">
            <a:spAutoFit/>
          </a:bodyPr>
          <a:lstStyle/>
          <a:p>
            <a:pPr algn="l"/>
            <a:r>
              <a:rPr sz="950" b="0" i="0">
                <a:solidFill>
                  <a:srgbClr val="2E9E7B"/>
                </a:solidFill>
                <a:latin typeface="Source Han Sans SC Heavy"/>
                <a:ea typeface="Source Han Sans SC Heavy"/>
                <a:cs typeface="Source Han Sans SC Heavy"/>
              </a:rPr>
              <a:t>现状</a:t>
            </a:r>
          </a:p>
        </p:txBody>
      </p:sp>
      <p:sp>
        <p:nvSpPr>
          <p:cNvPr id="35" name="TextBox 34"/>
          <p:cNvSpPr txBox="1"/>
          <p:nvPr/>
        </p:nvSpPr>
        <p:spPr>
          <a:xfrm>
            <a:off x="8227649" y="2962656"/>
            <a:ext cx="3001457" cy="676656"/>
          </a:xfrm>
          <a:prstGeom prst="rect">
            <a:avLst/>
          </a:prstGeom>
          <a:noFill/>
        </p:spPr>
        <p:txBody>
          <a:bodyPr wrap="square" lIns="0" rIns="0" tIns="0" bIns="0" anchor="t">
            <a:spAutoFit/>
          </a:bodyPr>
          <a:lstStyle/>
          <a:p>
            <a:pPr algn="l">
              <a:lnSpc>
                <a:spcPct val="128000"/>
              </a:lnSpc>
            </a:pPr>
            <a:r>
              <a:rPr sz="950" b="0" i="0">
                <a:solidFill>
                  <a:srgbClr val="1F2A37"/>
                </a:solidFill>
                <a:latin typeface="Source Han Sans SC"/>
                <a:ea typeface="Source Han Sans SC"/>
                <a:cs typeface="Source Han Sans SC"/>
              </a:rPr>
              <a:t>感知与语音依赖公网接口时，现场限速或中断会使整条链路超时。</a:t>
            </a:r>
          </a:p>
        </p:txBody>
      </p:sp>
      <p:sp>
        <p:nvSpPr>
          <p:cNvPr id="36" name="TextBox 35"/>
          <p:cNvSpPr txBox="1"/>
          <p:nvPr/>
        </p:nvSpPr>
        <p:spPr>
          <a:xfrm>
            <a:off x="8227649" y="3584448"/>
            <a:ext cx="3001457" cy="219456"/>
          </a:xfrm>
          <a:prstGeom prst="rect">
            <a:avLst/>
          </a:prstGeom>
          <a:noFill/>
        </p:spPr>
        <p:txBody>
          <a:bodyPr wrap="square" lIns="0" rIns="0" tIns="0" bIns="0" anchor="t">
            <a:spAutoFit/>
          </a:bodyPr>
          <a:lstStyle/>
          <a:p>
            <a:pPr algn="l"/>
            <a:r>
              <a:rPr sz="950" b="0" i="0">
                <a:solidFill>
                  <a:srgbClr val="2E9E7B"/>
                </a:solidFill>
                <a:latin typeface="Source Han Sans SC Heavy"/>
                <a:ea typeface="Source Han Sans SC Heavy"/>
                <a:cs typeface="Source Han Sans SC Heavy"/>
              </a:rPr>
              <a:t>影响</a:t>
            </a:r>
          </a:p>
        </p:txBody>
      </p:sp>
      <p:sp>
        <p:nvSpPr>
          <p:cNvPr id="37" name="TextBox 36"/>
          <p:cNvSpPr txBox="1"/>
          <p:nvPr/>
        </p:nvSpPr>
        <p:spPr>
          <a:xfrm>
            <a:off x="8227649" y="3803904"/>
            <a:ext cx="3001457" cy="676656"/>
          </a:xfrm>
          <a:prstGeom prst="rect">
            <a:avLst/>
          </a:prstGeom>
          <a:noFill/>
        </p:spPr>
        <p:txBody>
          <a:bodyPr wrap="square" lIns="0" rIns="0" tIns="0" bIns="0" anchor="t">
            <a:spAutoFit/>
          </a:bodyPr>
          <a:lstStyle/>
          <a:p>
            <a:pPr algn="l">
              <a:lnSpc>
                <a:spcPct val="128000"/>
              </a:lnSpc>
            </a:pPr>
            <a:r>
              <a:rPr sz="950" b="0" i="0">
                <a:solidFill>
                  <a:srgbClr val="1F2A37"/>
                </a:solidFill>
                <a:latin typeface="Source Han Sans SC"/>
                <a:ea typeface="Source Han Sans SC"/>
                <a:cs typeface="Source Han Sans SC"/>
              </a:rPr>
              <a:t>任务执行不确定；实验采集的人脸与图像数据存在外传合规风险。</a:t>
            </a:r>
          </a:p>
        </p:txBody>
      </p:sp>
      <p:sp>
        <p:nvSpPr>
          <p:cNvPr id="38" name="TextBox 37"/>
          <p:cNvSpPr txBox="1"/>
          <p:nvPr/>
        </p:nvSpPr>
        <p:spPr>
          <a:xfrm>
            <a:off x="8227649" y="4425696"/>
            <a:ext cx="3001457" cy="219456"/>
          </a:xfrm>
          <a:prstGeom prst="rect">
            <a:avLst/>
          </a:prstGeom>
          <a:noFill/>
        </p:spPr>
        <p:txBody>
          <a:bodyPr wrap="square" lIns="0" rIns="0" tIns="0" bIns="0" anchor="t">
            <a:spAutoFit/>
          </a:bodyPr>
          <a:lstStyle/>
          <a:p>
            <a:pPr algn="l"/>
            <a:r>
              <a:rPr sz="950" b="0" i="0">
                <a:solidFill>
                  <a:srgbClr val="2E9E7B"/>
                </a:solidFill>
                <a:latin typeface="Source Han Sans SC Heavy"/>
                <a:ea typeface="Source Han Sans SC Heavy"/>
                <a:cs typeface="Source Han Sans SC Heavy"/>
              </a:rPr>
              <a:t>设计指标</a:t>
            </a:r>
          </a:p>
        </p:txBody>
      </p:sp>
      <p:sp>
        <p:nvSpPr>
          <p:cNvPr id="39" name="TextBox 38"/>
          <p:cNvSpPr txBox="1"/>
          <p:nvPr/>
        </p:nvSpPr>
        <p:spPr>
          <a:xfrm>
            <a:off x="8227649" y="4645152"/>
            <a:ext cx="3001457" cy="676656"/>
          </a:xfrm>
          <a:prstGeom prst="rect">
            <a:avLst/>
          </a:prstGeom>
          <a:noFill/>
        </p:spPr>
        <p:txBody>
          <a:bodyPr wrap="square" lIns="0" rIns="0" tIns="0" bIns="0" anchor="t">
            <a:spAutoFit/>
          </a:bodyPr>
          <a:lstStyle/>
          <a:p>
            <a:pPr algn="l">
              <a:lnSpc>
                <a:spcPct val="128000"/>
              </a:lnSpc>
            </a:pPr>
            <a:r>
              <a:rPr sz="950" b="0" i="0">
                <a:solidFill>
                  <a:srgbClr val="1F2A37"/>
                </a:solidFill>
                <a:latin typeface="Source Han Sans SC"/>
                <a:ea typeface="Source Han Sans SC"/>
                <a:cs typeface="Source Han Sans SC"/>
              </a:rPr>
              <a:t>感知、语音与调度全部板载运行，运行期网络出站次数为 0。</a:t>
            </a:r>
          </a:p>
        </p:txBody>
      </p:sp>
      <p:sp>
        <p:nvSpPr>
          <p:cNvPr id="40" name="TextBox 39"/>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BOM 逐项询价（含备用执行器与平衡充）；两种口径分别列示，不合并引用</a:t>
            </a:r>
          </a:p>
        </p:txBody>
      </p:sp>
      <p:sp>
        <p:nvSpPr>
          <p:cNvPr id="41" name="TextBox 40"/>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42" name="Rectangle 41"/>
          <p:cNvSpPr/>
          <p:nvPr/>
        </p:nvSpPr>
        <p:spPr>
          <a:xfrm>
            <a:off x="1529791" y="6016752"/>
            <a:ext cx="90449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621231" y="6016752"/>
            <a:ext cx="758190" cy="237744"/>
          </a:xfrm>
          <a:prstGeom prst="rect">
            <a:avLst/>
          </a:prstGeom>
          <a:noFill/>
        </p:spPr>
        <p:txBody>
          <a:bodyPr wrap="square" lIns="0" rIns="0" tIns="0" bIns="0" anchor="ctr">
            <a:spAutoFit/>
          </a:bodyPr>
          <a:lstStyle/>
          <a:p>
            <a:pPr algn="l"/>
            <a:r>
              <a:rPr sz="1050" b="0" i="0">
                <a:solidFill>
                  <a:srgbClr val="1264A3"/>
                </a:solidFill>
                <a:latin typeface="Source Han Sans SC Heavy"/>
                <a:ea typeface="Source Han Sans SC Heavy"/>
                <a:cs typeface="Source Han Sans SC Heavy"/>
              </a:rPr>
              <a:t>◇</a:t>
            </a:r>
            <a:r>
              <a:rPr sz="1050" b="0" i="0">
                <a:solidFill>
                  <a:srgbClr val="1264A3"/>
                </a:solidFill>
                <a:latin typeface="Source Han Sans SC"/>
                <a:ea typeface="Source Han Sans SC"/>
                <a:cs typeface="Source Han Sans SC"/>
              </a:rPr>
              <a:t> 设计目标</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Rectangle 1"/>
          <p:cNvSpPr/>
          <p:nvPr/>
        </p:nvSpPr>
        <p:spPr>
          <a:xfrm>
            <a:off x="0" y="0"/>
            <a:ext cx="12191969"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a:off x="53035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0704"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591055"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121408"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51760"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82111"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712463"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242816"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73168"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303520"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83387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364223"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94575"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424927"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955279"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48563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015984"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546336"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076688"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607040"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13739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667744"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198096"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530352"/>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1060704"/>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1591055"/>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2121408"/>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2651760"/>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3182111"/>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3712463"/>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4242816"/>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4773168"/>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5303520"/>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5833872"/>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6364223"/>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05840" y="2103120"/>
            <a:ext cx="8229600" cy="1280160"/>
          </a:xfrm>
          <a:prstGeom prst="rect">
            <a:avLst/>
          </a:prstGeom>
          <a:noFill/>
        </p:spPr>
        <p:txBody>
          <a:bodyPr wrap="square" lIns="0" rIns="0" tIns="0" bIns="0" anchor="t">
            <a:spAutoFit/>
          </a:bodyPr>
          <a:lstStyle/>
          <a:p>
            <a:pPr algn="l"/>
            <a:r>
              <a:rPr sz="12000" b="0" i="0">
                <a:solidFill>
                  <a:srgbClr val="1B3A5C"/>
                </a:solidFill>
                <a:latin typeface="Source Han Sans SC Heavy"/>
                <a:ea typeface="Source Han Sans SC Heavy"/>
                <a:cs typeface="Source Han Sans SC Heavy"/>
              </a:rPr>
              <a:t>01</a:t>
            </a:r>
          </a:p>
        </p:txBody>
      </p:sp>
      <p:sp>
        <p:nvSpPr>
          <p:cNvPr id="39" name="Rectangle 38"/>
          <p:cNvSpPr/>
          <p:nvPr/>
        </p:nvSpPr>
        <p:spPr>
          <a:xfrm>
            <a:off x="1042415" y="3584448"/>
            <a:ext cx="731520" cy="4572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005840" y="3877056"/>
            <a:ext cx="8778240" cy="914400"/>
          </a:xfrm>
          <a:prstGeom prst="rect">
            <a:avLst/>
          </a:prstGeom>
          <a:noFill/>
        </p:spPr>
        <p:txBody>
          <a:bodyPr wrap="square" lIns="0" rIns="0" tIns="0" bIns="0" anchor="t">
            <a:spAutoFit/>
          </a:bodyPr>
          <a:lstStyle/>
          <a:p>
            <a:pPr algn="l">
              <a:lnSpc>
                <a:spcPct val="118000"/>
              </a:lnSpc>
            </a:pPr>
            <a:r>
              <a:rPr sz="3200" b="0" i="0">
                <a:solidFill>
                  <a:srgbClr val="FFFFFF"/>
                </a:solidFill>
                <a:latin typeface="Source Han Sans SC Heavy"/>
                <a:ea typeface="Source Han Sans SC Heavy"/>
                <a:cs typeface="Source Han Sans SC Heavy"/>
              </a:rPr>
              <a:t>构型与总体设计</a:t>
            </a:r>
          </a:p>
        </p:txBody>
      </p:sp>
      <p:sp>
        <p:nvSpPr>
          <p:cNvPr id="41" name="TextBox 40"/>
          <p:cNvSpPr txBox="1"/>
          <p:nvPr/>
        </p:nvSpPr>
        <p:spPr>
          <a:xfrm>
            <a:off x="1005840" y="4956048"/>
            <a:ext cx="8778240" cy="365760"/>
          </a:xfrm>
          <a:prstGeom prst="rect">
            <a:avLst/>
          </a:prstGeom>
          <a:noFill/>
        </p:spPr>
        <p:txBody>
          <a:bodyPr wrap="square" lIns="0" rIns="0" tIns="0" bIns="0" anchor="t">
            <a:spAutoFit/>
          </a:bodyPr>
          <a:lstStyle/>
          <a:p>
            <a:pPr algn="l"/>
            <a:r>
              <a:rPr sz="1350" b="0" i="0">
                <a:solidFill>
                  <a:srgbClr val="9CC0DC"/>
                </a:solidFill>
                <a:latin typeface="Source Han Sans SC"/>
                <a:ea typeface="Source Han Sans SC"/>
                <a:cs typeface="Source Han Sans SC"/>
              </a:rPr>
              <a:t>自由度分配、包络、结构体系、质量账、动力学校核与成本口径。</a:t>
            </a:r>
          </a:p>
        </p:txBody>
      </p:sp>
      <p:sp>
        <p:nvSpPr>
          <p:cNvPr id="42" name="Oval 41"/>
          <p:cNvSpPr/>
          <p:nvPr/>
        </p:nvSpPr>
        <p:spPr>
          <a:xfrm>
            <a:off x="10835640" y="1417320"/>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3" name="Connector 42"/>
          <p:cNvCxnSpPr/>
          <p:nvPr/>
        </p:nvCxnSpPr>
        <p:spPr>
          <a:xfrm>
            <a:off x="10881360" y="146304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0835640" y="160934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5" name="Connector 44"/>
          <p:cNvCxnSpPr/>
          <p:nvPr/>
        </p:nvCxnSpPr>
        <p:spPr>
          <a:xfrm>
            <a:off x="10881360" y="165506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0835640" y="180136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7" name="Connector 46"/>
          <p:cNvCxnSpPr/>
          <p:nvPr/>
        </p:nvCxnSpPr>
        <p:spPr>
          <a:xfrm>
            <a:off x="10881360" y="184708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10835640" y="199339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9" name="Connector 48"/>
          <p:cNvCxnSpPr/>
          <p:nvPr/>
        </p:nvCxnSpPr>
        <p:spPr>
          <a:xfrm>
            <a:off x="10881360" y="203911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0835640" y="218541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1" name="Connector 50"/>
          <p:cNvCxnSpPr/>
          <p:nvPr/>
        </p:nvCxnSpPr>
        <p:spPr>
          <a:xfrm>
            <a:off x="10881360" y="2231136"/>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10835640" y="2377440"/>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3" name="Connector 52"/>
          <p:cNvCxnSpPr/>
          <p:nvPr/>
        </p:nvCxnSpPr>
        <p:spPr>
          <a:xfrm>
            <a:off x="10881360" y="242316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10835640" y="256946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5" name="Connector 54"/>
          <p:cNvCxnSpPr/>
          <p:nvPr/>
        </p:nvCxnSpPr>
        <p:spPr>
          <a:xfrm>
            <a:off x="10881360" y="261518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10835640" y="276148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7" name="Connector 56"/>
          <p:cNvCxnSpPr/>
          <p:nvPr/>
        </p:nvCxnSpPr>
        <p:spPr>
          <a:xfrm>
            <a:off x="10881360" y="280720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10835640" y="295351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9" name="Connector 58"/>
          <p:cNvCxnSpPr/>
          <p:nvPr/>
        </p:nvCxnSpPr>
        <p:spPr>
          <a:xfrm>
            <a:off x="10881360" y="299923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0835640" y="314553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1" name="Connector 60"/>
          <p:cNvCxnSpPr/>
          <p:nvPr/>
        </p:nvCxnSpPr>
        <p:spPr>
          <a:xfrm>
            <a:off x="10881360" y="3191256"/>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0835640" y="3337560"/>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3" name="Connector 62"/>
          <p:cNvCxnSpPr/>
          <p:nvPr/>
        </p:nvCxnSpPr>
        <p:spPr>
          <a:xfrm>
            <a:off x="10881360" y="338328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0835640" y="352958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5" name="Connector 64"/>
          <p:cNvCxnSpPr/>
          <p:nvPr/>
        </p:nvCxnSpPr>
        <p:spPr>
          <a:xfrm>
            <a:off x="10881360" y="357530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10835640" y="372160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7" name="Connector 66"/>
          <p:cNvCxnSpPr/>
          <p:nvPr/>
        </p:nvCxnSpPr>
        <p:spPr>
          <a:xfrm>
            <a:off x="10881360" y="376732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10835640" y="391363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9" name="Connector 68"/>
          <p:cNvCxnSpPr/>
          <p:nvPr/>
        </p:nvCxnSpPr>
        <p:spPr>
          <a:xfrm>
            <a:off x="10881360" y="395935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0835640" y="410565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1" name="Connector 70"/>
          <p:cNvCxnSpPr/>
          <p:nvPr/>
        </p:nvCxnSpPr>
        <p:spPr>
          <a:xfrm>
            <a:off x="10881360" y="4151376"/>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10835640" y="4297680"/>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3" name="Connector 72"/>
          <p:cNvCxnSpPr/>
          <p:nvPr/>
        </p:nvCxnSpPr>
        <p:spPr>
          <a:xfrm>
            <a:off x="10881360" y="434340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10835640" y="448970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5" name="Connector 74"/>
          <p:cNvCxnSpPr/>
          <p:nvPr/>
        </p:nvCxnSpPr>
        <p:spPr>
          <a:xfrm>
            <a:off x="10881360" y="453542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10835640" y="468172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7" name="Connector 76"/>
          <p:cNvCxnSpPr/>
          <p:nvPr/>
        </p:nvCxnSpPr>
        <p:spPr>
          <a:xfrm>
            <a:off x="10881360" y="472744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10835640" y="487375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9" name="Connector 78"/>
          <p:cNvCxnSpPr/>
          <p:nvPr/>
        </p:nvCxnSpPr>
        <p:spPr>
          <a:xfrm>
            <a:off x="10881360" y="491947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0835640" y="506577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01</a:t>
            </a:r>
            <a:r>
              <a:rPr sz="1000" b="0" i="0">
                <a:solidFill>
                  <a:srgbClr val="6B7A8C"/>
                </a:solidFill>
                <a:latin typeface="Source Han Sans SC"/>
                <a:ea typeface="Source Han Sans SC"/>
                <a:cs typeface="Source Han Sans SC"/>
              </a:rPr>
              <a:t>  构型与总体设计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1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05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整机配置与关键设计指标一览</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下列数值为 CAD 装配体实算值、采购件标称值或设计校核值，口径随行标注。</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10668579" cy="310896"/>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3135" y="2048256"/>
            <a:ext cx="100584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项目</a:t>
            </a:r>
          </a:p>
        </p:txBody>
      </p:sp>
      <p:sp>
        <p:nvSpPr>
          <p:cNvPr id="12" name="TextBox 11"/>
          <p:cNvSpPr txBox="1"/>
          <p:nvPr/>
        </p:nvSpPr>
        <p:spPr>
          <a:xfrm>
            <a:off x="2041855" y="2048256"/>
            <a:ext cx="3063239"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设计值</a:t>
            </a:r>
          </a:p>
        </p:txBody>
      </p:sp>
      <p:sp>
        <p:nvSpPr>
          <p:cNvPr id="13" name="TextBox 12"/>
          <p:cNvSpPr txBox="1"/>
          <p:nvPr/>
        </p:nvSpPr>
        <p:spPr>
          <a:xfrm>
            <a:off x="5287975" y="2048256"/>
            <a:ext cx="105156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口径</a:t>
            </a:r>
          </a:p>
        </p:txBody>
      </p:sp>
      <p:sp>
        <p:nvSpPr>
          <p:cNvPr id="14" name="TextBox 13"/>
          <p:cNvSpPr txBox="1"/>
          <p:nvPr/>
        </p:nvSpPr>
        <p:spPr>
          <a:xfrm>
            <a:off x="6522415" y="2048256"/>
            <a:ext cx="4818888"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说明</a:t>
            </a:r>
          </a:p>
        </p:txBody>
      </p:sp>
      <p:sp>
        <p:nvSpPr>
          <p:cNvPr id="15" name="TextBox 14"/>
          <p:cNvSpPr txBox="1"/>
          <p:nvPr/>
        </p:nvSpPr>
        <p:spPr>
          <a:xfrm>
            <a:off x="853135" y="2359152"/>
            <a:ext cx="100584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自由度</a:t>
            </a:r>
          </a:p>
        </p:txBody>
      </p:sp>
      <p:sp>
        <p:nvSpPr>
          <p:cNvPr id="16" name="TextBox 15"/>
          <p:cNvSpPr txBox="1"/>
          <p:nvPr/>
        </p:nvSpPr>
        <p:spPr>
          <a:xfrm>
            <a:off x="2041855" y="2359152"/>
            <a:ext cx="3063239"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20（头 2 · 躯干 2 · 双臂 8 · 双腿 8）</a:t>
            </a:r>
          </a:p>
        </p:txBody>
      </p:sp>
      <p:sp>
        <p:nvSpPr>
          <p:cNvPr id="17" name="TextBox 16"/>
          <p:cNvSpPr txBox="1"/>
          <p:nvPr/>
        </p:nvSpPr>
        <p:spPr>
          <a:xfrm>
            <a:off x="5287975" y="2359152"/>
            <a:ext cx="105156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设计值</a:t>
            </a:r>
          </a:p>
        </p:txBody>
      </p:sp>
      <p:sp>
        <p:nvSpPr>
          <p:cNvPr id="18" name="TextBox 17"/>
          <p:cNvSpPr txBox="1"/>
          <p:nvPr/>
        </p:nvSpPr>
        <p:spPr>
          <a:xfrm>
            <a:off x="6522415" y="2359152"/>
            <a:ext cx="4818888"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关节表与固件配置同源，越界输入一律拒绝</a:t>
            </a:r>
          </a:p>
        </p:txBody>
      </p:sp>
      <p:cxnSp>
        <p:nvCxnSpPr>
          <p:cNvPr id="19" name="Connector 18"/>
          <p:cNvCxnSpPr/>
          <p:nvPr/>
        </p:nvCxnSpPr>
        <p:spPr>
          <a:xfrm>
            <a:off x="761695" y="2743200"/>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53135" y="2743200"/>
            <a:ext cx="100584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整机包络</a:t>
            </a:r>
          </a:p>
        </p:txBody>
      </p:sp>
      <p:sp>
        <p:nvSpPr>
          <p:cNvPr id="21" name="TextBox 20"/>
          <p:cNvSpPr txBox="1"/>
          <p:nvPr/>
        </p:nvSpPr>
        <p:spPr>
          <a:xfrm>
            <a:off x="2041855" y="2743200"/>
            <a:ext cx="3063239"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466.5 × 188 × 295 mm</a:t>
            </a:r>
          </a:p>
        </p:txBody>
      </p:sp>
      <p:sp>
        <p:nvSpPr>
          <p:cNvPr id="22" name="TextBox 21"/>
          <p:cNvSpPr txBox="1"/>
          <p:nvPr/>
        </p:nvSpPr>
        <p:spPr>
          <a:xfrm>
            <a:off x="5287975" y="2743200"/>
            <a:ext cx="105156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CAD 实算</a:t>
            </a:r>
          </a:p>
        </p:txBody>
      </p:sp>
      <p:sp>
        <p:nvSpPr>
          <p:cNvPr id="23" name="TextBox 22"/>
          <p:cNvSpPr txBox="1"/>
          <p:nvPr/>
        </p:nvSpPr>
        <p:spPr>
          <a:xfrm>
            <a:off x="6522415" y="2743200"/>
            <a:ext cx="4818888"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高 × 宽 × 深；赛题上限 600 × 300 × 300</a:t>
            </a:r>
          </a:p>
        </p:txBody>
      </p:sp>
      <p:cxnSp>
        <p:nvCxnSpPr>
          <p:cNvPr id="24" name="Connector 23"/>
          <p:cNvCxnSpPr/>
          <p:nvPr/>
        </p:nvCxnSpPr>
        <p:spPr>
          <a:xfrm>
            <a:off x="761695" y="3127248"/>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53135" y="3127248"/>
            <a:ext cx="100584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结构体系</a:t>
            </a:r>
          </a:p>
        </p:txBody>
      </p:sp>
      <p:sp>
        <p:nvSpPr>
          <p:cNvPr id="26" name="TextBox 25"/>
          <p:cNvSpPr txBox="1"/>
          <p:nvPr/>
        </p:nvSpPr>
        <p:spPr>
          <a:xfrm>
            <a:off x="2041855" y="3127248"/>
            <a:ext cx="3063239"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6061 铝夹层 + 2.4 mm PETG</a:t>
            </a:r>
          </a:p>
        </p:txBody>
      </p:sp>
      <p:sp>
        <p:nvSpPr>
          <p:cNvPr id="27" name="TextBox 26"/>
          <p:cNvSpPr txBox="1"/>
          <p:nvPr/>
        </p:nvSpPr>
        <p:spPr>
          <a:xfrm>
            <a:off x="5287975" y="3127248"/>
            <a:ext cx="105156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制造方案</a:t>
            </a:r>
          </a:p>
        </p:txBody>
      </p:sp>
      <p:sp>
        <p:nvSpPr>
          <p:cNvPr id="28" name="TextBox 27"/>
          <p:cNvSpPr txBox="1"/>
          <p:nvPr/>
        </p:nvSpPr>
        <p:spPr>
          <a:xfrm>
            <a:off x="6522415" y="3127248"/>
            <a:ext cx="4818888"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激光平板 + 标准角铝，髋与腰双侧支承</a:t>
            </a:r>
          </a:p>
        </p:txBody>
      </p:sp>
      <p:cxnSp>
        <p:nvCxnSpPr>
          <p:cNvPr id="29" name="Connector 28"/>
          <p:cNvCxnSpPr/>
          <p:nvPr/>
        </p:nvCxnSpPr>
        <p:spPr>
          <a:xfrm>
            <a:off x="761695" y="3511296"/>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3135" y="3511296"/>
            <a:ext cx="100584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装配体</a:t>
            </a:r>
          </a:p>
        </p:txBody>
      </p:sp>
      <p:sp>
        <p:nvSpPr>
          <p:cNvPr id="31" name="TextBox 30"/>
          <p:cNvSpPr txBox="1"/>
          <p:nvPr/>
        </p:nvSpPr>
        <p:spPr>
          <a:xfrm>
            <a:off x="2041855" y="3511296"/>
            <a:ext cx="3063239"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1029 件同源装配快照</a:t>
            </a:r>
          </a:p>
        </p:txBody>
      </p:sp>
      <p:sp>
        <p:nvSpPr>
          <p:cNvPr id="32" name="TextBox 31"/>
          <p:cNvSpPr txBox="1"/>
          <p:nvPr/>
        </p:nvSpPr>
        <p:spPr>
          <a:xfrm>
            <a:off x="5287975" y="3511296"/>
            <a:ext cx="105156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CAD 实装</a:t>
            </a:r>
          </a:p>
        </p:txBody>
      </p:sp>
      <p:sp>
        <p:nvSpPr>
          <p:cNvPr id="33" name="TextBox 32"/>
          <p:cNvSpPr txBox="1"/>
          <p:nvPr/>
        </p:nvSpPr>
        <p:spPr>
          <a:xfrm>
            <a:off x="6522415" y="3511296"/>
            <a:ext cx="4818888"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几何零相交，抽样构型全通过</a:t>
            </a:r>
          </a:p>
        </p:txBody>
      </p:sp>
      <p:cxnSp>
        <p:nvCxnSpPr>
          <p:cNvPr id="34" name="Connector 33"/>
          <p:cNvCxnSpPr/>
          <p:nvPr/>
        </p:nvCxnSpPr>
        <p:spPr>
          <a:xfrm>
            <a:off x="761695" y="3895344"/>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53135" y="3895344"/>
            <a:ext cx="100584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质量账</a:t>
            </a:r>
          </a:p>
        </p:txBody>
      </p:sp>
      <p:sp>
        <p:nvSpPr>
          <p:cNvPr id="36" name="TextBox 35"/>
          <p:cNvSpPr txBox="1"/>
          <p:nvPr/>
        </p:nvSpPr>
        <p:spPr>
          <a:xfrm>
            <a:off x="2041855" y="3895344"/>
            <a:ext cx="3063239"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已计 2469 g / 目标 2300 g</a:t>
            </a:r>
          </a:p>
        </p:txBody>
      </p:sp>
      <p:sp>
        <p:nvSpPr>
          <p:cNvPr id="37" name="TextBox 36"/>
          <p:cNvSpPr txBox="1"/>
          <p:nvPr/>
        </p:nvSpPr>
        <p:spPr>
          <a:xfrm>
            <a:off x="5287975" y="3895344"/>
            <a:ext cx="105156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逐项建账</a:t>
            </a:r>
          </a:p>
        </p:txBody>
      </p:sp>
      <p:sp>
        <p:nvSpPr>
          <p:cNvPr id="38" name="TextBox 37"/>
          <p:cNvSpPr txBox="1"/>
          <p:nvPr/>
        </p:nvSpPr>
        <p:spPr>
          <a:xfrm>
            <a:off x="6522415" y="3895344"/>
            <a:ext cx="4818888"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八类分项累加，采购件按标称质量</a:t>
            </a:r>
          </a:p>
        </p:txBody>
      </p:sp>
      <p:cxnSp>
        <p:nvCxnSpPr>
          <p:cNvPr id="39" name="Connector 38"/>
          <p:cNvCxnSpPr/>
          <p:nvPr/>
        </p:nvCxnSpPr>
        <p:spPr>
          <a:xfrm>
            <a:off x="761695" y="4279392"/>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53135" y="4279392"/>
            <a:ext cx="100584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执行器</a:t>
            </a:r>
          </a:p>
        </p:txBody>
      </p:sp>
      <p:sp>
        <p:nvSpPr>
          <p:cNvPr id="41" name="TextBox 40"/>
          <p:cNvSpPr txBox="1"/>
          <p:nvPr/>
        </p:nvSpPr>
        <p:spPr>
          <a:xfrm>
            <a:off x="2041855" y="4279392"/>
            <a:ext cx="3063239"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20 × STS3215-C018（12 V）</a:t>
            </a:r>
          </a:p>
        </p:txBody>
      </p:sp>
      <p:sp>
        <p:nvSpPr>
          <p:cNvPr id="42" name="TextBox 41"/>
          <p:cNvSpPr txBox="1"/>
          <p:nvPr/>
        </p:nvSpPr>
        <p:spPr>
          <a:xfrm>
            <a:off x="5287975" y="4279392"/>
            <a:ext cx="105156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采购件</a:t>
            </a:r>
          </a:p>
        </p:txBody>
      </p:sp>
      <p:sp>
        <p:nvSpPr>
          <p:cNvPr id="43" name="TextBox 42"/>
          <p:cNvSpPr txBox="1"/>
          <p:nvPr/>
        </p:nvSpPr>
        <p:spPr>
          <a:xfrm>
            <a:off x="6522415" y="4279392"/>
            <a:ext cx="4818888"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连续额定 0.98 N·m，单线级联</a:t>
            </a:r>
          </a:p>
        </p:txBody>
      </p:sp>
      <p:cxnSp>
        <p:nvCxnSpPr>
          <p:cNvPr id="44" name="Connector 43"/>
          <p:cNvCxnSpPr/>
          <p:nvPr/>
        </p:nvCxnSpPr>
        <p:spPr>
          <a:xfrm>
            <a:off x="761695" y="4663440"/>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53135" y="4663440"/>
            <a:ext cx="100584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供电</a:t>
            </a:r>
          </a:p>
        </p:txBody>
      </p:sp>
      <p:sp>
        <p:nvSpPr>
          <p:cNvPr id="46" name="TextBox 45"/>
          <p:cNvSpPr txBox="1"/>
          <p:nvPr/>
        </p:nvSpPr>
        <p:spPr>
          <a:xfrm>
            <a:off x="2041855" y="4663440"/>
            <a:ext cx="3063239"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单包 3S 2200 mAh / 24.4 Wh / 169 g</a:t>
            </a:r>
          </a:p>
        </p:txBody>
      </p:sp>
      <p:sp>
        <p:nvSpPr>
          <p:cNvPr id="47" name="TextBox 46"/>
          <p:cNvSpPr txBox="1"/>
          <p:nvPr/>
        </p:nvSpPr>
        <p:spPr>
          <a:xfrm>
            <a:off x="5287975" y="4663440"/>
            <a:ext cx="105156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采购件</a:t>
            </a:r>
          </a:p>
        </p:txBody>
      </p:sp>
      <p:sp>
        <p:nvSpPr>
          <p:cNvPr id="48" name="TextBox 47"/>
          <p:cNvSpPr txBox="1"/>
          <p:nvPr/>
        </p:nvSpPr>
        <p:spPr>
          <a:xfrm>
            <a:off x="6522415" y="4663440"/>
            <a:ext cx="4818888"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支持扩展坞与外部直流供电</a:t>
            </a:r>
          </a:p>
        </p:txBody>
      </p:sp>
      <p:cxnSp>
        <p:nvCxnSpPr>
          <p:cNvPr id="49" name="Connector 48"/>
          <p:cNvCxnSpPr/>
          <p:nvPr/>
        </p:nvCxnSpPr>
        <p:spPr>
          <a:xfrm>
            <a:off x="761695" y="5047488"/>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53135" y="5047488"/>
            <a:ext cx="100584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控制软件</a:t>
            </a:r>
          </a:p>
        </p:txBody>
      </p:sp>
      <p:sp>
        <p:nvSpPr>
          <p:cNvPr id="51" name="TextBox 50"/>
          <p:cNvSpPr txBox="1"/>
          <p:nvPr/>
        </p:nvSpPr>
        <p:spPr>
          <a:xfrm>
            <a:off x="2041855" y="5047488"/>
            <a:ext cx="3063239"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Python 3.14 标准库 · 20 关节</a:t>
            </a:r>
          </a:p>
        </p:txBody>
      </p:sp>
      <p:sp>
        <p:nvSpPr>
          <p:cNvPr id="52" name="TextBox 51"/>
          <p:cNvSpPr txBox="1"/>
          <p:nvPr/>
        </p:nvSpPr>
        <p:spPr>
          <a:xfrm>
            <a:off x="5287975" y="5047488"/>
            <a:ext cx="1051560"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离线测试</a:t>
            </a:r>
          </a:p>
        </p:txBody>
      </p:sp>
      <p:sp>
        <p:nvSpPr>
          <p:cNvPr id="53" name="TextBox 52"/>
          <p:cNvSpPr txBox="1"/>
          <p:nvPr/>
        </p:nvSpPr>
        <p:spPr>
          <a:xfrm>
            <a:off x="6522415" y="5047488"/>
            <a:ext cx="4818888" cy="38404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主包零第三方依赖，无硬件可全流程演练</a:t>
            </a:r>
          </a:p>
        </p:txBody>
      </p:sp>
      <p:cxnSp>
        <p:nvCxnSpPr>
          <p:cNvPr id="54" name="Connector 53"/>
          <p:cNvCxnSpPr/>
          <p:nvPr/>
        </p:nvCxnSpPr>
        <p:spPr>
          <a:xfrm>
            <a:off x="761695" y="5431536"/>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CAD 装配体实算 · 采购件厂家标称 · 关节表与限位取自同一数据源</a:t>
            </a:r>
          </a:p>
        </p:txBody>
      </p:sp>
      <p:sp>
        <p:nvSpPr>
          <p:cNvPr id="56" name="TextBox 55"/>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57" name="Rectangle 56"/>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59" name="Rectangle 58"/>
          <p:cNvSpPr/>
          <p:nvPr/>
        </p:nvSpPr>
        <p:spPr>
          <a:xfrm>
            <a:off x="2447239" y="6016752"/>
            <a:ext cx="90449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2538679" y="6016752"/>
            <a:ext cx="758190" cy="237744"/>
          </a:xfrm>
          <a:prstGeom prst="rect">
            <a:avLst/>
          </a:prstGeom>
          <a:noFill/>
        </p:spPr>
        <p:txBody>
          <a:bodyPr wrap="square" lIns="0" rIns="0" tIns="0" bIns="0" anchor="ctr">
            <a:spAutoFit/>
          </a:bodyPr>
          <a:lstStyle/>
          <a:p>
            <a:pPr algn="l"/>
            <a:r>
              <a:rPr sz="1050" b="0" i="0">
                <a:solidFill>
                  <a:srgbClr val="1264A3"/>
                </a:solidFill>
                <a:latin typeface="Source Han Sans SC Heavy"/>
                <a:ea typeface="Source Han Sans SC Heavy"/>
                <a:cs typeface="Source Han Sans SC Heavy"/>
              </a:rPr>
              <a:t>◇</a:t>
            </a:r>
            <a:r>
              <a:rPr sz="1050" b="0" i="0">
                <a:solidFill>
                  <a:srgbClr val="1264A3"/>
                </a:solidFill>
                <a:latin typeface="Source Han Sans SC"/>
                <a:ea typeface="Source Han Sans SC"/>
                <a:cs typeface="Source Han Sans SC"/>
              </a:rPr>
              <a:t> 设计目标</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01</a:t>
            </a:r>
            <a:r>
              <a:rPr sz="1000" b="0" i="0">
                <a:solidFill>
                  <a:srgbClr val="6B7A8C"/>
                </a:solidFill>
                <a:latin typeface="Source Han Sans SC"/>
                <a:ea typeface="Source Han Sans SC"/>
                <a:cs typeface="Source Han Sans SC"/>
              </a:rPr>
              <a:t>  构型与总体设计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1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06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自由度分配与赛务检录条款的对应关系</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关节命名、旋转轴向与角度限位取自同一数据源，构型按条款的最严解释设计。</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6492240" cy="310896"/>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3135" y="2048256"/>
            <a:ext cx="64008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分区</a:t>
            </a:r>
          </a:p>
        </p:txBody>
      </p:sp>
      <p:sp>
        <p:nvSpPr>
          <p:cNvPr id="12" name="TextBox 11"/>
          <p:cNvSpPr txBox="1"/>
          <p:nvPr/>
        </p:nvSpPr>
        <p:spPr>
          <a:xfrm>
            <a:off x="1676095" y="2048256"/>
            <a:ext cx="457199"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数量</a:t>
            </a:r>
          </a:p>
        </p:txBody>
      </p:sp>
      <p:sp>
        <p:nvSpPr>
          <p:cNvPr id="13" name="TextBox 12"/>
          <p:cNvSpPr txBox="1"/>
          <p:nvPr/>
        </p:nvSpPr>
        <p:spPr>
          <a:xfrm>
            <a:off x="2316175" y="2048256"/>
            <a:ext cx="484632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关节构成与角度限位</a:t>
            </a:r>
          </a:p>
        </p:txBody>
      </p:sp>
      <p:sp>
        <p:nvSpPr>
          <p:cNvPr id="14" name="TextBox 13"/>
          <p:cNvSpPr txBox="1"/>
          <p:nvPr/>
        </p:nvSpPr>
        <p:spPr>
          <a:xfrm>
            <a:off x="853135" y="2359152"/>
            <a:ext cx="640080"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头部</a:t>
            </a:r>
          </a:p>
        </p:txBody>
      </p:sp>
      <p:sp>
        <p:nvSpPr>
          <p:cNvPr id="15" name="TextBox 14"/>
          <p:cNvSpPr txBox="1"/>
          <p:nvPr/>
        </p:nvSpPr>
        <p:spPr>
          <a:xfrm>
            <a:off x="1676095" y="2359152"/>
            <a:ext cx="457199"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2</a:t>
            </a:r>
          </a:p>
        </p:txBody>
      </p:sp>
      <p:sp>
        <p:nvSpPr>
          <p:cNvPr id="16" name="TextBox 15"/>
          <p:cNvSpPr txBox="1"/>
          <p:nvPr/>
        </p:nvSpPr>
        <p:spPr>
          <a:xfrm>
            <a:off x="2316175" y="2359152"/>
            <a:ext cx="4846320"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head_yaw（±90°）· head_pitch（±45°）</a:t>
            </a:r>
          </a:p>
        </p:txBody>
      </p:sp>
      <p:cxnSp>
        <p:nvCxnSpPr>
          <p:cNvPr id="17" name="Connector 16"/>
          <p:cNvCxnSpPr/>
          <p:nvPr/>
        </p:nvCxnSpPr>
        <p:spPr>
          <a:xfrm>
            <a:off x="761695" y="2852928"/>
            <a:ext cx="6492240"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53135" y="2852928"/>
            <a:ext cx="640080"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躯干</a:t>
            </a:r>
          </a:p>
        </p:txBody>
      </p:sp>
      <p:sp>
        <p:nvSpPr>
          <p:cNvPr id="19" name="TextBox 18"/>
          <p:cNvSpPr txBox="1"/>
          <p:nvPr/>
        </p:nvSpPr>
        <p:spPr>
          <a:xfrm>
            <a:off x="1676095" y="2852928"/>
            <a:ext cx="457199"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2</a:t>
            </a:r>
          </a:p>
        </p:txBody>
      </p:sp>
      <p:sp>
        <p:nvSpPr>
          <p:cNvPr id="20" name="TextBox 19"/>
          <p:cNvSpPr txBox="1"/>
          <p:nvPr/>
        </p:nvSpPr>
        <p:spPr>
          <a:xfrm>
            <a:off x="2316175" y="2852928"/>
            <a:ext cx="4846320"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trunk_roll（±10°）· trunk_pitch（±15°）</a:t>
            </a:r>
          </a:p>
        </p:txBody>
      </p:sp>
      <p:cxnSp>
        <p:nvCxnSpPr>
          <p:cNvPr id="21" name="Connector 20"/>
          <p:cNvCxnSpPr/>
          <p:nvPr/>
        </p:nvCxnSpPr>
        <p:spPr>
          <a:xfrm>
            <a:off x="761695" y="3346704"/>
            <a:ext cx="6492240"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53135" y="3346704"/>
            <a:ext cx="640080"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双臂</a:t>
            </a:r>
          </a:p>
        </p:txBody>
      </p:sp>
      <p:sp>
        <p:nvSpPr>
          <p:cNvPr id="23" name="TextBox 22"/>
          <p:cNvSpPr txBox="1"/>
          <p:nvPr/>
        </p:nvSpPr>
        <p:spPr>
          <a:xfrm>
            <a:off x="1676095" y="3346704"/>
            <a:ext cx="457199"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8</a:t>
            </a:r>
          </a:p>
        </p:txBody>
      </p:sp>
      <p:sp>
        <p:nvSpPr>
          <p:cNvPr id="24" name="TextBox 23"/>
          <p:cNvSpPr txBox="1"/>
          <p:nvPr/>
        </p:nvSpPr>
        <p:spPr>
          <a:xfrm>
            <a:off x="2316175" y="3346704"/>
            <a:ext cx="4846320"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每侧 4：shoulder_pitch（±90°）· shoulder_roll（±90°）· elbow_pitch（−120°–0°）· gripper（0–60°）</a:t>
            </a:r>
          </a:p>
        </p:txBody>
      </p:sp>
      <p:cxnSp>
        <p:nvCxnSpPr>
          <p:cNvPr id="25" name="Connector 24"/>
          <p:cNvCxnSpPr/>
          <p:nvPr/>
        </p:nvCxnSpPr>
        <p:spPr>
          <a:xfrm>
            <a:off x="761695" y="3840480"/>
            <a:ext cx="6492240"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53135" y="3840480"/>
            <a:ext cx="640080"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双腿</a:t>
            </a:r>
          </a:p>
        </p:txBody>
      </p:sp>
      <p:sp>
        <p:nvSpPr>
          <p:cNvPr id="27" name="TextBox 26"/>
          <p:cNvSpPr txBox="1"/>
          <p:nvPr/>
        </p:nvSpPr>
        <p:spPr>
          <a:xfrm>
            <a:off x="1676095" y="3840480"/>
            <a:ext cx="457199"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8</a:t>
            </a:r>
          </a:p>
        </p:txBody>
      </p:sp>
      <p:sp>
        <p:nvSpPr>
          <p:cNvPr id="28" name="TextBox 27"/>
          <p:cNvSpPr txBox="1"/>
          <p:nvPr/>
        </p:nvSpPr>
        <p:spPr>
          <a:xfrm>
            <a:off x="2316175" y="3840480"/>
            <a:ext cx="4846320"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每侧 4：hip_roll（±25°）· hip_pitch（−60°–60°）· knee_pitch（0–90°）· ankle_pitch（−40°–40°）</a:t>
            </a:r>
          </a:p>
        </p:txBody>
      </p:sp>
      <p:cxnSp>
        <p:nvCxnSpPr>
          <p:cNvPr id="29" name="Connector 28"/>
          <p:cNvCxnSpPr/>
          <p:nvPr/>
        </p:nvCxnSpPr>
        <p:spPr>
          <a:xfrm>
            <a:off x="761695" y="4334256"/>
            <a:ext cx="6492240"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3135" y="4334256"/>
            <a:ext cx="640080"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合计</a:t>
            </a:r>
          </a:p>
        </p:txBody>
      </p:sp>
      <p:sp>
        <p:nvSpPr>
          <p:cNvPr id="31" name="TextBox 30"/>
          <p:cNvSpPr txBox="1"/>
          <p:nvPr/>
        </p:nvSpPr>
        <p:spPr>
          <a:xfrm>
            <a:off x="1676095" y="4334256"/>
            <a:ext cx="457199"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20</a:t>
            </a:r>
          </a:p>
        </p:txBody>
      </p:sp>
      <p:sp>
        <p:nvSpPr>
          <p:cNvPr id="32" name="TextBox 31"/>
          <p:cNvSpPr txBox="1"/>
          <p:nvPr/>
        </p:nvSpPr>
        <p:spPr>
          <a:xfrm>
            <a:off x="2316175" y="4334256"/>
            <a:ext cx="4846320" cy="493776"/>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全机统一总线舵机；赛题下限为 18 个自由度</a:t>
            </a:r>
          </a:p>
        </p:txBody>
      </p:sp>
      <p:cxnSp>
        <p:nvCxnSpPr>
          <p:cNvPr id="33" name="Connector 32"/>
          <p:cNvCxnSpPr/>
          <p:nvPr/>
        </p:nvCxnSpPr>
        <p:spPr>
          <a:xfrm>
            <a:off x="761695" y="4828032"/>
            <a:ext cx="6492240"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619695" y="2048256"/>
            <a:ext cx="3810579" cy="27066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802575" y="2157984"/>
            <a:ext cx="3444819" cy="237744"/>
          </a:xfrm>
          <a:prstGeom prst="rect">
            <a:avLst/>
          </a:prstGeom>
          <a:noFill/>
        </p:spPr>
        <p:txBody>
          <a:bodyPr wrap="square" lIns="0" rIns="0" tIns="0" bIns="0" anchor="t">
            <a:spAutoFit/>
          </a:bodyPr>
          <a:lstStyle/>
          <a:p>
            <a:pPr algn="l"/>
            <a:r>
              <a:rPr sz="900" b="0" i="0">
                <a:solidFill>
                  <a:srgbClr val="0A2540"/>
                </a:solidFill>
                <a:latin typeface="Source Han Sans SC Heavy"/>
                <a:ea typeface="Source Han Sans SC Heavy"/>
                <a:cs typeface="Source Han Sans SC Heavy"/>
              </a:rPr>
              <a:t>图 1-1　关节运动学拓扑（自绘矢量图）</a:t>
            </a:r>
          </a:p>
        </p:txBody>
      </p:sp>
      <p:sp>
        <p:nvSpPr>
          <p:cNvPr id="36" name="Oval 35"/>
          <p:cNvSpPr/>
          <p:nvPr/>
        </p:nvSpPr>
        <p:spPr>
          <a:xfrm>
            <a:off x="8321673" y="2466066"/>
            <a:ext cx="278540" cy="278540"/>
          </a:xfrm>
          <a:prstGeom prst="ellipse">
            <a:avLst/>
          </a:prstGeom>
          <a:solidFill>
            <a:srgbClr val="FFFFFF"/>
          </a:solidFill>
          <a:ln w="19050">
            <a:solidFill>
              <a:srgbClr val="9CC0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7" name="Connector 36"/>
          <p:cNvCxnSpPr/>
          <p:nvPr/>
        </p:nvCxnSpPr>
        <p:spPr>
          <a:xfrm>
            <a:off x="8209483" y="4413914"/>
            <a:ext cx="502920" cy="0"/>
          </a:xfrm>
          <a:prstGeom prst="line">
            <a:avLst/>
          </a:prstGeom>
          <a:ln w="1270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460943" y="2779424"/>
            <a:ext cx="0" cy="522263"/>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248169" y="3030884"/>
            <a:ext cx="425548" cy="0"/>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25541" y="3301687"/>
            <a:ext cx="270803" cy="0"/>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8219154" y="3030884"/>
            <a:ext cx="29015" cy="58029"/>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8190140" y="3088913"/>
            <a:ext cx="29014" cy="328832"/>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8170797" y="3417745"/>
            <a:ext cx="19343" cy="270803"/>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8306198" y="3301687"/>
            <a:ext cx="19343" cy="96715"/>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8296527" y="3398402"/>
            <a:ext cx="9671" cy="58030"/>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296527" y="3456432"/>
            <a:ext cx="0" cy="425547"/>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8277183" y="3881979"/>
            <a:ext cx="19344" cy="367519"/>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8257840" y="4249498"/>
            <a:ext cx="19343" cy="154744"/>
          </a:xfrm>
          <a:prstGeom prst="line">
            <a:avLst/>
          </a:prstGeom>
          <a:ln w="3302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673717" y="3030884"/>
            <a:ext cx="29014" cy="58029"/>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702731" y="3088913"/>
            <a:ext cx="29015" cy="328832"/>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731746" y="3417745"/>
            <a:ext cx="19343" cy="270803"/>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596344" y="3301687"/>
            <a:ext cx="19343" cy="96715"/>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615687" y="3398402"/>
            <a:ext cx="9672" cy="58030"/>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625359" y="3456432"/>
            <a:ext cx="0" cy="425547"/>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625359" y="3881979"/>
            <a:ext cx="19343" cy="367519"/>
          </a:xfrm>
          <a:prstGeom prst="line">
            <a:avLst/>
          </a:prstGeom>
          <a:ln w="35560">
            <a:solidFill>
              <a:srgbClr val="9CC0DC"/>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644702" y="4249498"/>
            <a:ext cx="19343" cy="154744"/>
          </a:xfrm>
          <a:prstGeom prst="line">
            <a:avLst/>
          </a:prstGeom>
          <a:ln w="33020">
            <a:solidFill>
              <a:srgbClr val="9CC0DC"/>
            </a:solidFill>
          </a:ln>
          <a:effectLst/>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8425281" y="2569675"/>
            <a:ext cx="71323" cy="71323"/>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Oval 57"/>
          <p:cNvSpPr/>
          <p:nvPr/>
        </p:nvSpPr>
        <p:spPr>
          <a:xfrm>
            <a:off x="8425281" y="2743762"/>
            <a:ext cx="71323" cy="71323"/>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Oval 58"/>
          <p:cNvSpPr/>
          <p:nvPr/>
        </p:nvSpPr>
        <p:spPr>
          <a:xfrm>
            <a:off x="8425281" y="2801791"/>
            <a:ext cx="71323" cy="71323"/>
          </a:xfrm>
          <a:prstGeom prst="ellipse">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Oval 59"/>
          <p:cNvSpPr/>
          <p:nvPr/>
        </p:nvSpPr>
        <p:spPr>
          <a:xfrm>
            <a:off x="8425281" y="2917850"/>
            <a:ext cx="71323" cy="71323"/>
          </a:xfrm>
          <a:prstGeom prst="ellipse">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Oval 60"/>
          <p:cNvSpPr/>
          <p:nvPr/>
        </p:nvSpPr>
        <p:spPr>
          <a:xfrm>
            <a:off x="8212507" y="2995222"/>
            <a:ext cx="71323" cy="71323"/>
          </a:xfrm>
          <a:prstGeom prst="ellipse">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Oval 61"/>
          <p:cNvSpPr/>
          <p:nvPr/>
        </p:nvSpPr>
        <p:spPr>
          <a:xfrm>
            <a:off x="8638055" y="2995222"/>
            <a:ext cx="71323" cy="71323"/>
          </a:xfrm>
          <a:prstGeom prst="ellipse">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Oval 62"/>
          <p:cNvSpPr/>
          <p:nvPr/>
        </p:nvSpPr>
        <p:spPr>
          <a:xfrm>
            <a:off x="8183493" y="3053251"/>
            <a:ext cx="71323" cy="71323"/>
          </a:xfrm>
          <a:prstGeom prst="ellipse">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Oval 63"/>
          <p:cNvSpPr/>
          <p:nvPr/>
        </p:nvSpPr>
        <p:spPr>
          <a:xfrm>
            <a:off x="8667070" y="3053251"/>
            <a:ext cx="71323" cy="71323"/>
          </a:xfrm>
          <a:prstGeom prst="ellipse">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Oval 64"/>
          <p:cNvSpPr/>
          <p:nvPr/>
        </p:nvSpPr>
        <p:spPr>
          <a:xfrm>
            <a:off x="8154478" y="3382084"/>
            <a:ext cx="71323" cy="71323"/>
          </a:xfrm>
          <a:prstGeom prst="ellipse">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Oval 65"/>
          <p:cNvSpPr/>
          <p:nvPr/>
        </p:nvSpPr>
        <p:spPr>
          <a:xfrm>
            <a:off x="8696084" y="3382084"/>
            <a:ext cx="71323" cy="71323"/>
          </a:xfrm>
          <a:prstGeom prst="ellipse">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Oval 66"/>
          <p:cNvSpPr/>
          <p:nvPr/>
        </p:nvSpPr>
        <p:spPr>
          <a:xfrm>
            <a:off x="8135135" y="3652887"/>
            <a:ext cx="71323" cy="71323"/>
          </a:xfrm>
          <a:prstGeom prst="ellipse">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Oval 67"/>
          <p:cNvSpPr/>
          <p:nvPr/>
        </p:nvSpPr>
        <p:spPr>
          <a:xfrm>
            <a:off x="8715427" y="3652887"/>
            <a:ext cx="71323" cy="71323"/>
          </a:xfrm>
          <a:prstGeom prst="ellipse">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Oval 68"/>
          <p:cNvSpPr/>
          <p:nvPr/>
        </p:nvSpPr>
        <p:spPr>
          <a:xfrm>
            <a:off x="8289880" y="3285368"/>
            <a:ext cx="71323" cy="71323"/>
          </a:xfrm>
          <a:prstGeom prst="ellipse">
            <a:avLst/>
          </a:prstGeom>
          <a:solidFill>
            <a:srgbClr val="6FA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Oval 69"/>
          <p:cNvSpPr/>
          <p:nvPr/>
        </p:nvSpPr>
        <p:spPr>
          <a:xfrm>
            <a:off x="8560683" y="3285368"/>
            <a:ext cx="71323" cy="71323"/>
          </a:xfrm>
          <a:prstGeom prst="ellipse">
            <a:avLst/>
          </a:prstGeom>
          <a:solidFill>
            <a:srgbClr val="6FA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Oval 70"/>
          <p:cNvSpPr/>
          <p:nvPr/>
        </p:nvSpPr>
        <p:spPr>
          <a:xfrm>
            <a:off x="8270536" y="3362741"/>
            <a:ext cx="71323" cy="71323"/>
          </a:xfrm>
          <a:prstGeom prst="ellipse">
            <a:avLst/>
          </a:prstGeom>
          <a:solidFill>
            <a:srgbClr val="6FA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Oval 71"/>
          <p:cNvSpPr/>
          <p:nvPr/>
        </p:nvSpPr>
        <p:spPr>
          <a:xfrm>
            <a:off x="8580026" y="3362741"/>
            <a:ext cx="71323" cy="71323"/>
          </a:xfrm>
          <a:prstGeom prst="ellipse">
            <a:avLst/>
          </a:prstGeom>
          <a:solidFill>
            <a:srgbClr val="6FA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Oval 72"/>
          <p:cNvSpPr/>
          <p:nvPr/>
        </p:nvSpPr>
        <p:spPr>
          <a:xfrm>
            <a:off x="8260865" y="3846318"/>
            <a:ext cx="71323" cy="71323"/>
          </a:xfrm>
          <a:prstGeom prst="ellipse">
            <a:avLst/>
          </a:prstGeom>
          <a:solidFill>
            <a:srgbClr val="6FA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Oval 73"/>
          <p:cNvSpPr/>
          <p:nvPr/>
        </p:nvSpPr>
        <p:spPr>
          <a:xfrm>
            <a:off x="8589697" y="3846318"/>
            <a:ext cx="71323" cy="71323"/>
          </a:xfrm>
          <a:prstGeom prst="ellipse">
            <a:avLst/>
          </a:prstGeom>
          <a:solidFill>
            <a:srgbClr val="6FA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Oval 74"/>
          <p:cNvSpPr/>
          <p:nvPr/>
        </p:nvSpPr>
        <p:spPr>
          <a:xfrm>
            <a:off x="8241522" y="4213836"/>
            <a:ext cx="71323" cy="71323"/>
          </a:xfrm>
          <a:prstGeom prst="ellipse">
            <a:avLst/>
          </a:prstGeom>
          <a:solidFill>
            <a:srgbClr val="6FA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Oval 75"/>
          <p:cNvSpPr/>
          <p:nvPr/>
        </p:nvSpPr>
        <p:spPr>
          <a:xfrm>
            <a:off x="8609040" y="4213836"/>
            <a:ext cx="71323" cy="71323"/>
          </a:xfrm>
          <a:prstGeom prst="ellipse">
            <a:avLst/>
          </a:prstGeom>
          <a:solidFill>
            <a:srgbClr val="6FA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ectangle 76"/>
          <p:cNvSpPr/>
          <p:nvPr/>
        </p:nvSpPr>
        <p:spPr>
          <a:xfrm>
            <a:off x="9210751" y="2551176"/>
            <a:ext cx="45720" cy="45720"/>
          </a:xfrm>
          <a:prstGeom prst="rect">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9357055" y="2487168"/>
            <a:ext cx="1872051" cy="420624"/>
          </a:xfrm>
          <a:prstGeom prst="rect">
            <a:avLst/>
          </a:prstGeom>
          <a:noFill/>
        </p:spPr>
        <p:txBody>
          <a:bodyPr wrap="square" lIns="0" rIns="0" tIns="0" bIns="0" anchor="t">
            <a:spAutoFit/>
          </a:bodyPr>
          <a:lstStyle/>
          <a:p>
            <a:pPr algn="l">
              <a:lnSpc>
                <a:spcPct val="120000"/>
              </a:lnSpc>
            </a:pPr>
            <a:r>
              <a:rPr sz="950" b="0" i="0">
                <a:solidFill>
                  <a:srgbClr val="0A2540"/>
                </a:solidFill>
                <a:latin typeface="Source Han Sans SC Heavy"/>
                <a:ea typeface="Source Han Sans SC Heavy"/>
                <a:cs typeface="Source Han Sans SC Heavy"/>
              </a:rPr>
              <a:t>双臂 8</a:t>
            </a:r>
          </a:p>
          <a:p>
            <a:pPr algn="l">
              <a:lnSpc>
                <a:spcPct val="120000"/>
              </a:lnSpc>
            </a:pPr>
            <a:r>
              <a:rPr sz="800" b="0" i="0">
                <a:solidFill>
                  <a:srgbClr val="6B7A8C"/>
                </a:solidFill>
                <a:latin typeface="Source Han Sans SC"/>
                <a:ea typeface="Source Han Sans SC"/>
                <a:cs typeface="Source Han Sans SC"/>
              </a:rPr>
              <a:t>每臂 肩 2 · 肘 1 · 夹爪 1</a:t>
            </a:r>
          </a:p>
        </p:txBody>
      </p:sp>
      <p:sp>
        <p:nvSpPr>
          <p:cNvPr id="79" name="Rectangle 78"/>
          <p:cNvSpPr/>
          <p:nvPr/>
        </p:nvSpPr>
        <p:spPr>
          <a:xfrm>
            <a:off x="9210751" y="3044952"/>
            <a:ext cx="45720" cy="45720"/>
          </a:xfrm>
          <a:prstGeom prst="rect">
            <a:avLst/>
          </a:prstGeom>
          <a:solidFill>
            <a:srgbClr val="6FA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9357055" y="2980944"/>
            <a:ext cx="1872051" cy="420624"/>
          </a:xfrm>
          <a:prstGeom prst="rect">
            <a:avLst/>
          </a:prstGeom>
          <a:noFill/>
        </p:spPr>
        <p:txBody>
          <a:bodyPr wrap="square" lIns="0" rIns="0" tIns="0" bIns="0" anchor="t">
            <a:spAutoFit/>
          </a:bodyPr>
          <a:lstStyle/>
          <a:p>
            <a:pPr algn="l">
              <a:lnSpc>
                <a:spcPct val="120000"/>
              </a:lnSpc>
            </a:pPr>
            <a:r>
              <a:rPr sz="950" b="0" i="0">
                <a:solidFill>
                  <a:srgbClr val="0A2540"/>
                </a:solidFill>
                <a:latin typeface="Source Han Sans SC Heavy"/>
                <a:ea typeface="Source Han Sans SC Heavy"/>
                <a:cs typeface="Source Han Sans SC Heavy"/>
              </a:rPr>
              <a:t>双腿 8</a:t>
            </a:r>
          </a:p>
          <a:p>
            <a:pPr algn="l">
              <a:lnSpc>
                <a:spcPct val="120000"/>
              </a:lnSpc>
            </a:pPr>
            <a:r>
              <a:rPr sz="800" b="0" i="0">
                <a:solidFill>
                  <a:srgbClr val="6B7A8C"/>
                </a:solidFill>
                <a:latin typeface="Source Han Sans SC"/>
                <a:ea typeface="Source Han Sans SC"/>
                <a:cs typeface="Source Han Sans SC"/>
              </a:rPr>
              <a:t>每腿 髋 2 · 膝 1 · 踝 1</a:t>
            </a:r>
          </a:p>
        </p:txBody>
      </p:sp>
      <p:sp>
        <p:nvSpPr>
          <p:cNvPr id="81" name="Rectangle 80"/>
          <p:cNvSpPr/>
          <p:nvPr/>
        </p:nvSpPr>
        <p:spPr>
          <a:xfrm>
            <a:off x="9210751" y="3538728"/>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9357055" y="3474720"/>
            <a:ext cx="1872051" cy="420624"/>
          </a:xfrm>
          <a:prstGeom prst="rect">
            <a:avLst/>
          </a:prstGeom>
          <a:noFill/>
        </p:spPr>
        <p:txBody>
          <a:bodyPr wrap="square" lIns="0" rIns="0" tIns="0" bIns="0" anchor="t">
            <a:spAutoFit/>
          </a:bodyPr>
          <a:lstStyle/>
          <a:p>
            <a:pPr algn="l">
              <a:lnSpc>
                <a:spcPct val="120000"/>
              </a:lnSpc>
            </a:pPr>
            <a:r>
              <a:rPr sz="950" b="0" i="0">
                <a:solidFill>
                  <a:srgbClr val="0A2540"/>
                </a:solidFill>
                <a:latin typeface="Source Han Sans SC Heavy"/>
                <a:ea typeface="Source Han Sans SC Heavy"/>
                <a:cs typeface="Source Han Sans SC Heavy"/>
              </a:rPr>
              <a:t>躯干 2</a:t>
            </a:r>
          </a:p>
          <a:p>
            <a:pPr algn="l">
              <a:lnSpc>
                <a:spcPct val="120000"/>
              </a:lnSpc>
            </a:pPr>
            <a:r>
              <a:rPr sz="800" b="0" i="0">
                <a:solidFill>
                  <a:srgbClr val="6B7A8C"/>
                </a:solidFill>
                <a:latin typeface="Source Han Sans SC"/>
                <a:ea typeface="Source Han Sans SC"/>
                <a:cs typeface="Source Han Sans SC"/>
              </a:rPr>
              <a:t>横滚 · 俯仰</a:t>
            </a:r>
          </a:p>
        </p:txBody>
      </p:sp>
      <p:sp>
        <p:nvSpPr>
          <p:cNvPr id="83" name="Rectangle 82"/>
          <p:cNvSpPr/>
          <p:nvPr/>
        </p:nvSpPr>
        <p:spPr>
          <a:xfrm>
            <a:off x="9210751" y="4032504"/>
            <a:ext cx="45720" cy="457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9357055" y="3968496"/>
            <a:ext cx="1872051" cy="420624"/>
          </a:xfrm>
          <a:prstGeom prst="rect">
            <a:avLst/>
          </a:prstGeom>
          <a:noFill/>
        </p:spPr>
        <p:txBody>
          <a:bodyPr wrap="square" lIns="0" rIns="0" tIns="0" bIns="0" anchor="t">
            <a:spAutoFit/>
          </a:bodyPr>
          <a:lstStyle/>
          <a:p>
            <a:pPr algn="l">
              <a:lnSpc>
                <a:spcPct val="120000"/>
              </a:lnSpc>
            </a:pPr>
            <a:r>
              <a:rPr sz="950" b="0" i="0">
                <a:solidFill>
                  <a:srgbClr val="0A2540"/>
                </a:solidFill>
                <a:latin typeface="Source Han Sans SC Heavy"/>
                <a:ea typeface="Source Han Sans SC Heavy"/>
                <a:cs typeface="Source Han Sans SC Heavy"/>
              </a:rPr>
              <a:t>头部 2</a:t>
            </a:r>
          </a:p>
          <a:p>
            <a:pPr algn="l">
              <a:lnSpc>
                <a:spcPct val="120000"/>
              </a:lnSpc>
            </a:pPr>
            <a:r>
              <a:rPr sz="800" b="0" i="0">
                <a:solidFill>
                  <a:srgbClr val="6B7A8C"/>
                </a:solidFill>
                <a:latin typeface="Source Han Sans SC"/>
                <a:ea typeface="Source Han Sans SC"/>
                <a:cs typeface="Source Han Sans SC"/>
              </a:rPr>
              <a:t>偏航 · 俯仰</a:t>
            </a:r>
          </a:p>
        </p:txBody>
      </p:sp>
      <p:sp>
        <p:nvSpPr>
          <p:cNvPr id="85" name="TextBox 84"/>
          <p:cNvSpPr txBox="1"/>
          <p:nvPr/>
        </p:nvSpPr>
        <p:spPr>
          <a:xfrm>
            <a:off x="7802575" y="4535424"/>
            <a:ext cx="3444819" cy="219456"/>
          </a:xfrm>
          <a:prstGeom prst="rect">
            <a:avLst/>
          </a:prstGeom>
          <a:noFill/>
        </p:spPr>
        <p:txBody>
          <a:bodyPr wrap="square" lIns="0" rIns="0" tIns="0" bIns="0" anchor="t">
            <a:spAutoFit/>
          </a:bodyPr>
          <a:lstStyle/>
          <a:p>
            <a:pPr algn="l">
              <a:lnSpc>
                <a:spcPct val="124000"/>
              </a:lnSpc>
            </a:pPr>
            <a:r>
              <a:rPr sz="850" b="0" i="0">
                <a:solidFill>
                  <a:srgbClr val="6B7A8C"/>
                </a:solidFill>
                <a:latin typeface="Source Han Sans SC"/>
                <a:ea typeface="Source Han Sans SC"/>
                <a:cs typeface="Source Han Sans SC"/>
              </a:rPr>
              <a:t>仅表达关节位置与分组，不表达零件形状。</a:t>
            </a:r>
          </a:p>
        </p:txBody>
      </p:sp>
      <p:sp>
        <p:nvSpPr>
          <p:cNvPr id="86" name="Rectangle 85"/>
          <p:cNvSpPr/>
          <p:nvPr/>
        </p:nvSpPr>
        <p:spPr>
          <a:xfrm>
            <a:off x="761695" y="4846320"/>
            <a:ext cx="10668579" cy="768096"/>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981151" y="4919472"/>
            <a:ext cx="2301384"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自由度总数</a:t>
            </a:r>
          </a:p>
        </p:txBody>
      </p:sp>
      <p:sp>
        <p:nvSpPr>
          <p:cNvPr id="88" name="TextBox 87"/>
          <p:cNvSpPr txBox="1"/>
          <p:nvPr/>
        </p:nvSpPr>
        <p:spPr>
          <a:xfrm>
            <a:off x="981151" y="5120640"/>
            <a:ext cx="2301384" cy="274320"/>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条款 ≥18　本项目 </a:t>
            </a:r>
            <a:r>
              <a:rPr sz="1200" b="0" i="0">
                <a:solidFill>
                  <a:srgbClr val="E4572E"/>
                </a:solidFill>
                <a:latin typeface="Source Han Sans SC Heavy"/>
                <a:ea typeface="Source Han Sans SC Heavy"/>
                <a:cs typeface="Source Han Sans SC Heavy"/>
              </a:rPr>
              <a:t>20</a:t>
            </a:r>
          </a:p>
        </p:txBody>
      </p:sp>
      <p:cxnSp>
        <p:nvCxnSpPr>
          <p:cNvPr id="89" name="Connector 88"/>
          <p:cNvCxnSpPr/>
          <p:nvPr/>
        </p:nvCxnSpPr>
        <p:spPr>
          <a:xfrm>
            <a:off x="3428839" y="4937759"/>
            <a:ext cx="0" cy="384048"/>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3648295" y="4919472"/>
            <a:ext cx="2301384"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单腿自由度</a:t>
            </a:r>
          </a:p>
        </p:txBody>
      </p:sp>
      <p:sp>
        <p:nvSpPr>
          <p:cNvPr id="91" name="TextBox 90"/>
          <p:cNvSpPr txBox="1"/>
          <p:nvPr/>
        </p:nvSpPr>
        <p:spPr>
          <a:xfrm>
            <a:off x="3648295" y="5120640"/>
            <a:ext cx="2301384" cy="274320"/>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条款 ≥4　本项目 </a:t>
            </a:r>
            <a:r>
              <a:rPr sz="1200" b="0" i="0">
                <a:solidFill>
                  <a:srgbClr val="E4572E"/>
                </a:solidFill>
                <a:latin typeface="Source Han Sans SC Heavy"/>
                <a:ea typeface="Source Han Sans SC Heavy"/>
                <a:cs typeface="Source Han Sans SC Heavy"/>
              </a:rPr>
              <a:t>4</a:t>
            </a:r>
          </a:p>
        </p:txBody>
      </p:sp>
      <p:cxnSp>
        <p:nvCxnSpPr>
          <p:cNvPr id="92" name="Connector 91"/>
          <p:cNvCxnSpPr/>
          <p:nvPr/>
        </p:nvCxnSpPr>
        <p:spPr>
          <a:xfrm>
            <a:off x="6095984" y="4937759"/>
            <a:ext cx="0" cy="384048"/>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315440" y="4919472"/>
            <a:ext cx="2301384"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上肢 + 躯干</a:t>
            </a:r>
          </a:p>
        </p:txBody>
      </p:sp>
      <p:sp>
        <p:nvSpPr>
          <p:cNvPr id="94" name="TextBox 93"/>
          <p:cNvSpPr txBox="1"/>
          <p:nvPr/>
        </p:nvSpPr>
        <p:spPr>
          <a:xfrm>
            <a:off x="6315440" y="5120640"/>
            <a:ext cx="2301384" cy="274320"/>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条款 ≥10　本项目 </a:t>
            </a:r>
            <a:r>
              <a:rPr sz="1200" b="0" i="0">
                <a:solidFill>
                  <a:srgbClr val="E4572E"/>
                </a:solidFill>
                <a:latin typeface="Source Han Sans SC Heavy"/>
                <a:ea typeface="Source Han Sans SC Heavy"/>
                <a:cs typeface="Source Han Sans SC Heavy"/>
              </a:rPr>
              <a:t>8 + 2 = 10</a:t>
            </a:r>
          </a:p>
        </p:txBody>
      </p:sp>
      <p:cxnSp>
        <p:nvCxnSpPr>
          <p:cNvPr id="95" name="Connector 94"/>
          <p:cNvCxnSpPr/>
          <p:nvPr/>
        </p:nvCxnSpPr>
        <p:spPr>
          <a:xfrm>
            <a:off x="8763129" y="4937759"/>
            <a:ext cx="0" cy="384048"/>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8982585" y="4919472"/>
            <a:ext cx="2301384"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供电电压</a:t>
            </a:r>
          </a:p>
        </p:txBody>
      </p:sp>
      <p:sp>
        <p:nvSpPr>
          <p:cNvPr id="97" name="TextBox 96"/>
          <p:cNvSpPr txBox="1"/>
          <p:nvPr/>
        </p:nvSpPr>
        <p:spPr>
          <a:xfrm>
            <a:off x="8982585" y="5120640"/>
            <a:ext cx="2301384" cy="274320"/>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条款 ≥7.4 V　本项目 </a:t>
            </a:r>
            <a:r>
              <a:rPr sz="1200" b="0" i="0">
                <a:solidFill>
                  <a:srgbClr val="E4572E"/>
                </a:solidFill>
                <a:latin typeface="Source Han Sans SC Heavy"/>
                <a:ea typeface="Source Han Sans SC Heavy"/>
                <a:cs typeface="Source Han Sans SC Heavy"/>
              </a:rPr>
              <a:t>11.1 V</a:t>
            </a:r>
          </a:p>
        </p:txBody>
      </p:sp>
      <p:sp>
        <p:nvSpPr>
          <p:cNvPr id="98" name="TextBox 97"/>
          <p:cNvSpPr txBox="1"/>
          <p:nvPr/>
        </p:nvSpPr>
        <p:spPr>
          <a:xfrm>
            <a:off x="981151" y="5376672"/>
            <a:ext cx="10229667" cy="219456"/>
          </a:xfrm>
          <a:prstGeom prst="rect">
            <a:avLst/>
          </a:prstGeom>
          <a:noFill/>
        </p:spPr>
        <p:txBody>
          <a:bodyPr wrap="square" lIns="0" rIns="0" tIns="0" bIns="0" anchor="t">
            <a:spAutoFit/>
          </a:bodyPr>
          <a:lstStyle/>
          <a:p>
            <a:pPr algn="l"/>
            <a:r>
              <a:rPr sz="850" b="0" i="0">
                <a:solidFill>
                  <a:srgbClr val="6B7A8C"/>
                </a:solidFill>
                <a:latin typeface="Source Han Sans SC"/>
                <a:ea typeface="Source Han Sans SC"/>
                <a:cs typeface="Source Han Sans SC"/>
              </a:rPr>
              <a:t>构型按「头部与夹爪均不计入上肢躯干」的最严解释设计，即使按该口径统计仍满足下限。</a:t>
            </a:r>
          </a:p>
        </p:txBody>
      </p:sp>
      <p:sp>
        <p:nvSpPr>
          <p:cNvPr id="99" name="TextBox 98"/>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关节表与限位取自同一配置源；条款取值见赛项细则</a:t>
            </a:r>
          </a:p>
        </p:txBody>
      </p:sp>
      <p:sp>
        <p:nvSpPr>
          <p:cNvPr id="100" name="TextBox 99"/>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101" name="Rectangle 100"/>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TextBox 101"/>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103" name="Rectangle 102"/>
          <p:cNvSpPr/>
          <p:nvPr/>
        </p:nvSpPr>
        <p:spPr>
          <a:xfrm>
            <a:off x="2447239" y="6016752"/>
            <a:ext cx="90449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TextBox 103"/>
          <p:cNvSpPr txBox="1"/>
          <p:nvPr/>
        </p:nvSpPr>
        <p:spPr>
          <a:xfrm>
            <a:off x="2538679" y="6016752"/>
            <a:ext cx="758190" cy="237744"/>
          </a:xfrm>
          <a:prstGeom prst="rect">
            <a:avLst/>
          </a:prstGeom>
          <a:noFill/>
        </p:spPr>
        <p:txBody>
          <a:bodyPr wrap="square" lIns="0" rIns="0" tIns="0" bIns="0" anchor="ctr">
            <a:spAutoFit/>
          </a:bodyPr>
          <a:lstStyle/>
          <a:p>
            <a:pPr algn="l"/>
            <a:r>
              <a:rPr sz="1050" b="0" i="0">
                <a:solidFill>
                  <a:srgbClr val="1264A3"/>
                </a:solidFill>
                <a:latin typeface="Source Han Sans SC Heavy"/>
                <a:ea typeface="Source Han Sans SC Heavy"/>
                <a:cs typeface="Source Han Sans SC Heavy"/>
              </a:rPr>
              <a:t>◇</a:t>
            </a:r>
            <a:r>
              <a:rPr sz="1050" b="0" i="0">
                <a:solidFill>
                  <a:srgbClr val="1264A3"/>
                </a:solidFill>
                <a:latin typeface="Source Han Sans SC"/>
                <a:ea typeface="Source Han Sans SC"/>
                <a:cs typeface="Source Han Sans SC"/>
              </a:rPr>
              <a:t> 设计目标</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01</a:t>
            </a:r>
            <a:r>
              <a:rPr sz="1000" b="0" i="0">
                <a:solidFill>
                  <a:srgbClr val="6B7A8C"/>
                </a:solidFill>
                <a:latin typeface="Source Han Sans SC"/>
                <a:ea typeface="Source Han Sans SC"/>
                <a:cs typeface="Source Han Sans SC"/>
              </a:rPr>
              <a:t>  构型与总体设计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1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07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整机包络与赛题限值的余量分配</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包络顺序统一为高 × 宽 × 深，量取对象为整机零位下的实际几何，含全部外挂件与紧固件。</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61695" y="2267712"/>
            <a:ext cx="1005839" cy="274320"/>
          </a:xfrm>
          <a:prstGeom prst="rect">
            <a:avLst/>
          </a:prstGeom>
          <a:noFill/>
        </p:spPr>
        <p:txBody>
          <a:bodyPr wrap="square" lIns="0" rIns="0" tIns="0" bIns="0" anchor="ctr">
            <a:spAutoFit/>
          </a:bodyPr>
          <a:lstStyle/>
          <a:p>
            <a:pPr algn="l"/>
            <a:r>
              <a:rPr sz="1000" b="0" i="0">
                <a:solidFill>
                  <a:srgbClr val="0A2540"/>
                </a:solidFill>
                <a:latin typeface="Source Han Sans SC Heavy"/>
                <a:ea typeface="Source Han Sans SC Heavy"/>
                <a:cs typeface="Source Han Sans SC Heavy"/>
              </a:rPr>
              <a:t>整机高度</a:t>
            </a:r>
          </a:p>
        </p:txBody>
      </p:sp>
      <p:sp>
        <p:nvSpPr>
          <p:cNvPr id="11" name="Rectangle 10"/>
          <p:cNvSpPr/>
          <p:nvPr/>
        </p:nvSpPr>
        <p:spPr>
          <a:xfrm>
            <a:off x="1858975" y="2295144"/>
            <a:ext cx="4399471" cy="219456"/>
          </a:xfrm>
          <a:prstGeom prst="rect">
            <a:avLst/>
          </a:prstGeom>
          <a:solidFill>
            <a:srgbClr val="DCE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858975" y="2295144"/>
            <a:ext cx="3420589" cy="219456"/>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368174" y="2267712"/>
            <a:ext cx="1645920" cy="274320"/>
          </a:xfrm>
          <a:prstGeom prst="rect">
            <a:avLst/>
          </a:prstGeom>
          <a:noFill/>
        </p:spPr>
        <p:txBody>
          <a:bodyPr wrap="square" lIns="0" rIns="0" tIns="0" bIns="0" anchor="ctr">
            <a:spAutoFit/>
          </a:bodyPr>
          <a:lstStyle/>
          <a:p>
            <a:pPr algn="l"/>
            <a:r>
              <a:rPr sz="900" b="0" i="0">
                <a:solidFill>
                  <a:srgbClr val="6B7A8C"/>
                </a:solidFill>
                <a:latin typeface="Source Han Sans SC"/>
                <a:ea typeface="Source Han Sans SC"/>
                <a:cs typeface="Source Han Sans SC"/>
              </a:rPr>
              <a:t>466.5 / 600 mm</a:t>
            </a:r>
          </a:p>
        </p:txBody>
      </p:sp>
      <p:sp>
        <p:nvSpPr>
          <p:cNvPr id="14" name="TextBox 13"/>
          <p:cNvSpPr txBox="1"/>
          <p:nvPr/>
        </p:nvSpPr>
        <p:spPr>
          <a:xfrm>
            <a:off x="6368174" y="2523744"/>
            <a:ext cx="2377440" cy="182880"/>
          </a:xfrm>
          <a:prstGeom prst="rect">
            <a:avLst/>
          </a:prstGeom>
          <a:noFill/>
        </p:spPr>
        <p:txBody>
          <a:bodyPr wrap="square" lIns="0" rIns="0" tIns="0" bIns="0" anchor="t">
            <a:spAutoFit/>
          </a:bodyPr>
          <a:lstStyle/>
          <a:p>
            <a:pPr algn="l"/>
            <a:r>
              <a:rPr sz="750" b="0" i="0">
                <a:solidFill>
                  <a:srgbClr val="6B7A8C"/>
                </a:solidFill>
                <a:latin typeface="Source Han Sans SC"/>
                <a:ea typeface="Source Han Sans SC"/>
                <a:cs typeface="Source Han Sans SC"/>
              </a:rPr>
              <a:t>余 +133.5 mm；自头顶最高点至足底支撑面</a:t>
            </a:r>
          </a:p>
        </p:txBody>
      </p:sp>
      <p:sp>
        <p:nvSpPr>
          <p:cNvPr id="15" name="TextBox 14"/>
          <p:cNvSpPr txBox="1"/>
          <p:nvPr/>
        </p:nvSpPr>
        <p:spPr>
          <a:xfrm>
            <a:off x="761695" y="2907792"/>
            <a:ext cx="1005839" cy="274320"/>
          </a:xfrm>
          <a:prstGeom prst="rect">
            <a:avLst/>
          </a:prstGeom>
          <a:noFill/>
        </p:spPr>
        <p:txBody>
          <a:bodyPr wrap="square" lIns="0" rIns="0" tIns="0" bIns="0" anchor="ctr">
            <a:spAutoFit/>
          </a:bodyPr>
          <a:lstStyle/>
          <a:p>
            <a:pPr algn="l"/>
            <a:r>
              <a:rPr sz="1000" b="0" i="0">
                <a:solidFill>
                  <a:srgbClr val="0A2540"/>
                </a:solidFill>
                <a:latin typeface="Source Han Sans SC Heavy"/>
                <a:ea typeface="Source Han Sans SC Heavy"/>
                <a:cs typeface="Source Han Sans SC Heavy"/>
              </a:rPr>
              <a:t>整机宽度</a:t>
            </a:r>
          </a:p>
        </p:txBody>
      </p:sp>
      <p:sp>
        <p:nvSpPr>
          <p:cNvPr id="16" name="Rectangle 15"/>
          <p:cNvSpPr/>
          <p:nvPr/>
        </p:nvSpPr>
        <p:spPr>
          <a:xfrm>
            <a:off x="1858975" y="2935224"/>
            <a:ext cx="2199735" cy="219456"/>
          </a:xfrm>
          <a:prstGeom prst="rect">
            <a:avLst/>
          </a:prstGeom>
          <a:solidFill>
            <a:srgbClr val="DCE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858975" y="2935224"/>
            <a:ext cx="1378501" cy="219456"/>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168439" y="2907792"/>
            <a:ext cx="1645920" cy="274320"/>
          </a:xfrm>
          <a:prstGeom prst="rect">
            <a:avLst/>
          </a:prstGeom>
          <a:noFill/>
        </p:spPr>
        <p:txBody>
          <a:bodyPr wrap="square" lIns="0" rIns="0" tIns="0" bIns="0" anchor="ctr">
            <a:spAutoFit/>
          </a:bodyPr>
          <a:lstStyle/>
          <a:p>
            <a:pPr algn="l"/>
            <a:r>
              <a:rPr sz="900" b="0" i="0">
                <a:solidFill>
                  <a:srgbClr val="6B7A8C"/>
                </a:solidFill>
                <a:latin typeface="Source Han Sans SC"/>
                <a:ea typeface="Source Han Sans SC"/>
                <a:cs typeface="Source Han Sans SC"/>
              </a:rPr>
              <a:t>188 / 300 mm</a:t>
            </a:r>
          </a:p>
        </p:txBody>
      </p:sp>
      <p:sp>
        <p:nvSpPr>
          <p:cNvPr id="19" name="TextBox 18"/>
          <p:cNvSpPr txBox="1"/>
          <p:nvPr/>
        </p:nvSpPr>
        <p:spPr>
          <a:xfrm>
            <a:off x="4168439" y="3163824"/>
            <a:ext cx="2377440" cy="182880"/>
          </a:xfrm>
          <a:prstGeom prst="rect">
            <a:avLst/>
          </a:prstGeom>
          <a:noFill/>
        </p:spPr>
        <p:txBody>
          <a:bodyPr wrap="square" lIns="0" rIns="0" tIns="0" bIns="0" anchor="t">
            <a:spAutoFit/>
          </a:bodyPr>
          <a:lstStyle/>
          <a:p>
            <a:pPr algn="l"/>
            <a:r>
              <a:rPr sz="750" b="0" i="0">
                <a:solidFill>
                  <a:srgbClr val="6B7A8C"/>
                </a:solidFill>
                <a:latin typeface="Source Han Sans SC"/>
                <a:ea typeface="Source Han Sans SC"/>
                <a:cs typeface="Source Han Sans SC"/>
              </a:rPr>
              <a:t>余 +112 mm；髋部双侧支承后的最大横向尺寸</a:t>
            </a:r>
          </a:p>
        </p:txBody>
      </p:sp>
      <p:sp>
        <p:nvSpPr>
          <p:cNvPr id="20" name="TextBox 19"/>
          <p:cNvSpPr txBox="1"/>
          <p:nvPr/>
        </p:nvSpPr>
        <p:spPr>
          <a:xfrm>
            <a:off x="761695" y="3547872"/>
            <a:ext cx="1005839" cy="274320"/>
          </a:xfrm>
          <a:prstGeom prst="rect">
            <a:avLst/>
          </a:prstGeom>
          <a:noFill/>
        </p:spPr>
        <p:txBody>
          <a:bodyPr wrap="square" lIns="0" rIns="0" tIns="0" bIns="0" anchor="ctr">
            <a:spAutoFit/>
          </a:bodyPr>
          <a:lstStyle/>
          <a:p>
            <a:pPr algn="l"/>
            <a:r>
              <a:rPr sz="1000" b="0" i="0">
                <a:solidFill>
                  <a:srgbClr val="0A2540"/>
                </a:solidFill>
                <a:latin typeface="Source Han Sans SC Heavy"/>
                <a:ea typeface="Source Han Sans SC Heavy"/>
                <a:cs typeface="Source Han Sans SC Heavy"/>
              </a:rPr>
              <a:t>整机厚度</a:t>
            </a:r>
          </a:p>
        </p:txBody>
      </p:sp>
      <p:sp>
        <p:nvSpPr>
          <p:cNvPr id="21" name="Rectangle 20"/>
          <p:cNvSpPr/>
          <p:nvPr/>
        </p:nvSpPr>
        <p:spPr>
          <a:xfrm>
            <a:off x="1858975" y="3575304"/>
            <a:ext cx="2199735" cy="219456"/>
          </a:xfrm>
          <a:prstGeom prst="rect">
            <a:avLst/>
          </a:prstGeom>
          <a:solidFill>
            <a:srgbClr val="DCE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58975" y="3575304"/>
            <a:ext cx="2163073" cy="219456"/>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168439" y="3547872"/>
            <a:ext cx="1645920" cy="274320"/>
          </a:xfrm>
          <a:prstGeom prst="rect">
            <a:avLst/>
          </a:prstGeom>
          <a:noFill/>
        </p:spPr>
        <p:txBody>
          <a:bodyPr wrap="square" lIns="0" rIns="0" tIns="0" bIns="0" anchor="ctr">
            <a:spAutoFit/>
          </a:bodyPr>
          <a:lstStyle/>
          <a:p>
            <a:pPr algn="l"/>
            <a:r>
              <a:rPr sz="900" b="0" i="0">
                <a:solidFill>
                  <a:srgbClr val="6B7A8C"/>
                </a:solidFill>
                <a:latin typeface="Source Han Sans SC"/>
                <a:ea typeface="Source Han Sans SC"/>
                <a:cs typeface="Source Han Sans SC"/>
              </a:rPr>
              <a:t>295 / 300 mm</a:t>
            </a:r>
          </a:p>
        </p:txBody>
      </p:sp>
      <p:sp>
        <p:nvSpPr>
          <p:cNvPr id="24" name="TextBox 23"/>
          <p:cNvSpPr txBox="1"/>
          <p:nvPr/>
        </p:nvSpPr>
        <p:spPr>
          <a:xfrm>
            <a:off x="4168439" y="3803904"/>
            <a:ext cx="2377440" cy="182880"/>
          </a:xfrm>
          <a:prstGeom prst="rect">
            <a:avLst/>
          </a:prstGeom>
          <a:noFill/>
        </p:spPr>
        <p:txBody>
          <a:bodyPr wrap="square" lIns="0" rIns="0" tIns="0" bIns="0" anchor="t">
            <a:spAutoFit/>
          </a:bodyPr>
          <a:lstStyle/>
          <a:p>
            <a:pPr algn="l"/>
            <a:r>
              <a:rPr sz="750" b="0" i="0">
                <a:solidFill>
                  <a:srgbClr val="6B7A8C"/>
                </a:solidFill>
                <a:latin typeface="Source Han Sans SC"/>
                <a:ea typeface="Source Han Sans SC"/>
                <a:cs typeface="Source Han Sans SC"/>
              </a:rPr>
              <a:t>余 +5 mm；含背挂电子件与足板前端</a:t>
            </a:r>
          </a:p>
        </p:txBody>
      </p:sp>
      <p:sp>
        <p:nvSpPr>
          <p:cNvPr id="25" name="Rectangle 24"/>
          <p:cNvSpPr/>
          <p:nvPr/>
        </p:nvSpPr>
        <p:spPr>
          <a:xfrm>
            <a:off x="8625535" y="2029968"/>
            <a:ext cx="2103120" cy="3017520"/>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6" name="Picture 25" descr="product_front.jpg"/>
          <p:cNvPicPr>
            <a:picLocks noChangeAspect="1"/>
          </p:cNvPicPr>
          <p:nvPr/>
        </p:nvPicPr>
        <p:blipFill>
          <a:blip r:embed="rId2"/>
          <a:stretch>
            <a:fillRect/>
          </a:stretch>
        </p:blipFill>
        <p:spPr>
          <a:xfrm>
            <a:off x="8934751" y="2121408"/>
            <a:ext cx="1484687" cy="2377439"/>
          </a:xfrm>
          <a:prstGeom prst="rect">
            <a:avLst/>
          </a:prstGeom>
        </p:spPr>
      </p:pic>
      <p:sp>
        <p:nvSpPr>
          <p:cNvPr id="27" name="TextBox 26"/>
          <p:cNvSpPr txBox="1"/>
          <p:nvPr/>
        </p:nvSpPr>
        <p:spPr>
          <a:xfrm>
            <a:off x="8771839" y="4645151"/>
            <a:ext cx="1810511" cy="402336"/>
          </a:xfrm>
          <a:prstGeom prst="rect">
            <a:avLst/>
          </a:prstGeom>
          <a:noFill/>
        </p:spPr>
        <p:txBody>
          <a:bodyPr wrap="square" lIns="0" rIns="0" tIns="0" bIns="0" anchor="t">
            <a:spAutoFit/>
          </a:bodyPr>
          <a:lstStyle/>
          <a:p>
            <a:pPr algn="l">
              <a:lnSpc>
                <a:spcPct val="120000"/>
              </a:lnSpc>
            </a:pPr>
            <a:r>
              <a:rPr sz="850" b="0" i="0">
                <a:solidFill>
                  <a:srgbClr val="0A2540"/>
                </a:solidFill>
                <a:latin typeface="Source Han Sans SC Heavy"/>
                <a:ea typeface="Source Han Sans SC Heavy"/>
                <a:cs typeface="Source Han Sans SC Heavy"/>
              </a:rPr>
              <a:t>图 1-2　整机正视图（CAD 光追渲染）</a:t>
            </a:r>
          </a:p>
          <a:p>
            <a:pPr algn="l">
              <a:lnSpc>
                <a:spcPct val="120000"/>
              </a:lnSpc>
            </a:pPr>
            <a:r>
              <a:rPr sz="800" b="0" i="0">
                <a:solidFill>
                  <a:srgbClr val="6B7A8C"/>
                </a:solidFill>
                <a:latin typeface="Source Han Sans SC"/>
                <a:ea typeface="Source Han Sans SC"/>
                <a:cs typeface="Source Han Sans SC"/>
              </a:rPr>
              <a:t>渲染用于表达结构与接口关系，尺寸以装配体实算值为准</a:t>
            </a:r>
          </a:p>
        </p:txBody>
      </p:sp>
      <p:sp>
        <p:nvSpPr>
          <p:cNvPr id="28" name="Rectangle 27"/>
          <p:cNvSpPr/>
          <p:nvPr/>
        </p:nvSpPr>
        <p:spPr>
          <a:xfrm>
            <a:off x="761695" y="4187952"/>
            <a:ext cx="7498079" cy="1481328"/>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44575" y="4297680"/>
            <a:ext cx="7132320" cy="256032"/>
          </a:xfrm>
          <a:prstGeom prst="rect">
            <a:avLst/>
          </a:prstGeom>
          <a:noFill/>
        </p:spPr>
        <p:txBody>
          <a:bodyPr wrap="square" lIns="0" rIns="0" tIns="0" bIns="0" anchor="t">
            <a:spAutoFit/>
          </a:bodyPr>
          <a:lstStyle/>
          <a:p>
            <a:pPr algn="l"/>
            <a:r>
              <a:rPr sz="1150" b="0" i="0">
                <a:solidFill>
                  <a:srgbClr val="0A2540"/>
                </a:solidFill>
                <a:latin typeface="Source Han Sans SC Heavy"/>
                <a:ea typeface="Source Han Sans SC Heavy"/>
                <a:cs typeface="Source Han Sans SC Heavy"/>
              </a:rPr>
              <a:t>测量口径</a:t>
            </a:r>
          </a:p>
        </p:txBody>
      </p:sp>
      <p:sp>
        <p:nvSpPr>
          <p:cNvPr id="30" name="Rectangle 29"/>
          <p:cNvSpPr/>
          <p:nvPr/>
        </p:nvSpPr>
        <p:spPr>
          <a:xfrm>
            <a:off x="944575" y="4681728"/>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090879" y="4599432"/>
            <a:ext cx="6986016"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包络定义　</a:t>
            </a:r>
            <a:r>
              <a:rPr sz="900" b="0" i="0">
                <a:solidFill>
                  <a:srgbClr val="1F2A37"/>
                </a:solidFill>
                <a:latin typeface="Source Han Sans SC"/>
                <a:ea typeface="Source Han Sans SC"/>
                <a:cs typeface="Source Han Sans SC"/>
              </a:rPr>
              <a:t>CAD 装配体的轴对齐包围盒，含全部外挂件与紧固件</a:t>
            </a:r>
          </a:p>
        </p:txBody>
      </p:sp>
      <p:sp>
        <p:nvSpPr>
          <p:cNvPr id="32" name="Rectangle 31"/>
          <p:cNvSpPr/>
          <p:nvPr/>
        </p:nvSpPr>
        <p:spPr>
          <a:xfrm>
            <a:off x="944575" y="5010912"/>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90879" y="4928616"/>
            <a:ext cx="6986016"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量取姿态　</a:t>
            </a:r>
            <a:r>
              <a:rPr sz="900" b="0" i="0">
                <a:solidFill>
                  <a:srgbClr val="1F2A37"/>
                </a:solidFill>
                <a:latin typeface="Source Han Sans SC"/>
                <a:ea typeface="Source Han Sans SC"/>
                <a:cs typeface="Source Han Sans SC"/>
              </a:rPr>
              <a:t>整机零位（关节归零），与渲染图姿态一致</a:t>
            </a:r>
          </a:p>
        </p:txBody>
      </p:sp>
      <p:sp>
        <p:nvSpPr>
          <p:cNvPr id="34" name="Rectangle 33"/>
          <p:cNvSpPr/>
          <p:nvPr/>
        </p:nvSpPr>
        <p:spPr>
          <a:xfrm>
            <a:off x="944575" y="5340096"/>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090879" y="5257800"/>
            <a:ext cx="6986016"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内部布局门禁　</a:t>
            </a:r>
            <a:r>
              <a:rPr sz="900" b="0" i="0">
                <a:solidFill>
                  <a:srgbClr val="1F2A37"/>
                </a:solidFill>
                <a:latin typeface="Source Han Sans SC"/>
                <a:ea typeface="Source Han Sans SC"/>
                <a:cs typeface="Source Han Sans SC"/>
              </a:rPr>
              <a:t>宽度与高度方向设内部限值，自动化脚本逐项校验</a:t>
            </a:r>
          </a:p>
        </p:txBody>
      </p:sp>
      <p:sp>
        <p:nvSpPr>
          <p:cNvPr id="36" name="TextBox 35"/>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CAD 装配体轴对齐包围盒实算（含全部外挂件与紧固件）</a:t>
            </a:r>
          </a:p>
        </p:txBody>
      </p:sp>
      <p:sp>
        <p:nvSpPr>
          <p:cNvPr id="37" name="TextBox 36"/>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38" name="Rectangle 37"/>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40" name="Rectangle 39"/>
          <p:cNvSpPr/>
          <p:nvPr/>
        </p:nvSpPr>
        <p:spPr>
          <a:xfrm>
            <a:off x="2447239" y="6016752"/>
            <a:ext cx="90449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538679" y="6016752"/>
            <a:ext cx="758190" cy="237744"/>
          </a:xfrm>
          <a:prstGeom prst="rect">
            <a:avLst/>
          </a:prstGeom>
          <a:noFill/>
        </p:spPr>
        <p:txBody>
          <a:bodyPr wrap="square" lIns="0" rIns="0" tIns="0" bIns="0" anchor="ctr">
            <a:spAutoFit/>
          </a:bodyPr>
          <a:lstStyle/>
          <a:p>
            <a:pPr algn="l"/>
            <a:r>
              <a:rPr sz="1050" b="0" i="0">
                <a:solidFill>
                  <a:srgbClr val="1264A3"/>
                </a:solidFill>
                <a:latin typeface="Source Han Sans SC Heavy"/>
                <a:ea typeface="Source Han Sans SC Heavy"/>
                <a:cs typeface="Source Han Sans SC Heavy"/>
              </a:rPr>
              <a:t>◇</a:t>
            </a:r>
            <a:r>
              <a:rPr sz="1050" b="0" i="0">
                <a:solidFill>
                  <a:srgbClr val="1264A3"/>
                </a:solidFill>
                <a:latin typeface="Source Han Sans SC"/>
                <a:ea typeface="Source Han Sans SC"/>
                <a:cs typeface="Source Han Sans SC"/>
              </a:rPr>
              <a:t> 设计目标</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01</a:t>
            </a:r>
            <a:r>
              <a:rPr sz="1000" b="0" i="0">
                <a:solidFill>
                  <a:srgbClr val="6B7A8C"/>
                </a:solidFill>
                <a:latin typeface="Source Han Sans SC"/>
                <a:ea typeface="Source Han Sans SC"/>
                <a:cs typeface="Source Han Sans SC"/>
              </a:rPr>
              <a:t>  构型与总体设计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1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08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结构体系：铝夹层承力与双侧支承</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承力件采用 6061 铝夹层，外壳采用 2.4 mm PETG；髋与腰的侧摆关节改为前后双侧支承，受力路径连续、装配可维护。</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11680"/>
            <a:ext cx="6675120" cy="3054096"/>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81151" y="2176272"/>
            <a:ext cx="1188720" cy="237744"/>
          </a:xfrm>
          <a:prstGeom prst="rect">
            <a:avLst/>
          </a:prstGeom>
          <a:noFill/>
        </p:spPr>
        <p:txBody>
          <a:bodyPr wrap="square" lIns="0" rIns="0" tIns="0" bIns="0" anchor="t">
            <a:spAutoFit/>
          </a:bodyPr>
          <a:lstStyle/>
          <a:p>
            <a:pPr algn="l"/>
            <a:r>
              <a:rPr sz="1050" b="0" i="0">
                <a:solidFill>
                  <a:srgbClr val="0A2540"/>
                </a:solidFill>
                <a:latin typeface="Source Han Sans SC Heavy"/>
                <a:ea typeface="Source Han Sans SC Heavy"/>
                <a:cs typeface="Source Han Sans SC Heavy"/>
              </a:rPr>
              <a:t>承力体系</a:t>
            </a:r>
          </a:p>
        </p:txBody>
      </p:sp>
      <p:sp>
        <p:nvSpPr>
          <p:cNvPr id="12" name="TextBox 11"/>
          <p:cNvSpPr txBox="1"/>
          <p:nvPr/>
        </p:nvSpPr>
        <p:spPr>
          <a:xfrm>
            <a:off x="2243023" y="2157984"/>
            <a:ext cx="4974336" cy="402336"/>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开放骨盆框架 + 局部角铝转接，去掉整块大板，受力路径连续</a:t>
            </a:r>
          </a:p>
        </p:txBody>
      </p:sp>
      <p:sp>
        <p:nvSpPr>
          <p:cNvPr id="13" name="TextBox 12"/>
          <p:cNvSpPr txBox="1"/>
          <p:nvPr/>
        </p:nvSpPr>
        <p:spPr>
          <a:xfrm>
            <a:off x="981151" y="2670048"/>
            <a:ext cx="1188720" cy="237744"/>
          </a:xfrm>
          <a:prstGeom prst="rect">
            <a:avLst/>
          </a:prstGeom>
          <a:noFill/>
        </p:spPr>
        <p:txBody>
          <a:bodyPr wrap="square" lIns="0" rIns="0" tIns="0" bIns="0" anchor="t">
            <a:spAutoFit/>
          </a:bodyPr>
          <a:lstStyle/>
          <a:p>
            <a:pPr algn="l"/>
            <a:r>
              <a:rPr sz="1050" b="0" i="0">
                <a:solidFill>
                  <a:srgbClr val="0A2540"/>
                </a:solidFill>
                <a:latin typeface="Source Han Sans SC Heavy"/>
                <a:ea typeface="Source Han Sans SC Heavy"/>
                <a:cs typeface="Source Han Sans SC Heavy"/>
              </a:rPr>
              <a:t>双侧支承</a:t>
            </a:r>
          </a:p>
        </p:txBody>
      </p:sp>
      <p:sp>
        <p:nvSpPr>
          <p:cNvPr id="14" name="TextBox 13"/>
          <p:cNvSpPr txBox="1"/>
          <p:nvPr/>
        </p:nvSpPr>
        <p:spPr>
          <a:xfrm>
            <a:off x="2243023" y="2651760"/>
            <a:ext cx="4974336" cy="402336"/>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髋侧摆与腰侧摆改为前后双侧支承（角铝 + 自由后盘 + 轴端保持件）</a:t>
            </a:r>
          </a:p>
        </p:txBody>
      </p:sp>
      <p:sp>
        <p:nvSpPr>
          <p:cNvPr id="15" name="TextBox 14"/>
          <p:cNvSpPr txBox="1"/>
          <p:nvPr/>
        </p:nvSpPr>
        <p:spPr>
          <a:xfrm>
            <a:off x="981151" y="3163824"/>
            <a:ext cx="1188720" cy="237744"/>
          </a:xfrm>
          <a:prstGeom prst="rect">
            <a:avLst/>
          </a:prstGeom>
          <a:noFill/>
        </p:spPr>
        <p:txBody>
          <a:bodyPr wrap="square" lIns="0" rIns="0" tIns="0" bIns="0" anchor="t">
            <a:spAutoFit/>
          </a:bodyPr>
          <a:lstStyle/>
          <a:p>
            <a:pPr algn="l"/>
            <a:r>
              <a:rPr sz="1050" b="0" i="0">
                <a:solidFill>
                  <a:srgbClr val="0A2540"/>
                </a:solidFill>
                <a:latin typeface="Source Han Sans SC Heavy"/>
                <a:ea typeface="Source Han Sans SC Heavy"/>
                <a:cs typeface="Source Han Sans SC Heavy"/>
              </a:rPr>
              <a:t>腿部</a:t>
            </a:r>
          </a:p>
        </p:txBody>
      </p:sp>
      <p:sp>
        <p:nvSpPr>
          <p:cNvPr id="16" name="TextBox 15"/>
          <p:cNvSpPr txBox="1"/>
          <p:nvPr/>
        </p:nvSpPr>
        <p:spPr>
          <a:xfrm>
            <a:off x="2243023" y="3145536"/>
            <a:ext cx="4974336" cy="402336"/>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大腿后板连续斜撑避开髋部凸起；12 mm 筋加强；3 mm 足板开窗减重</a:t>
            </a:r>
          </a:p>
        </p:txBody>
      </p:sp>
      <p:sp>
        <p:nvSpPr>
          <p:cNvPr id="17" name="TextBox 16"/>
          <p:cNvSpPr txBox="1"/>
          <p:nvPr/>
        </p:nvSpPr>
        <p:spPr>
          <a:xfrm>
            <a:off x="981151" y="3657600"/>
            <a:ext cx="1188720" cy="237744"/>
          </a:xfrm>
          <a:prstGeom prst="rect">
            <a:avLst/>
          </a:prstGeom>
          <a:noFill/>
        </p:spPr>
        <p:txBody>
          <a:bodyPr wrap="square" lIns="0" rIns="0" tIns="0" bIns="0" anchor="t">
            <a:spAutoFit/>
          </a:bodyPr>
          <a:lstStyle/>
          <a:p>
            <a:pPr algn="l"/>
            <a:r>
              <a:rPr sz="1050" b="0" i="0">
                <a:solidFill>
                  <a:srgbClr val="0A2540"/>
                </a:solidFill>
                <a:latin typeface="Source Han Sans SC Heavy"/>
                <a:ea typeface="Source Han Sans SC Heavy"/>
                <a:cs typeface="Source Han Sans SC Heavy"/>
              </a:rPr>
              <a:t>末端</a:t>
            </a:r>
          </a:p>
        </p:txBody>
      </p:sp>
      <p:sp>
        <p:nvSpPr>
          <p:cNvPr id="18" name="TextBox 17"/>
          <p:cNvSpPr txBox="1"/>
          <p:nvPr/>
        </p:nvSpPr>
        <p:spPr>
          <a:xfrm>
            <a:off x="2243023" y="3639312"/>
            <a:ext cx="4974336" cy="402336"/>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单舵机两指夹爪：固定指 + 活动指 + 指垫，开合 0–60°</a:t>
            </a:r>
          </a:p>
        </p:txBody>
      </p:sp>
      <p:sp>
        <p:nvSpPr>
          <p:cNvPr id="19" name="TextBox 18"/>
          <p:cNvSpPr txBox="1"/>
          <p:nvPr/>
        </p:nvSpPr>
        <p:spPr>
          <a:xfrm>
            <a:off x="981151" y="4151376"/>
            <a:ext cx="1188720" cy="237744"/>
          </a:xfrm>
          <a:prstGeom prst="rect">
            <a:avLst/>
          </a:prstGeom>
          <a:noFill/>
        </p:spPr>
        <p:txBody>
          <a:bodyPr wrap="square" lIns="0" rIns="0" tIns="0" bIns="0" anchor="t">
            <a:spAutoFit/>
          </a:bodyPr>
          <a:lstStyle/>
          <a:p>
            <a:pPr algn="l"/>
            <a:r>
              <a:rPr sz="1050" b="0" i="0">
                <a:solidFill>
                  <a:srgbClr val="0A2540"/>
                </a:solidFill>
                <a:latin typeface="Source Han Sans SC Heavy"/>
                <a:ea typeface="Source Han Sans SC Heavy"/>
                <a:cs typeface="Source Han Sans SC Heavy"/>
              </a:rPr>
              <a:t>外壳</a:t>
            </a:r>
          </a:p>
        </p:txBody>
      </p:sp>
      <p:sp>
        <p:nvSpPr>
          <p:cNvPr id="20" name="TextBox 19"/>
          <p:cNvSpPr txBox="1"/>
          <p:nvPr/>
        </p:nvSpPr>
        <p:spPr>
          <a:xfrm>
            <a:off x="2243023" y="4133088"/>
            <a:ext cx="4974336" cy="402336"/>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头/胸外壳分件，2.4 mm 哑光白 PETG，隐藏走线与紧固件</a:t>
            </a:r>
          </a:p>
        </p:txBody>
      </p:sp>
      <p:sp>
        <p:nvSpPr>
          <p:cNvPr id="21" name="TextBox 20"/>
          <p:cNvSpPr txBox="1"/>
          <p:nvPr/>
        </p:nvSpPr>
        <p:spPr>
          <a:xfrm>
            <a:off x="981151" y="4645152"/>
            <a:ext cx="1188720" cy="237744"/>
          </a:xfrm>
          <a:prstGeom prst="rect">
            <a:avLst/>
          </a:prstGeom>
          <a:noFill/>
        </p:spPr>
        <p:txBody>
          <a:bodyPr wrap="square" lIns="0" rIns="0" tIns="0" bIns="0" anchor="t">
            <a:spAutoFit/>
          </a:bodyPr>
          <a:lstStyle/>
          <a:p>
            <a:pPr algn="l"/>
            <a:r>
              <a:rPr sz="1050" b="0" i="0">
                <a:solidFill>
                  <a:srgbClr val="0A2540"/>
                </a:solidFill>
                <a:latin typeface="Source Han Sans SC Heavy"/>
                <a:ea typeface="Source Han Sans SC Heavy"/>
                <a:cs typeface="Source Han Sans SC Heavy"/>
              </a:rPr>
              <a:t>扩展位</a:t>
            </a:r>
          </a:p>
        </p:txBody>
      </p:sp>
      <p:sp>
        <p:nvSpPr>
          <p:cNvPr id="22" name="TextBox 21"/>
          <p:cNvSpPr txBox="1"/>
          <p:nvPr/>
        </p:nvSpPr>
        <p:spPr>
          <a:xfrm>
            <a:off x="2243023" y="4626864"/>
            <a:ext cx="4974336" cy="402336"/>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头部前侧预留 20×24×1.6 mm 测距传感夹扣位</a:t>
            </a:r>
          </a:p>
        </p:txBody>
      </p:sp>
      <p:sp>
        <p:nvSpPr>
          <p:cNvPr id="23" name="Rectangle 22"/>
          <p:cNvSpPr/>
          <p:nvPr/>
        </p:nvSpPr>
        <p:spPr>
          <a:xfrm>
            <a:off x="7711135" y="2011680"/>
            <a:ext cx="3719139" cy="3054096"/>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detail_pelvis.jpg"/>
          <p:cNvPicPr>
            <a:picLocks noChangeAspect="1"/>
          </p:cNvPicPr>
          <p:nvPr/>
        </p:nvPicPr>
        <p:blipFill>
          <a:blip r:embed="rId2"/>
          <a:stretch>
            <a:fillRect/>
          </a:stretch>
        </p:blipFill>
        <p:spPr>
          <a:xfrm>
            <a:off x="7839440" y="2103120"/>
            <a:ext cx="3462527" cy="2596896"/>
          </a:xfrm>
          <a:prstGeom prst="rect">
            <a:avLst/>
          </a:prstGeom>
        </p:spPr>
      </p:pic>
      <p:sp>
        <p:nvSpPr>
          <p:cNvPr id="25" name="TextBox 24"/>
          <p:cNvSpPr txBox="1"/>
          <p:nvPr/>
        </p:nvSpPr>
        <p:spPr>
          <a:xfrm>
            <a:off x="7857439" y="4846320"/>
            <a:ext cx="3426531" cy="219456"/>
          </a:xfrm>
          <a:prstGeom prst="rect">
            <a:avLst/>
          </a:prstGeom>
          <a:noFill/>
        </p:spPr>
        <p:txBody>
          <a:bodyPr wrap="square" lIns="0" rIns="0" tIns="0" bIns="0" anchor="t">
            <a:spAutoFit/>
          </a:bodyPr>
          <a:lstStyle/>
          <a:p>
            <a:pPr algn="l">
              <a:lnSpc>
                <a:spcPct val="120000"/>
              </a:lnSpc>
            </a:pPr>
            <a:r>
              <a:rPr sz="850" b="0" i="0">
                <a:solidFill>
                  <a:srgbClr val="0A2540"/>
                </a:solidFill>
                <a:latin typeface="Source Han Sans SC Heavy"/>
                <a:ea typeface="Source Han Sans SC Heavy"/>
                <a:cs typeface="Source Han Sans SC Heavy"/>
              </a:rPr>
              <a:t>图 1-3　髋腰双侧支撑（CAD 渲染）</a:t>
            </a:r>
          </a:p>
        </p:txBody>
      </p:sp>
      <p:sp>
        <p:nvSpPr>
          <p:cNvPr id="26" name="Rectangle 25"/>
          <p:cNvSpPr/>
          <p:nvPr/>
        </p:nvSpPr>
        <p:spPr>
          <a:xfrm>
            <a:off x="761695" y="5212080"/>
            <a:ext cx="10668579" cy="60350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81151" y="5303520"/>
            <a:ext cx="10229667" cy="438912"/>
          </a:xfrm>
          <a:prstGeom prst="rect">
            <a:avLst/>
          </a:prstGeom>
          <a:noFill/>
        </p:spPr>
        <p:txBody>
          <a:bodyPr wrap="square" lIns="0" rIns="0" tIns="0" bIns="0" anchor="t">
            <a:spAutoFit/>
          </a:bodyPr>
          <a:lstStyle/>
          <a:p>
            <a:pPr algn="l">
              <a:lnSpc>
                <a:spcPct val="126000"/>
              </a:lnSpc>
            </a:pPr>
            <a:r>
              <a:rPr sz="900" b="0" i="0">
                <a:solidFill>
                  <a:srgbClr val="0A2540"/>
                </a:solidFill>
                <a:latin typeface="Source Han Sans SC Heavy"/>
                <a:ea typeface="Source Han Sans SC Heavy"/>
                <a:cs typeface="Source Han Sans SC Heavy"/>
              </a:rPr>
              <a:t>装配可实现性：</a:t>
            </a:r>
            <a:r>
              <a:rPr sz="900" b="0" i="0">
                <a:solidFill>
                  <a:srgbClr val="1F2A37"/>
                </a:solidFill>
                <a:latin typeface="Source Han Sans SC"/>
                <a:ea typeface="Source Han Sans SC"/>
                <a:cs typeface="Source Han Sans SC"/>
              </a:rPr>
              <a:t>骨盆输出转接件按中框碰撞域重画，左右前转接件在零位均无干涉；足板加高使踝关节笼离地，垫面为全机最低点。</a:t>
            </a:r>
          </a:p>
        </p:txBody>
      </p:sp>
      <p:sp>
        <p:nvSpPr>
          <p:cNvPr id="28" name="TextBox 27"/>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同源装配体几何审查 + 抽样构型扫描；材料与工艺为制造方案口径</a:t>
            </a:r>
          </a:p>
        </p:txBody>
      </p:sp>
      <p:sp>
        <p:nvSpPr>
          <p:cNvPr id="29" name="TextBox 28"/>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30" name="Rectangle 29"/>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32" name="Rectangle 31"/>
          <p:cNvSpPr/>
          <p:nvPr/>
        </p:nvSpPr>
        <p:spPr>
          <a:xfrm>
            <a:off x="2447239" y="6016752"/>
            <a:ext cx="90449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538679" y="6016752"/>
            <a:ext cx="758190" cy="237744"/>
          </a:xfrm>
          <a:prstGeom prst="rect">
            <a:avLst/>
          </a:prstGeom>
          <a:noFill/>
        </p:spPr>
        <p:txBody>
          <a:bodyPr wrap="square" lIns="0" rIns="0" tIns="0" bIns="0" anchor="ctr">
            <a:spAutoFit/>
          </a:bodyPr>
          <a:lstStyle/>
          <a:p>
            <a:pPr algn="l"/>
            <a:r>
              <a:rPr sz="1050" b="0" i="0">
                <a:solidFill>
                  <a:srgbClr val="1264A3"/>
                </a:solidFill>
                <a:latin typeface="Source Han Sans SC Heavy"/>
                <a:ea typeface="Source Han Sans SC Heavy"/>
                <a:cs typeface="Source Han Sans SC Heavy"/>
              </a:rPr>
              <a:t>◇</a:t>
            </a:r>
            <a:r>
              <a:rPr sz="1050" b="0" i="0">
                <a:solidFill>
                  <a:srgbClr val="1264A3"/>
                </a:solidFill>
                <a:latin typeface="Source Han Sans SC"/>
                <a:ea typeface="Source Han Sans SC"/>
                <a:cs typeface="Source Han Sans SC"/>
              </a:rPr>
              <a:t> 设计目标</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01</a:t>
            </a:r>
            <a:r>
              <a:rPr sz="1000" b="0" i="0">
                <a:solidFill>
                  <a:srgbClr val="6B7A8C"/>
                </a:solidFill>
                <a:latin typeface="Source Han Sans SC"/>
                <a:ea typeface="Source Han Sans SC"/>
                <a:cs typeface="Source Han Sans SC"/>
              </a:rPr>
              <a:t>  构型与总体设计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1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09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质量账与轻量化路径</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整机质量按八个分项逐项建账，几何件按实体体积与材料密度换算，采购件按厂家标称质量计。</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816352"/>
            <a:ext cx="1497280" cy="530352"/>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2258975" y="2816352"/>
            <a:ext cx="513052" cy="530352"/>
          </a:xfrm>
          <a:prstGeom prst="rect">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2772028" y="2816352"/>
            <a:ext cx="113378" cy="530352"/>
          </a:xfrm>
          <a:prstGeom prst="rect">
            <a:avLst/>
          </a:prstGeom>
          <a:solidFill>
            <a:srgbClr val="6FA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885406" y="2816352"/>
            <a:ext cx="1120111" cy="530352"/>
          </a:xfrm>
          <a:prstGeom prst="rect">
            <a:avLst/>
          </a:prstGeom>
          <a:solidFill>
            <a:srgbClr val="DCE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005518" y="2816352"/>
            <a:ext cx="26492" cy="530352"/>
          </a:xfrm>
          <a:prstGeom prst="rect">
            <a:avLst/>
          </a:prstGeom>
          <a:solidFill>
            <a:srgbClr val="9CC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032011" y="2816352"/>
            <a:ext cx="3133578" cy="53035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165590" y="2816352"/>
            <a:ext cx="481431" cy="530352"/>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647021" y="2816352"/>
            <a:ext cx="148132" cy="530352"/>
          </a:xfrm>
          <a:prstGeom prst="rect">
            <a:avLst/>
          </a:prstGeom>
          <a:solidFill>
            <a:srgbClr val="C7D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87375" y="3401568"/>
            <a:ext cx="548640" cy="182880"/>
          </a:xfrm>
          <a:prstGeom prst="rect">
            <a:avLst/>
          </a:prstGeom>
          <a:noFill/>
        </p:spPr>
        <p:txBody>
          <a:bodyPr wrap="square" lIns="0" rIns="0" tIns="0" bIns="0" anchor="t">
            <a:spAutoFit/>
          </a:bodyPr>
          <a:lstStyle/>
          <a:p>
            <a:pPr algn="ctr"/>
            <a:r>
              <a:rPr sz="800" b="0" i="0">
                <a:solidFill>
                  <a:srgbClr val="6B7A8C"/>
                </a:solidFill>
                <a:latin typeface="Source Han Sans SC"/>
                <a:ea typeface="Source Han Sans SC"/>
                <a:cs typeface="Source Han Sans SC"/>
              </a:rPr>
              <a:t>0</a:t>
            </a:r>
          </a:p>
        </p:txBody>
      </p:sp>
      <p:sp>
        <p:nvSpPr>
          <p:cNvPr id="19" name="TextBox 18"/>
          <p:cNvSpPr txBox="1"/>
          <p:nvPr/>
        </p:nvSpPr>
        <p:spPr>
          <a:xfrm>
            <a:off x="3336082" y="3401568"/>
            <a:ext cx="548640" cy="182880"/>
          </a:xfrm>
          <a:prstGeom prst="rect">
            <a:avLst/>
          </a:prstGeom>
          <a:noFill/>
        </p:spPr>
        <p:txBody>
          <a:bodyPr wrap="square" lIns="0" rIns="0" tIns="0" bIns="0" anchor="t">
            <a:spAutoFit/>
          </a:bodyPr>
          <a:lstStyle/>
          <a:p>
            <a:pPr algn="ctr"/>
            <a:r>
              <a:rPr sz="800" b="0" i="0">
                <a:solidFill>
                  <a:srgbClr val="6B7A8C"/>
                </a:solidFill>
                <a:latin typeface="Source Han Sans SC"/>
                <a:ea typeface="Source Han Sans SC"/>
                <a:cs typeface="Source Han Sans SC"/>
              </a:rPr>
              <a:t>1000</a:t>
            </a:r>
          </a:p>
        </p:txBody>
      </p:sp>
      <p:sp>
        <p:nvSpPr>
          <p:cNvPr id="20" name="TextBox 19"/>
          <p:cNvSpPr txBox="1"/>
          <p:nvPr/>
        </p:nvSpPr>
        <p:spPr>
          <a:xfrm>
            <a:off x="6184790" y="3401568"/>
            <a:ext cx="548640" cy="182880"/>
          </a:xfrm>
          <a:prstGeom prst="rect">
            <a:avLst/>
          </a:prstGeom>
          <a:noFill/>
        </p:spPr>
        <p:txBody>
          <a:bodyPr wrap="square" lIns="0" rIns="0" tIns="0" bIns="0" anchor="t">
            <a:spAutoFit/>
          </a:bodyPr>
          <a:lstStyle/>
          <a:p>
            <a:pPr algn="ctr"/>
            <a:r>
              <a:rPr sz="800" b="0" i="0">
                <a:solidFill>
                  <a:srgbClr val="6B7A8C"/>
                </a:solidFill>
                <a:latin typeface="Source Han Sans SC"/>
                <a:ea typeface="Source Han Sans SC"/>
                <a:cs typeface="Source Han Sans SC"/>
              </a:rPr>
              <a:t>2000</a:t>
            </a:r>
          </a:p>
        </p:txBody>
      </p:sp>
      <p:sp>
        <p:nvSpPr>
          <p:cNvPr id="21" name="Rectangle 20"/>
          <p:cNvSpPr/>
          <p:nvPr/>
        </p:nvSpPr>
        <p:spPr>
          <a:xfrm>
            <a:off x="761695" y="3707891"/>
            <a:ext cx="105156" cy="105156"/>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44575" y="3648456"/>
            <a:ext cx="3108960" cy="219456"/>
          </a:xfrm>
          <a:prstGeom prst="rect">
            <a:avLst/>
          </a:prstGeom>
          <a:noFill/>
        </p:spPr>
        <p:txBody>
          <a:bodyPr wrap="square" lIns="0" rIns="0" tIns="0" bIns="0" anchor="t">
            <a:spAutoFit/>
          </a:bodyPr>
          <a:lstStyle/>
          <a:p>
            <a:pPr algn="l"/>
            <a:r>
              <a:rPr sz="900" b="0" i="0">
                <a:solidFill>
                  <a:srgbClr val="1F2A37"/>
                </a:solidFill>
                <a:latin typeface="Source Han Sans SC"/>
                <a:ea typeface="Source Han Sans SC"/>
                <a:cs typeface="Source Han Sans SC"/>
              </a:rPr>
              <a:t>铝合金件 525.6 g</a:t>
            </a:r>
          </a:p>
        </p:txBody>
      </p:sp>
      <p:sp>
        <p:nvSpPr>
          <p:cNvPr id="23" name="Rectangle 22"/>
          <p:cNvSpPr/>
          <p:nvPr/>
        </p:nvSpPr>
        <p:spPr>
          <a:xfrm>
            <a:off x="3157423" y="3707891"/>
            <a:ext cx="105156" cy="105156"/>
          </a:xfrm>
          <a:prstGeom prst="rect">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340303" y="3648456"/>
            <a:ext cx="3108960" cy="219456"/>
          </a:xfrm>
          <a:prstGeom prst="rect">
            <a:avLst/>
          </a:prstGeom>
          <a:noFill/>
        </p:spPr>
        <p:txBody>
          <a:bodyPr wrap="square" lIns="0" rIns="0" tIns="0" bIns="0" anchor="t">
            <a:spAutoFit/>
          </a:bodyPr>
          <a:lstStyle/>
          <a:p>
            <a:pPr algn="l"/>
            <a:r>
              <a:rPr sz="900" b="0" i="0">
                <a:solidFill>
                  <a:srgbClr val="1F2A37"/>
                </a:solidFill>
                <a:latin typeface="Source Han Sans SC"/>
                <a:ea typeface="Source Han Sans SC"/>
                <a:cs typeface="Source Han Sans SC"/>
              </a:rPr>
              <a:t>PETG 外壳 180.1 g</a:t>
            </a:r>
          </a:p>
        </p:txBody>
      </p:sp>
      <p:sp>
        <p:nvSpPr>
          <p:cNvPr id="25" name="Rectangle 24"/>
          <p:cNvSpPr/>
          <p:nvPr/>
        </p:nvSpPr>
        <p:spPr>
          <a:xfrm>
            <a:off x="5553151" y="3707891"/>
            <a:ext cx="105156" cy="105156"/>
          </a:xfrm>
          <a:prstGeom prst="rect">
            <a:avLst/>
          </a:prstGeom>
          <a:solidFill>
            <a:srgbClr val="6FA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736031" y="3648456"/>
            <a:ext cx="3108960" cy="219456"/>
          </a:xfrm>
          <a:prstGeom prst="rect">
            <a:avLst/>
          </a:prstGeom>
          <a:noFill/>
        </p:spPr>
        <p:txBody>
          <a:bodyPr wrap="square" lIns="0" rIns="0" tIns="0" bIns="0" anchor="t">
            <a:spAutoFit/>
          </a:bodyPr>
          <a:lstStyle/>
          <a:p>
            <a:pPr algn="l"/>
            <a:r>
              <a:rPr sz="900" b="0" i="0">
                <a:solidFill>
                  <a:srgbClr val="1F2A37"/>
                </a:solidFill>
                <a:latin typeface="Source Han Sans SC"/>
                <a:ea typeface="Source Han Sans SC"/>
                <a:cs typeface="Source Han Sans SC"/>
              </a:rPr>
              <a:t>TPU 件 39.8 g</a:t>
            </a:r>
          </a:p>
        </p:txBody>
      </p:sp>
      <p:sp>
        <p:nvSpPr>
          <p:cNvPr id="27" name="Rectangle 26"/>
          <p:cNvSpPr/>
          <p:nvPr/>
        </p:nvSpPr>
        <p:spPr>
          <a:xfrm>
            <a:off x="761695" y="3982211"/>
            <a:ext cx="105156" cy="105156"/>
          </a:xfrm>
          <a:prstGeom prst="rect">
            <a:avLst/>
          </a:prstGeom>
          <a:solidFill>
            <a:srgbClr val="DCE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44575" y="3922776"/>
            <a:ext cx="3108960" cy="219456"/>
          </a:xfrm>
          <a:prstGeom prst="rect">
            <a:avLst/>
          </a:prstGeom>
          <a:noFill/>
        </p:spPr>
        <p:txBody>
          <a:bodyPr wrap="square" lIns="0" rIns="0" tIns="0" bIns="0" anchor="t">
            <a:spAutoFit/>
          </a:bodyPr>
          <a:lstStyle/>
          <a:p>
            <a:pPr algn="l"/>
            <a:r>
              <a:rPr sz="900" b="0" i="0">
                <a:solidFill>
                  <a:srgbClr val="1F2A37"/>
                </a:solidFill>
                <a:latin typeface="Source Han Sans SC"/>
                <a:ea typeface="Source Han Sans SC"/>
                <a:cs typeface="Source Han Sans SC"/>
              </a:rPr>
              <a:t>紧固件 393.2 g</a:t>
            </a:r>
          </a:p>
        </p:txBody>
      </p:sp>
      <p:sp>
        <p:nvSpPr>
          <p:cNvPr id="29" name="Rectangle 28"/>
          <p:cNvSpPr/>
          <p:nvPr/>
        </p:nvSpPr>
        <p:spPr>
          <a:xfrm>
            <a:off x="3157423" y="3982211"/>
            <a:ext cx="105156" cy="105156"/>
          </a:xfrm>
          <a:prstGeom prst="rect">
            <a:avLst/>
          </a:prstGeom>
          <a:solidFill>
            <a:srgbClr val="9CC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340303" y="3922776"/>
            <a:ext cx="3108960" cy="219456"/>
          </a:xfrm>
          <a:prstGeom prst="rect">
            <a:avLst/>
          </a:prstGeom>
          <a:noFill/>
        </p:spPr>
        <p:txBody>
          <a:bodyPr wrap="square" lIns="0" rIns="0" tIns="0" bIns="0" anchor="t">
            <a:spAutoFit/>
          </a:bodyPr>
          <a:lstStyle/>
          <a:p>
            <a:pPr algn="l"/>
            <a:r>
              <a:rPr sz="900" b="0" i="0">
                <a:solidFill>
                  <a:srgbClr val="1F2A37"/>
                </a:solidFill>
                <a:latin typeface="Source Han Sans SC"/>
                <a:ea typeface="Source Han Sans SC"/>
                <a:cs typeface="Source Han Sans SC"/>
              </a:rPr>
              <a:t>隔柱 9.3 g</a:t>
            </a:r>
          </a:p>
        </p:txBody>
      </p:sp>
      <p:sp>
        <p:nvSpPr>
          <p:cNvPr id="31" name="Rectangle 30"/>
          <p:cNvSpPr/>
          <p:nvPr/>
        </p:nvSpPr>
        <p:spPr>
          <a:xfrm>
            <a:off x="5553151" y="3982211"/>
            <a:ext cx="105156" cy="10515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736031" y="3922776"/>
            <a:ext cx="3108960" cy="219456"/>
          </a:xfrm>
          <a:prstGeom prst="rect">
            <a:avLst/>
          </a:prstGeom>
          <a:noFill/>
        </p:spPr>
        <p:txBody>
          <a:bodyPr wrap="square" lIns="0" rIns="0" tIns="0" bIns="0" anchor="t">
            <a:spAutoFit/>
          </a:bodyPr>
          <a:lstStyle/>
          <a:p>
            <a:pPr algn="l"/>
            <a:r>
              <a:rPr sz="900" b="0" i="0">
                <a:solidFill>
                  <a:srgbClr val="1F2A37"/>
                </a:solidFill>
                <a:latin typeface="Source Han Sans SC"/>
                <a:ea typeface="Source Han Sans SC"/>
                <a:cs typeface="Source Han Sans SC"/>
              </a:rPr>
              <a:t>舵机 ×20 1100 g</a:t>
            </a:r>
          </a:p>
        </p:txBody>
      </p:sp>
      <p:sp>
        <p:nvSpPr>
          <p:cNvPr id="33" name="Rectangle 32"/>
          <p:cNvSpPr/>
          <p:nvPr/>
        </p:nvSpPr>
        <p:spPr>
          <a:xfrm>
            <a:off x="761695" y="4256531"/>
            <a:ext cx="105156" cy="105156"/>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44575" y="4197096"/>
            <a:ext cx="3108960" cy="219456"/>
          </a:xfrm>
          <a:prstGeom prst="rect">
            <a:avLst/>
          </a:prstGeom>
          <a:noFill/>
        </p:spPr>
        <p:txBody>
          <a:bodyPr wrap="square" lIns="0" rIns="0" tIns="0" bIns="0" anchor="t">
            <a:spAutoFit/>
          </a:bodyPr>
          <a:lstStyle/>
          <a:p>
            <a:pPr algn="l"/>
            <a:r>
              <a:rPr sz="900" b="0" i="0">
                <a:solidFill>
                  <a:srgbClr val="1F2A37"/>
                </a:solidFill>
                <a:latin typeface="Source Han Sans SC"/>
                <a:ea typeface="Source Han Sans SC"/>
                <a:cs typeface="Source Han Sans SC"/>
              </a:rPr>
              <a:t>电池包 169 g</a:t>
            </a:r>
          </a:p>
        </p:txBody>
      </p:sp>
      <p:sp>
        <p:nvSpPr>
          <p:cNvPr id="35" name="Rectangle 34"/>
          <p:cNvSpPr/>
          <p:nvPr/>
        </p:nvSpPr>
        <p:spPr>
          <a:xfrm>
            <a:off x="3157423" y="4256531"/>
            <a:ext cx="105156" cy="105156"/>
          </a:xfrm>
          <a:prstGeom prst="rect">
            <a:avLst/>
          </a:prstGeom>
          <a:solidFill>
            <a:srgbClr val="C7D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340303" y="4197096"/>
            <a:ext cx="3108960" cy="219456"/>
          </a:xfrm>
          <a:prstGeom prst="rect">
            <a:avLst/>
          </a:prstGeom>
          <a:noFill/>
        </p:spPr>
        <p:txBody>
          <a:bodyPr wrap="square" lIns="0" rIns="0" tIns="0" bIns="0" anchor="t">
            <a:spAutoFit/>
          </a:bodyPr>
          <a:lstStyle/>
          <a:p>
            <a:pPr algn="l"/>
            <a:r>
              <a:rPr sz="900" b="0" i="0">
                <a:solidFill>
                  <a:srgbClr val="1F2A37"/>
                </a:solidFill>
                <a:latin typeface="Source Han Sans SC"/>
                <a:ea typeface="Source Han Sans SC"/>
                <a:cs typeface="Source Han Sans SC"/>
              </a:rPr>
              <a:t>主控板 52 g</a:t>
            </a:r>
          </a:p>
        </p:txBody>
      </p:sp>
      <p:sp>
        <p:nvSpPr>
          <p:cNvPr id="37" name="TextBox 36"/>
          <p:cNvSpPr txBox="1"/>
          <p:nvPr/>
        </p:nvSpPr>
        <p:spPr>
          <a:xfrm>
            <a:off x="761695" y="2487168"/>
            <a:ext cx="7406640" cy="256032"/>
          </a:xfrm>
          <a:prstGeom prst="rect">
            <a:avLst/>
          </a:prstGeom>
          <a:noFill/>
        </p:spPr>
        <p:txBody>
          <a:bodyPr wrap="square" lIns="0" rIns="0" tIns="0" bIns="0" anchor="t">
            <a:spAutoFit/>
          </a:bodyPr>
          <a:lstStyle/>
          <a:p>
            <a:pPr algn="l"/>
            <a:r>
              <a:rPr sz="1200" b="0" i="0">
                <a:solidFill>
                  <a:srgbClr val="0A2540"/>
                </a:solidFill>
                <a:latin typeface="Source Han Sans SC Heavy"/>
                <a:ea typeface="Source Han Sans SC Heavy"/>
                <a:cs typeface="Source Han Sans SC Heavy"/>
              </a:rPr>
              <a:t>已计质量 ≈ 2469 g（设计目标 2300 g）</a:t>
            </a:r>
          </a:p>
        </p:txBody>
      </p:sp>
      <p:sp>
        <p:nvSpPr>
          <p:cNvPr id="38" name="Rectangle 37"/>
          <p:cNvSpPr/>
          <p:nvPr/>
        </p:nvSpPr>
        <p:spPr>
          <a:xfrm>
            <a:off x="8735263" y="2231136"/>
            <a:ext cx="2695011" cy="1188720"/>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8735263" y="2231136"/>
            <a:ext cx="41148" cy="1188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954719" y="2359152"/>
            <a:ext cx="2329251" cy="552450"/>
          </a:xfrm>
          <a:prstGeom prst="rect">
            <a:avLst/>
          </a:prstGeom>
          <a:noFill/>
        </p:spPr>
        <p:txBody>
          <a:bodyPr wrap="square" lIns="0" rIns="0" tIns="0" bIns="0" anchor="t">
            <a:spAutoFit/>
          </a:bodyPr>
          <a:lstStyle/>
          <a:p>
            <a:pPr algn="l">
              <a:lnSpc>
                <a:spcPct val="100000"/>
              </a:lnSpc>
            </a:pPr>
            <a:r>
              <a:rPr sz="3000" b="0" i="0">
                <a:solidFill>
                  <a:srgbClr val="0A2540"/>
                </a:solidFill>
                <a:latin typeface="Source Han Sans SC Heavy"/>
                <a:ea typeface="Source Han Sans SC Heavy"/>
                <a:cs typeface="Source Han Sans SC Heavy"/>
              </a:rPr>
              <a:t>2469</a:t>
            </a:r>
            <a:r>
              <a:rPr sz="1500" b="0" i="0">
                <a:solidFill>
                  <a:srgbClr val="0A2540"/>
                </a:solidFill>
                <a:latin typeface="Source Han Sans SC Heavy"/>
                <a:ea typeface="Source Han Sans SC Heavy"/>
                <a:cs typeface="Source Han Sans SC Heavy"/>
              </a:rPr>
              <a:t> 克</a:t>
            </a:r>
          </a:p>
        </p:txBody>
      </p:sp>
      <p:sp>
        <p:nvSpPr>
          <p:cNvPr id="41" name="TextBox 40"/>
          <p:cNvSpPr txBox="1"/>
          <p:nvPr/>
        </p:nvSpPr>
        <p:spPr>
          <a:xfrm>
            <a:off x="8954719" y="2984754"/>
            <a:ext cx="2329251" cy="361949"/>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八类分项累加：铝合金 525.6 + 舵机 1100.0 为主要项</a:t>
            </a:r>
          </a:p>
        </p:txBody>
      </p:sp>
      <p:sp>
        <p:nvSpPr>
          <p:cNvPr id="42" name="Rectangle 41"/>
          <p:cNvSpPr/>
          <p:nvPr/>
        </p:nvSpPr>
        <p:spPr>
          <a:xfrm>
            <a:off x="8735263" y="3529584"/>
            <a:ext cx="2695011" cy="1188720"/>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8735263" y="3529584"/>
            <a:ext cx="41148" cy="1188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954719" y="3657600"/>
            <a:ext cx="2329251" cy="478789"/>
          </a:xfrm>
          <a:prstGeom prst="rect">
            <a:avLst/>
          </a:prstGeom>
          <a:noFill/>
        </p:spPr>
        <p:txBody>
          <a:bodyPr wrap="square" lIns="0" rIns="0" tIns="0" bIns="0" anchor="t">
            <a:spAutoFit/>
          </a:bodyPr>
          <a:lstStyle/>
          <a:p>
            <a:pPr algn="l">
              <a:lnSpc>
                <a:spcPct val="100000"/>
              </a:lnSpc>
            </a:pPr>
            <a:r>
              <a:rPr sz="2600" b="0" i="0">
                <a:solidFill>
                  <a:srgbClr val="0A2540"/>
                </a:solidFill>
                <a:latin typeface="Source Han Sans SC Heavy"/>
                <a:ea typeface="Source Han Sans SC Heavy"/>
                <a:cs typeface="Source Han Sans SC Heavy"/>
              </a:rPr>
              <a:t>2300</a:t>
            </a:r>
            <a:r>
              <a:rPr sz="1500" b="0" i="0">
                <a:solidFill>
                  <a:srgbClr val="0A2540"/>
                </a:solidFill>
                <a:latin typeface="Source Han Sans SC Heavy"/>
                <a:ea typeface="Source Han Sans SC Heavy"/>
                <a:cs typeface="Source Han Sans SC Heavy"/>
              </a:rPr>
              <a:t> 克</a:t>
            </a:r>
          </a:p>
        </p:txBody>
      </p:sp>
      <p:sp>
        <p:nvSpPr>
          <p:cNvPr id="45" name="TextBox 44"/>
          <p:cNvSpPr txBox="1"/>
          <p:nvPr/>
        </p:nvSpPr>
        <p:spPr>
          <a:xfrm>
            <a:off x="8954719" y="4209542"/>
            <a:ext cx="2329251" cy="435609"/>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轻量化设计目标；按分项迭代收敛，不靠单一材料替换</a:t>
            </a:r>
          </a:p>
        </p:txBody>
      </p:sp>
      <p:sp>
        <p:nvSpPr>
          <p:cNvPr id="46" name="TextBox 45"/>
          <p:cNvSpPr txBox="1"/>
          <p:nvPr/>
        </p:nvSpPr>
        <p:spPr>
          <a:xfrm>
            <a:off x="761695" y="4809744"/>
            <a:ext cx="10668579" cy="256032"/>
          </a:xfrm>
          <a:prstGeom prst="rect">
            <a:avLst/>
          </a:prstGeom>
          <a:noFill/>
        </p:spPr>
        <p:txBody>
          <a:bodyPr wrap="square" lIns="0" rIns="0" tIns="0" bIns="0" anchor="t">
            <a:spAutoFit/>
          </a:bodyPr>
          <a:lstStyle/>
          <a:p>
            <a:pPr algn="l"/>
            <a:r>
              <a:rPr sz="1050" b="0" i="0">
                <a:solidFill>
                  <a:srgbClr val="0A2540"/>
                </a:solidFill>
                <a:latin typeface="Source Han Sans SC Heavy"/>
                <a:ea typeface="Source Han Sans SC Heavy"/>
                <a:cs typeface="Source Han Sans SC Heavy"/>
              </a:rPr>
              <a:t>轻量化路径：</a:t>
            </a:r>
            <a:r>
              <a:rPr sz="1000" b="0" i="0">
                <a:solidFill>
                  <a:srgbClr val="1F2A37"/>
                </a:solidFill>
                <a:latin typeface="Source Han Sans SC"/>
                <a:ea typeface="Source Han Sans SC"/>
                <a:cs typeface="Source Han Sans SC"/>
              </a:rPr>
              <a:t>足板开窗与局部拓扑减材、铝夹层厚度分区、紧固件规格统一、外壳按承力与非承力分件选材。</a:t>
            </a:r>
          </a:p>
        </p:txBody>
      </p:sp>
      <p:sp>
        <p:nvSpPr>
          <p:cNvPr id="47" name="TextBox 46"/>
          <p:cNvSpPr txBox="1"/>
          <p:nvPr/>
        </p:nvSpPr>
        <p:spPr>
          <a:xfrm>
            <a:off x="761695" y="5138928"/>
            <a:ext cx="10668579" cy="219456"/>
          </a:xfrm>
          <a:prstGeom prst="rect">
            <a:avLst/>
          </a:prstGeom>
          <a:noFill/>
        </p:spPr>
        <p:txBody>
          <a:bodyPr wrap="square" lIns="0" rIns="0" tIns="0" bIns="0" anchor="t">
            <a:spAutoFit/>
          </a:bodyPr>
          <a:lstStyle/>
          <a:p>
            <a:pPr algn="l"/>
            <a:r>
              <a:rPr sz="950" b="0" i="0">
                <a:solidFill>
                  <a:srgbClr val="6B7A8C"/>
                </a:solidFill>
                <a:latin typeface="Source Han Sans SC"/>
                <a:ea typeface="Source Han Sans SC"/>
                <a:cs typeface="Source Han Sans SC"/>
              </a:rPr>
              <a:t>质量账的意义在于把「整机多重」从估算变成一个可追责的清单：每个分项都有数量、材料或标称质量与换算依据，任一项变化都能立刻反映到整机账上。</a:t>
            </a:r>
          </a:p>
        </p:txBody>
      </p:sp>
      <p:sp>
        <p:nvSpPr>
          <p:cNvPr id="48" name="TextBox 47"/>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机构质量账逐项累加（几何实体体积 × 材料密度 + 采购件标称质量）</a:t>
            </a:r>
          </a:p>
        </p:txBody>
      </p:sp>
      <p:sp>
        <p:nvSpPr>
          <p:cNvPr id="49" name="TextBox 48"/>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50" name="Rectangle 49"/>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
        <p:nvSpPr>
          <p:cNvPr id="52" name="Rectangle 51"/>
          <p:cNvSpPr/>
          <p:nvPr/>
        </p:nvSpPr>
        <p:spPr>
          <a:xfrm>
            <a:off x="2447239" y="6016752"/>
            <a:ext cx="90449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2538679" y="6016752"/>
            <a:ext cx="758190" cy="237744"/>
          </a:xfrm>
          <a:prstGeom prst="rect">
            <a:avLst/>
          </a:prstGeom>
          <a:noFill/>
        </p:spPr>
        <p:txBody>
          <a:bodyPr wrap="square" lIns="0" rIns="0" tIns="0" bIns="0" anchor="ctr">
            <a:spAutoFit/>
          </a:bodyPr>
          <a:lstStyle/>
          <a:p>
            <a:pPr algn="l"/>
            <a:r>
              <a:rPr sz="1050" b="0" i="0">
                <a:solidFill>
                  <a:srgbClr val="1264A3"/>
                </a:solidFill>
                <a:latin typeface="Source Han Sans SC Heavy"/>
                <a:ea typeface="Source Han Sans SC Heavy"/>
                <a:cs typeface="Source Han Sans SC Heavy"/>
              </a:rPr>
              <a:t>◇</a:t>
            </a:r>
            <a:r>
              <a:rPr sz="1050" b="0" i="0">
                <a:solidFill>
                  <a:srgbClr val="1264A3"/>
                </a:solidFill>
                <a:latin typeface="Source Han Sans SC"/>
                <a:ea typeface="Source Han Sans SC"/>
                <a:cs typeface="Source Han Sans SC"/>
              </a:rPr>
              <a:t> 设计目标</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01</a:t>
            </a:r>
            <a:r>
              <a:rPr sz="1000" b="0" i="0">
                <a:solidFill>
                  <a:srgbClr val="6B7A8C"/>
                </a:solidFill>
                <a:latin typeface="Source Han Sans SC"/>
                <a:ea typeface="Source Han Sans SC"/>
                <a:cs typeface="Source Han Sans SC"/>
              </a:rPr>
              <a:t>  构型与总体设计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1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10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下肢动力学校核与减载策略</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校核判据取执行器厂家连续额定扭矩，依据是长时带载工况；瞬态堵转扭矩不作为达标依据。</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454677" y="2359152"/>
            <a:ext cx="0" cy="1883664"/>
          </a:xfrm>
          <a:prstGeom prst="line">
            <a:avLst/>
          </a:prstGeom>
          <a:ln w="12700">
            <a:solidFill>
              <a:srgbClr val="E4572E"/>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448837" y="2121408"/>
            <a:ext cx="2011680" cy="201168"/>
          </a:xfrm>
          <a:prstGeom prst="rect">
            <a:avLst/>
          </a:prstGeom>
          <a:noFill/>
        </p:spPr>
        <p:txBody>
          <a:bodyPr wrap="square" lIns="0" rIns="0" tIns="0" bIns="0" anchor="t">
            <a:spAutoFit/>
          </a:bodyPr>
          <a:lstStyle/>
          <a:p>
            <a:pPr algn="ctr"/>
            <a:r>
              <a:rPr sz="850" b="0" i="0">
                <a:solidFill>
                  <a:srgbClr val="E4572E"/>
                </a:solidFill>
                <a:latin typeface="Source Han Sans SC Heavy"/>
                <a:ea typeface="Source Han Sans SC Heavy"/>
                <a:cs typeface="Source Han Sans SC Heavy"/>
              </a:rPr>
              <a:t>官方连续额定 100%</a:t>
            </a:r>
          </a:p>
        </p:txBody>
      </p:sp>
      <p:sp>
        <p:nvSpPr>
          <p:cNvPr id="12" name="TextBox 11"/>
          <p:cNvSpPr txBox="1"/>
          <p:nvPr/>
        </p:nvSpPr>
        <p:spPr>
          <a:xfrm>
            <a:off x="761695" y="2450592"/>
            <a:ext cx="1572768" cy="237744"/>
          </a:xfrm>
          <a:prstGeom prst="rect">
            <a:avLst/>
          </a:prstGeom>
          <a:noFill/>
        </p:spPr>
        <p:txBody>
          <a:bodyPr wrap="square" lIns="0" rIns="0" tIns="0" bIns="0" anchor="ctr">
            <a:spAutoFit/>
          </a:bodyPr>
          <a:lstStyle/>
          <a:p>
            <a:pPr algn="l"/>
            <a:r>
              <a:rPr sz="1000" b="0" i="0">
                <a:solidFill>
                  <a:srgbClr val="0A2540"/>
                </a:solidFill>
                <a:latin typeface="Source Han Sans SC Heavy"/>
                <a:ea typeface="Source Han Sans SC Heavy"/>
                <a:cs typeface="Source Han Sans SC Heavy"/>
              </a:rPr>
              <a:t>行走工况（k=1.4）</a:t>
            </a:r>
          </a:p>
        </p:txBody>
      </p:sp>
      <p:sp>
        <p:nvSpPr>
          <p:cNvPr id="13" name="Rectangle 12"/>
          <p:cNvSpPr/>
          <p:nvPr/>
        </p:nvSpPr>
        <p:spPr>
          <a:xfrm>
            <a:off x="2444191" y="2482596"/>
            <a:ext cx="2336137" cy="173736"/>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871768" y="2450592"/>
            <a:ext cx="1188720" cy="237744"/>
          </a:xfrm>
          <a:prstGeom prst="rect">
            <a:avLst/>
          </a:prstGeom>
          <a:noFill/>
        </p:spPr>
        <p:txBody>
          <a:bodyPr wrap="square" lIns="0" rIns="0" tIns="0" bIns="0" anchor="ctr">
            <a:spAutoFit/>
          </a:bodyPr>
          <a:lstStyle/>
          <a:p>
            <a:pPr algn="l"/>
            <a:r>
              <a:rPr sz="950" b="0" i="0">
                <a:solidFill>
                  <a:srgbClr val="6B7A8C"/>
                </a:solidFill>
                <a:latin typeface="Source Han Sans SC"/>
                <a:ea typeface="Source Han Sans SC"/>
                <a:cs typeface="Source Han Sans SC"/>
              </a:rPr>
              <a:t>77.6%</a:t>
            </a:r>
          </a:p>
        </p:txBody>
      </p:sp>
      <p:sp>
        <p:nvSpPr>
          <p:cNvPr id="15" name="TextBox 14"/>
          <p:cNvSpPr txBox="1"/>
          <p:nvPr/>
        </p:nvSpPr>
        <p:spPr>
          <a:xfrm>
            <a:off x="761695" y="2816352"/>
            <a:ext cx="1572768" cy="237744"/>
          </a:xfrm>
          <a:prstGeom prst="rect">
            <a:avLst/>
          </a:prstGeom>
          <a:noFill/>
        </p:spPr>
        <p:txBody>
          <a:bodyPr wrap="square" lIns="0" rIns="0" tIns="0" bIns="0" anchor="ctr">
            <a:spAutoFit/>
          </a:bodyPr>
          <a:lstStyle/>
          <a:p>
            <a:pPr algn="l"/>
            <a:r>
              <a:rPr sz="1000" b="0" i="0">
                <a:solidFill>
                  <a:srgbClr val="0A2540"/>
                </a:solidFill>
                <a:latin typeface="Source Han Sans SC Heavy"/>
                <a:ea typeface="Source Han Sans SC Heavy"/>
                <a:cs typeface="Source Han Sans SC Heavy"/>
              </a:rPr>
              <a:t>极限保持（k=2）</a:t>
            </a:r>
          </a:p>
        </p:txBody>
      </p:sp>
      <p:sp>
        <p:nvSpPr>
          <p:cNvPr id="16" name="Rectangle 15"/>
          <p:cNvSpPr/>
          <p:nvPr/>
        </p:nvSpPr>
        <p:spPr>
          <a:xfrm>
            <a:off x="2444191" y="2848356"/>
            <a:ext cx="3335618" cy="173736"/>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871249" y="2816352"/>
            <a:ext cx="1188720" cy="237744"/>
          </a:xfrm>
          <a:prstGeom prst="rect">
            <a:avLst/>
          </a:prstGeom>
          <a:noFill/>
        </p:spPr>
        <p:txBody>
          <a:bodyPr wrap="square" lIns="0" rIns="0" tIns="0" bIns="0" anchor="ctr">
            <a:spAutoFit/>
          </a:bodyPr>
          <a:lstStyle/>
          <a:p>
            <a:pPr algn="l"/>
            <a:r>
              <a:rPr sz="950" b="0" i="0">
                <a:solidFill>
                  <a:srgbClr val="E4572E"/>
                </a:solidFill>
                <a:latin typeface="Source Han Sans SC Heavy"/>
                <a:ea typeface="Source Han Sans SC Heavy"/>
                <a:cs typeface="Source Han Sans SC Heavy"/>
              </a:rPr>
              <a:t>110.8%</a:t>
            </a:r>
          </a:p>
        </p:txBody>
      </p:sp>
      <p:sp>
        <p:nvSpPr>
          <p:cNvPr id="18" name="TextBox 17"/>
          <p:cNvSpPr txBox="1"/>
          <p:nvPr/>
        </p:nvSpPr>
        <p:spPr>
          <a:xfrm>
            <a:off x="761695" y="3182112"/>
            <a:ext cx="1572768" cy="237744"/>
          </a:xfrm>
          <a:prstGeom prst="rect">
            <a:avLst/>
          </a:prstGeom>
          <a:noFill/>
        </p:spPr>
        <p:txBody>
          <a:bodyPr wrap="square" lIns="0" rIns="0" tIns="0" bIns="0" anchor="ctr">
            <a:spAutoFit/>
          </a:bodyPr>
          <a:lstStyle/>
          <a:p>
            <a:pPr algn="l"/>
            <a:r>
              <a:rPr sz="1000" b="0" i="0">
                <a:solidFill>
                  <a:srgbClr val="0A2540"/>
                </a:solidFill>
                <a:latin typeface="Source Han Sans SC Heavy"/>
                <a:ea typeface="Source Han Sans SC Heavy"/>
                <a:cs typeface="Source Han Sans SC Heavy"/>
              </a:rPr>
              <a:t>肩滚转（100 g 载荷）</a:t>
            </a:r>
          </a:p>
        </p:txBody>
      </p:sp>
      <p:sp>
        <p:nvSpPr>
          <p:cNvPr id="19" name="Rectangle 18"/>
          <p:cNvSpPr/>
          <p:nvPr/>
        </p:nvSpPr>
        <p:spPr>
          <a:xfrm>
            <a:off x="2444191" y="3214116"/>
            <a:ext cx="2020036" cy="173736"/>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55667" y="3182112"/>
            <a:ext cx="1188720" cy="237744"/>
          </a:xfrm>
          <a:prstGeom prst="rect">
            <a:avLst/>
          </a:prstGeom>
          <a:noFill/>
        </p:spPr>
        <p:txBody>
          <a:bodyPr wrap="square" lIns="0" rIns="0" tIns="0" bIns="0" anchor="ctr">
            <a:spAutoFit/>
          </a:bodyPr>
          <a:lstStyle/>
          <a:p>
            <a:pPr algn="l"/>
            <a:r>
              <a:rPr sz="950" b="0" i="0">
                <a:solidFill>
                  <a:srgbClr val="6B7A8C"/>
                </a:solidFill>
                <a:latin typeface="Source Han Sans SC"/>
                <a:ea typeface="Source Han Sans SC"/>
                <a:cs typeface="Source Han Sans SC"/>
              </a:rPr>
              <a:t>67.1%</a:t>
            </a:r>
          </a:p>
        </p:txBody>
      </p:sp>
      <p:sp>
        <p:nvSpPr>
          <p:cNvPr id="21" name="TextBox 20"/>
          <p:cNvSpPr txBox="1"/>
          <p:nvPr/>
        </p:nvSpPr>
        <p:spPr>
          <a:xfrm>
            <a:off x="761695" y="3547872"/>
            <a:ext cx="1572768" cy="237744"/>
          </a:xfrm>
          <a:prstGeom prst="rect">
            <a:avLst/>
          </a:prstGeom>
          <a:noFill/>
        </p:spPr>
        <p:txBody>
          <a:bodyPr wrap="square" lIns="0" rIns="0" tIns="0" bIns="0" anchor="ctr">
            <a:spAutoFit/>
          </a:bodyPr>
          <a:lstStyle/>
          <a:p>
            <a:pPr algn="l"/>
            <a:r>
              <a:rPr sz="1000" b="0" i="0">
                <a:solidFill>
                  <a:srgbClr val="0A2540"/>
                </a:solidFill>
                <a:latin typeface="Source Han Sans SC Heavy"/>
                <a:ea typeface="Source Han Sans SC Heavy"/>
                <a:cs typeface="Source Han Sans SC Heavy"/>
              </a:rPr>
              <a:t>肩俯仰（100 g 载荷）</a:t>
            </a:r>
          </a:p>
        </p:txBody>
      </p:sp>
      <p:sp>
        <p:nvSpPr>
          <p:cNvPr id="22" name="Rectangle 21"/>
          <p:cNvSpPr/>
          <p:nvPr/>
        </p:nvSpPr>
        <p:spPr>
          <a:xfrm>
            <a:off x="2444191" y="3579876"/>
            <a:ext cx="1950795" cy="173736"/>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486426" y="3547872"/>
            <a:ext cx="1188720" cy="237744"/>
          </a:xfrm>
          <a:prstGeom prst="rect">
            <a:avLst/>
          </a:prstGeom>
          <a:noFill/>
        </p:spPr>
        <p:txBody>
          <a:bodyPr wrap="square" lIns="0" rIns="0" tIns="0" bIns="0" anchor="ctr">
            <a:spAutoFit/>
          </a:bodyPr>
          <a:lstStyle/>
          <a:p>
            <a:pPr algn="l"/>
            <a:r>
              <a:rPr sz="950" b="0" i="0">
                <a:solidFill>
                  <a:srgbClr val="6B7A8C"/>
                </a:solidFill>
                <a:latin typeface="Source Han Sans SC"/>
                <a:ea typeface="Source Han Sans SC"/>
                <a:cs typeface="Source Han Sans SC"/>
              </a:rPr>
              <a:t>64.8%</a:t>
            </a:r>
          </a:p>
        </p:txBody>
      </p:sp>
      <p:sp>
        <p:nvSpPr>
          <p:cNvPr id="24" name="TextBox 23"/>
          <p:cNvSpPr txBox="1"/>
          <p:nvPr/>
        </p:nvSpPr>
        <p:spPr>
          <a:xfrm>
            <a:off x="761695" y="3913632"/>
            <a:ext cx="1572768" cy="237744"/>
          </a:xfrm>
          <a:prstGeom prst="rect">
            <a:avLst/>
          </a:prstGeom>
          <a:noFill/>
        </p:spPr>
        <p:txBody>
          <a:bodyPr wrap="square" lIns="0" rIns="0" tIns="0" bIns="0" anchor="ctr">
            <a:spAutoFit/>
          </a:bodyPr>
          <a:lstStyle/>
          <a:p>
            <a:pPr algn="l"/>
            <a:r>
              <a:rPr sz="1000" b="0" i="0">
                <a:solidFill>
                  <a:srgbClr val="0A2540"/>
                </a:solidFill>
                <a:latin typeface="Source Han Sans SC Heavy"/>
                <a:ea typeface="Source Han Sans SC Heavy"/>
                <a:cs typeface="Source Han Sans SC Heavy"/>
              </a:rPr>
              <a:t>肘俯仰（100 g 载荷）</a:t>
            </a:r>
          </a:p>
        </p:txBody>
      </p:sp>
      <p:sp>
        <p:nvSpPr>
          <p:cNvPr id="25" name="Rectangle 24"/>
          <p:cNvSpPr/>
          <p:nvPr/>
        </p:nvSpPr>
        <p:spPr>
          <a:xfrm>
            <a:off x="2444191" y="3945636"/>
            <a:ext cx="1038617" cy="173736"/>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574248" y="3913632"/>
            <a:ext cx="1188720" cy="237744"/>
          </a:xfrm>
          <a:prstGeom prst="rect">
            <a:avLst/>
          </a:prstGeom>
          <a:noFill/>
        </p:spPr>
        <p:txBody>
          <a:bodyPr wrap="square" lIns="0" rIns="0" tIns="0" bIns="0" anchor="ctr">
            <a:spAutoFit/>
          </a:bodyPr>
          <a:lstStyle/>
          <a:p>
            <a:pPr algn="l"/>
            <a:r>
              <a:rPr sz="950" b="0" i="0">
                <a:solidFill>
                  <a:srgbClr val="6B7A8C"/>
                </a:solidFill>
                <a:latin typeface="Source Han Sans SC"/>
                <a:ea typeface="Source Han Sans SC"/>
                <a:cs typeface="Source Han Sans SC"/>
              </a:rPr>
              <a:t>34.5%</a:t>
            </a:r>
          </a:p>
        </p:txBody>
      </p:sp>
      <p:sp>
        <p:nvSpPr>
          <p:cNvPr id="27" name="Rectangle 26"/>
          <p:cNvSpPr/>
          <p:nvPr/>
        </p:nvSpPr>
        <p:spPr>
          <a:xfrm>
            <a:off x="7765999" y="1993392"/>
            <a:ext cx="3664275" cy="31638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948879" y="2139696"/>
            <a:ext cx="3298515" cy="256032"/>
          </a:xfrm>
          <a:prstGeom prst="rect">
            <a:avLst/>
          </a:prstGeom>
          <a:noFill/>
        </p:spPr>
        <p:txBody>
          <a:bodyPr wrap="square" lIns="0" rIns="0" tIns="0" bIns="0" anchor="t">
            <a:spAutoFit/>
          </a:bodyPr>
          <a:lstStyle/>
          <a:p>
            <a:pPr algn="l"/>
            <a:r>
              <a:rPr sz="1200" b="0" i="0">
                <a:solidFill>
                  <a:srgbClr val="0A2540"/>
                </a:solidFill>
                <a:latin typeface="Source Han Sans SC Heavy"/>
                <a:ea typeface="Source Han Sans SC Heavy"/>
                <a:cs typeface="Source Han Sans SC Heavy"/>
              </a:rPr>
              <a:t>判据与减载策略</a:t>
            </a:r>
          </a:p>
        </p:txBody>
      </p:sp>
      <p:sp>
        <p:nvSpPr>
          <p:cNvPr id="29" name="Rectangle 28"/>
          <p:cNvSpPr/>
          <p:nvPr/>
        </p:nvSpPr>
        <p:spPr>
          <a:xfrm>
            <a:off x="7948879" y="2560320"/>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095183" y="2478024"/>
            <a:ext cx="3152211"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校核判据　</a:t>
            </a:r>
            <a:r>
              <a:rPr sz="900" b="0" i="0">
                <a:solidFill>
                  <a:srgbClr val="1F2A37"/>
                </a:solidFill>
                <a:latin typeface="Source Han Sans SC"/>
                <a:ea typeface="Source Han Sans SC"/>
                <a:cs typeface="Source Han Sans SC"/>
              </a:rPr>
              <a:t>厂家连续额定 0.98 N·m；堵转 2.94 N·m 仅作峰值参考</a:t>
            </a:r>
          </a:p>
        </p:txBody>
      </p:sp>
      <p:sp>
        <p:nvSpPr>
          <p:cNvPr id="31" name="Rectangle 30"/>
          <p:cNvSpPr/>
          <p:nvPr/>
        </p:nvSpPr>
        <p:spPr>
          <a:xfrm>
            <a:off x="7948879" y="2962656"/>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095183" y="2880360"/>
            <a:ext cx="3152211"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行走工况　</a:t>
            </a:r>
            <a:r>
              <a:rPr sz="900" b="0" i="0">
                <a:solidFill>
                  <a:srgbClr val="1F2A37"/>
                </a:solidFill>
                <a:latin typeface="Source Han Sans SC"/>
                <a:ea typeface="Source Han Sans SC"/>
                <a:cs typeface="Source Han Sans SC"/>
              </a:rPr>
              <a:t>动载系数 k=1.4 下峰值 0.761 N·m，利用率 77.6%</a:t>
            </a:r>
          </a:p>
        </p:txBody>
      </p:sp>
      <p:sp>
        <p:nvSpPr>
          <p:cNvPr id="33" name="Rectangle 32"/>
          <p:cNvSpPr/>
          <p:nvPr/>
        </p:nvSpPr>
        <p:spPr>
          <a:xfrm>
            <a:off x="7948879" y="3364992"/>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095183" y="3282696"/>
            <a:ext cx="3152211"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极限工况　</a:t>
            </a:r>
            <a:r>
              <a:rPr sz="900" b="0" i="0">
                <a:solidFill>
                  <a:srgbClr val="1F2A37"/>
                </a:solidFill>
                <a:latin typeface="Source Han Sans SC"/>
                <a:ea typeface="Source Han Sans SC"/>
                <a:cs typeface="Source Han Sans SC"/>
              </a:rPr>
              <a:t>k=2 保持工况下踝关节为载荷峰值 1.086 N·m</a:t>
            </a:r>
          </a:p>
        </p:txBody>
      </p:sp>
      <p:sp>
        <p:nvSpPr>
          <p:cNvPr id="35" name="Rectangle 34"/>
          <p:cNvSpPr/>
          <p:nvPr/>
        </p:nvSpPr>
        <p:spPr>
          <a:xfrm>
            <a:off x="7948879" y="3767328"/>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095183" y="3685032"/>
            <a:ext cx="3152211"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峰值点　</a:t>
            </a:r>
            <a:r>
              <a:rPr sz="900" b="0" i="0">
                <a:solidFill>
                  <a:srgbClr val="1F2A37"/>
                </a:solidFill>
                <a:latin typeface="Source Han Sans SC"/>
                <a:ea typeface="Source Han Sans SC"/>
                <a:cs typeface="Source Han Sans SC"/>
              </a:rPr>
              <a:t>踝俯仰与膝俯仰构成下肢应力集中区</a:t>
            </a:r>
          </a:p>
        </p:txBody>
      </p:sp>
      <p:sp>
        <p:nvSpPr>
          <p:cNvPr id="37" name="Rectangle 36"/>
          <p:cNvSpPr/>
          <p:nvPr/>
        </p:nvSpPr>
        <p:spPr>
          <a:xfrm>
            <a:off x="7948879" y="4169664"/>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095183" y="4087368"/>
            <a:ext cx="3152211"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减载机制　</a:t>
            </a:r>
            <a:r>
              <a:rPr sz="900" b="0" i="0">
                <a:solidFill>
                  <a:srgbClr val="1F2A37"/>
                </a:solidFill>
                <a:latin typeface="Source Han Sans SC"/>
                <a:ea typeface="Source Han Sans SC"/>
                <a:cs typeface="Source Han Sans SC"/>
              </a:rPr>
              <a:t>弹性助力 + 步态支撑相相位优化 + 降额运行策略</a:t>
            </a:r>
          </a:p>
        </p:txBody>
      </p:sp>
      <p:sp>
        <p:nvSpPr>
          <p:cNvPr id="39" name="Rectangle 38"/>
          <p:cNvSpPr/>
          <p:nvPr/>
        </p:nvSpPr>
        <p:spPr>
          <a:xfrm>
            <a:off x="7948879" y="4572000"/>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095183" y="4489704"/>
            <a:ext cx="3152211"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台架验证　</a:t>
            </a:r>
            <a:r>
              <a:rPr sz="900" b="0" i="0">
                <a:solidFill>
                  <a:srgbClr val="1F2A37"/>
                </a:solidFill>
                <a:latin typeface="Source Han Sans SC"/>
                <a:ea typeface="Source Han Sans SC"/>
                <a:cs typeface="Source Han Sans SC"/>
              </a:rPr>
              <a:t>执行器在 0.8 / 1.0 / 1.2 N·m 循环 30 min，壳温 ≤65 ℃</a:t>
            </a:r>
          </a:p>
        </p:txBody>
      </p:sp>
      <p:sp>
        <p:nvSpPr>
          <p:cNvPr id="41" name="TextBox 40"/>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整机质量账 + 关节静力学扫掠（动载系数 k=1.4 行走 / k=2 极限保持）</a:t>
            </a:r>
          </a:p>
        </p:txBody>
      </p:sp>
      <p:sp>
        <p:nvSpPr>
          <p:cNvPr id="42" name="TextBox 41"/>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43" name="Rectangle 42"/>
          <p:cNvSpPr/>
          <p:nvPr/>
        </p:nvSpPr>
        <p:spPr>
          <a:xfrm>
            <a:off x="1529791" y="6016752"/>
            <a:ext cx="90449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1621231" y="6016752"/>
            <a:ext cx="758190" cy="237744"/>
          </a:xfrm>
          <a:prstGeom prst="rect">
            <a:avLst/>
          </a:prstGeom>
          <a:noFill/>
        </p:spPr>
        <p:txBody>
          <a:bodyPr wrap="square" lIns="0" rIns="0" tIns="0" bIns="0" anchor="ctr">
            <a:spAutoFit/>
          </a:bodyPr>
          <a:lstStyle/>
          <a:p>
            <a:pPr algn="l"/>
            <a:r>
              <a:rPr sz="1050" b="0" i="0">
                <a:solidFill>
                  <a:srgbClr val="1264A3"/>
                </a:solidFill>
                <a:latin typeface="Source Han Sans SC Heavy"/>
                <a:ea typeface="Source Han Sans SC Heavy"/>
                <a:cs typeface="Source Han Sans SC Heavy"/>
              </a:rPr>
              <a:t>◇</a:t>
            </a:r>
            <a:r>
              <a:rPr sz="1050" b="0" i="0">
                <a:solidFill>
                  <a:srgbClr val="1264A3"/>
                </a:solidFill>
                <a:latin typeface="Source Han Sans SC"/>
                <a:ea typeface="Source Han Sans SC"/>
                <a:cs typeface="Source Han Sans SC"/>
              </a:rPr>
              <a:t> 设计目标</a:t>
            </a:r>
          </a:p>
        </p:txBody>
      </p:sp>
      <p:sp>
        <p:nvSpPr>
          <p:cNvPr id="45" name="Rectangle 44"/>
          <p:cNvSpPr/>
          <p:nvPr/>
        </p:nvSpPr>
        <p:spPr>
          <a:xfrm>
            <a:off x="258058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67202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01</a:t>
            </a:r>
            <a:r>
              <a:rPr sz="1000" b="0" i="0">
                <a:solidFill>
                  <a:srgbClr val="6B7A8C"/>
                </a:solidFill>
                <a:latin typeface="Source Han Sans SC"/>
                <a:ea typeface="Source Han Sans SC"/>
                <a:cs typeface="Source Han Sans SC"/>
              </a:rPr>
              <a:t>  构型与总体设计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1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11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功率预算与续航分级方案</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按「电流与输出扭矩成正比」的线性功耗模型建立 20 轴全周期电流预测，据此给出两种作业模式下的电源配置。</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2564274" cy="129844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61695" y="2048256"/>
            <a:ext cx="41148" cy="12984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81151" y="2176272"/>
            <a:ext cx="2198514" cy="497204"/>
          </a:xfrm>
          <a:prstGeom prst="rect">
            <a:avLst/>
          </a:prstGeom>
          <a:noFill/>
        </p:spPr>
        <p:txBody>
          <a:bodyPr wrap="square" lIns="0" rIns="0" tIns="0" bIns="0" anchor="t">
            <a:spAutoFit/>
          </a:bodyPr>
          <a:lstStyle/>
          <a:p>
            <a:pPr algn="l">
              <a:lnSpc>
                <a:spcPct val="100000"/>
              </a:lnSpc>
            </a:pPr>
            <a:r>
              <a:rPr sz="2700" b="0" i="0">
                <a:solidFill>
                  <a:srgbClr val="0A2540"/>
                </a:solidFill>
                <a:latin typeface="Source Han Sans SC Heavy"/>
                <a:ea typeface="Source Han Sans SC Heavy"/>
                <a:cs typeface="Source Han Sans SC Heavy"/>
              </a:rPr>
              <a:t>11.1</a:t>
            </a:r>
            <a:r>
              <a:rPr sz="1500" b="0" i="0">
                <a:solidFill>
                  <a:srgbClr val="0A2540"/>
                </a:solidFill>
                <a:latin typeface="Source Han Sans SC Heavy"/>
                <a:ea typeface="Source Han Sans SC Heavy"/>
                <a:cs typeface="Source Han Sans SC Heavy"/>
              </a:rPr>
              <a:t> V</a:t>
            </a:r>
          </a:p>
        </p:txBody>
      </p:sp>
      <p:sp>
        <p:nvSpPr>
          <p:cNvPr id="13" name="TextBox 12"/>
          <p:cNvSpPr txBox="1"/>
          <p:nvPr/>
        </p:nvSpPr>
        <p:spPr>
          <a:xfrm>
            <a:off x="981151" y="2746629"/>
            <a:ext cx="2198514" cy="526923"/>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总线电压：3S 锂电直供</a:t>
            </a:r>
          </a:p>
        </p:txBody>
      </p:sp>
      <p:sp>
        <p:nvSpPr>
          <p:cNvPr id="14" name="Rectangle 13"/>
          <p:cNvSpPr/>
          <p:nvPr/>
        </p:nvSpPr>
        <p:spPr>
          <a:xfrm>
            <a:off x="3463129" y="2048256"/>
            <a:ext cx="2564274" cy="129844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463129" y="2048256"/>
            <a:ext cx="41148" cy="12984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82585" y="2176272"/>
            <a:ext cx="2198514" cy="497204"/>
          </a:xfrm>
          <a:prstGeom prst="rect">
            <a:avLst/>
          </a:prstGeom>
          <a:noFill/>
        </p:spPr>
        <p:txBody>
          <a:bodyPr wrap="square" lIns="0" rIns="0" tIns="0" bIns="0" anchor="t">
            <a:spAutoFit/>
          </a:bodyPr>
          <a:lstStyle/>
          <a:p>
            <a:pPr algn="l">
              <a:lnSpc>
                <a:spcPct val="100000"/>
              </a:lnSpc>
            </a:pPr>
            <a:r>
              <a:rPr sz="2700" b="0" i="0">
                <a:solidFill>
                  <a:srgbClr val="0A2540"/>
                </a:solidFill>
                <a:latin typeface="Source Han Sans SC Heavy"/>
                <a:ea typeface="Source Han Sans SC Heavy"/>
                <a:cs typeface="Source Han Sans SC Heavy"/>
              </a:rPr>
              <a:t>24.4</a:t>
            </a:r>
            <a:r>
              <a:rPr sz="1500" b="0" i="0">
                <a:solidFill>
                  <a:srgbClr val="0A2540"/>
                </a:solidFill>
                <a:latin typeface="Source Han Sans SC Heavy"/>
                <a:ea typeface="Source Han Sans SC Heavy"/>
                <a:cs typeface="Source Han Sans SC Heavy"/>
              </a:rPr>
              <a:t> Wh</a:t>
            </a:r>
          </a:p>
        </p:txBody>
      </p:sp>
      <p:sp>
        <p:nvSpPr>
          <p:cNvPr id="17" name="TextBox 16"/>
          <p:cNvSpPr txBox="1"/>
          <p:nvPr/>
        </p:nvSpPr>
        <p:spPr>
          <a:xfrm>
            <a:off x="3682585" y="2746629"/>
            <a:ext cx="2198514" cy="526923"/>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板载单包能量（2200 mAh / 169 g）</a:t>
            </a:r>
          </a:p>
        </p:txBody>
      </p:sp>
      <p:sp>
        <p:nvSpPr>
          <p:cNvPr id="18" name="Rectangle 17"/>
          <p:cNvSpPr/>
          <p:nvPr/>
        </p:nvSpPr>
        <p:spPr>
          <a:xfrm>
            <a:off x="6164564" y="2048256"/>
            <a:ext cx="2564274" cy="129844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164564" y="2048256"/>
            <a:ext cx="41148" cy="12984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84020" y="2176272"/>
            <a:ext cx="2198514" cy="497204"/>
          </a:xfrm>
          <a:prstGeom prst="rect">
            <a:avLst/>
          </a:prstGeom>
          <a:noFill/>
        </p:spPr>
        <p:txBody>
          <a:bodyPr wrap="square" lIns="0" rIns="0" tIns="0" bIns="0" anchor="t">
            <a:spAutoFit/>
          </a:bodyPr>
          <a:lstStyle/>
          <a:p>
            <a:pPr algn="l">
              <a:lnSpc>
                <a:spcPct val="100000"/>
              </a:lnSpc>
            </a:pPr>
            <a:r>
              <a:rPr sz="2700" b="0" i="0">
                <a:solidFill>
                  <a:srgbClr val="E4572E"/>
                </a:solidFill>
                <a:latin typeface="Source Han Sans SC Heavy"/>
                <a:ea typeface="Source Han Sans SC Heavy"/>
                <a:cs typeface="Source Han Sans SC Heavy"/>
              </a:rPr>
              <a:t>10.4</a:t>
            </a:r>
            <a:r>
              <a:rPr sz="1500" b="0" i="0">
                <a:solidFill>
                  <a:srgbClr val="E4572E"/>
                </a:solidFill>
                <a:latin typeface="Source Han Sans SC Heavy"/>
                <a:ea typeface="Source Han Sans SC Heavy"/>
                <a:cs typeface="Source Han Sans SC Heavy"/>
              </a:rPr>
              <a:t> Ah</a:t>
            </a:r>
          </a:p>
        </p:txBody>
      </p:sp>
      <p:sp>
        <p:nvSpPr>
          <p:cNvPr id="21" name="TextBox 20"/>
          <p:cNvSpPr txBox="1"/>
          <p:nvPr/>
        </p:nvSpPr>
        <p:spPr>
          <a:xfrm>
            <a:off x="6384020" y="2746629"/>
            <a:ext cx="2198514" cy="526923"/>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30 min 连续作业的容量需求</a:t>
            </a:r>
          </a:p>
        </p:txBody>
      </p:sp>
      <p:sp>
        <p:nvSpPr>
          <p:cNvPr id="22" name="Rectangle 21"/>
          <p:cNvSpPr/>
          <p:nvPr/>
        </p:nvSpPr>
        <p:spPr>
          <a:xfrm>
            <a:off x="8865999" y="2048256"/>
            <a:ext cx="2564274" cy="129844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865999" y="2048256"/>
            <a:ext cx="41148" cy="12984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085455" y="2176272"/>
            <a:ext cx="2198514" cy="497204"/>
          </a:xfrm>
          <a:prstGeom prst="rect">
            <a:avLst/>
          </a:prstGeom>
          <a:noFill/>
        </p:spPr>
        <p:txBody>
          <a:bodyPr wrap="square" lIns="0" rIns="0" tIns="0" bIns="0" anchor="t">
            <a:spAutoFit/>
          </a:bodyPr>
          <a:lstStyle/>
          <a:p>
            <a:pPr algn="l">
              <a:lnSpc>
                <a:spcPct val="100000"/>
              </a:lnSpc>
            </a:pPr>
            <a:r>
              <a:rPr sz="2700" b="0" i="0">
                <a:solidFill>
                  <a:srgbClr val="E4572E"/>
                </a:solidFill>
                <a:latin typeface="Source Han Sans SC Heavy"/>
                <a:ea typeface="Source Han Sans SC Heavy"/>
                <a:cs typeface="Source Han Sans SC Heavy"/>
              </a:rPr>
              <a:t>30</a:t>
            </a:r>
            <a:r>
              <a:rPr sz="1500" b="0" i="0">
                <a:solidFill>
                  <a:srgbClr val="E4572E"/>
                </a:solidFill>
                <a:latin typeface="Source Han Sans SC Heavy"/>
                <a:ea typeface="Source Han Sans SC Heavy"/>
                <a:cs typeface="Source Han Sans SC Heavy"/>
              </a:rPr>
              <a:t> min</a:t>
            </a:r>
          </a:p>
        </p:txBody>
      </p:sp>
      <p:sp>
        <p:nvSpPr>
          <p:cNvPr id="25" name="TextBox 24"/>
          <p:cNvSpPr txBox="1"/>
          <p:nvPr/>
        </p:nvSpPr>
        <p:spPr>
          <a:xfrm>
            <a:off x="9085455" y="2746629"/>
            <a:ext cx="2198514" cy="526923"/>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赛务连续作业时长要求</a:t>
            </a:r>
          </a:p>
        </p:txBody>
      </p:sp>
      <p:sp>
        <p:nvSpPr>
          <p:cNvPr id="26" name="Rectangle 25"/>
          <p:cNvSpPr/>
          <p:nvPr/>
        </p:nvSpPr>
        <p:spPr>
          <a:xfrm>
            <a:off x="761695" y="3529584"/>
            <a:ext cx="5133121" cy="2743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89711" y="3529584"/>
            <a:ext cx="4877089" cy="274320"/>
          </a:xfrm>
          <a:prstGeom prst="rect">
            <a:avLst/>
          </a:prstGeom>
          <a:noFill/>
        </p:spPr>
        <p:txBody>
          <a:bodyPr wrap="square" lIns="0" rIns="0" tIns="0" bIns="0" anchor="ctr">
            <a:spAutoFit/>
          </a:bodyPr>
          <a:lstStyle/>
          <a:p>
            <a:pPr algn="l"/>
            <a:r>
              <a:rPr sz="1050" b="0" i="0">
                <a:solidFill>
                  <a:srgbClr val="FFFFFF"/>
                </a:solidFill>
                <a:latin typeface="Source Han Sans SC Heavy"/>
                <a:ea typeface="Source Han Sans SC Heavy"/>
                <a:cs typeface="Source Han Sans SC Heavy"/>
              </a:rPr>
              <a:t>标准调试模式</a:t>
            </a:r>
          </a:p>
        </p:txBody>
      </p:sp>
      <p:sp>
        <p:nvSpPr>
          <p:cNvPr id="28" name="Rectangle 27"/>
          <p:cNvSpPr/>
          <p:nvPr/>
        </p:nvSpPr>
        <p:spPr>
          <a:xfrm>
            <a:off x="779983" y="3968496"/>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44575" y="3886200"/>
            <a:ext cx="4913665"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板载单包 3S 2200 mAh 直接进主装配，含托盘与绑带。</a:t>
            </a:r>
          </a:p>
        </p:txBody>
      </p:sp>
      <p:sp>
        <p:nvSpPr>
          <p:cNvPr id="30" name="Rectangle 29"/>
          <p:cNvSpPr/>
          <p:nvPr/>
        </p:nvSpPr>
        <p:spPr>
          <a:xfrm>
            <a:off x="779983" y="4425696"/>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44575" y="4343400"/>
            <a:ext cx="4913665"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面向日常调试、单项任务验证与短时高机动演示。</a:t>
            </a:r>
          </a:p>
        </p:txBody>
      </p:sp>
      <p:sp>
        <p:nvSpPr>
          <p:cNvPr id="32" name="Rectangle 31"/>
          <p:cNvSpPr/>
          <p:nvPr/>
        </p:nvSpPr>
        <p:spPr>
          <a:xfrm>
            <a:off x="779983" y="4882896"/>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44575" y="4800600"/>
            <a:ext cx="4913665"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能量密度优先：整机质量账与踝关节余量同时受益。</a:t>
            </a:r>
          </a:p>
        </p:txBody>
      </p:sp>
      <p:sp>
        <p:nvSpPr>
          <p:cNvPr id="34" name="Rectangle 33"/>
          <p:cNvSpPr/>
          <p:nvPr/>
        </p:nvSpPr>
        <p:spPr>
          <a:xfrm>
            <a:off x="6297152" y="3529584"/>
            <a:ext cx="5133121" cy="2743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25168" y="3529584"/>
            <a:ext cx="4877089" cy="274320"/>
          </a:xfrm>
          <a:prstGeom prst="rect">
            <a:avLst/>
          </a:prstGeom>
          <a:noFill/>
        </p:spPr>
        <p:txBody>
          <a:bodyPr wrap="square" lIns="0" rIns="0" tIns="0" bIns="0" anchor="ctr">
            <a:spAutoFit/>
          </a:bodyPr>
          <a:lstStyle/>
          <a:p>
            <a:pPr algn="l"/>
            <a:r>
              <a:rPr sz="1050" b="0" i="0">
                <a:solidFill>
                  <a:srgbClr val="FFFFFF"/>
                </a:solidFill>
                <a:latin typeface="Source Han Sans SC Heavy"/>
                <a:ea typeface="Source Han Sans SC Heavy"/>
                <a:cs typeface="Source Han Sans SC Heavy"/>
              </a:rPr>
              <a:t>长航时 / 教学模式</a:t>
            </a:r>
          </a:p>
        </p:txBody>
      </p:sp>
      <p:sp>
        <p:nvSpPr>
          <p:cNvPr id="36" name="Rectangle 35"/>
          <p:cNvSpPr/>
          <p:nvPr/>
        </p:nvSpPr>
        <p:spPr>
          <a:xfrm>
            <a:off x="6315440" y="3968496"/>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80032" y="3886200"/>
            <a:ext cx="4913665"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外接直流扩展坞或扩展电池包，容量需求约 10.4 Ah / 115.5 Wh。</a:t>
            </a:r>
          </a:p>
        </p:txBody>
      </p:sp>
      <p:sp>
        <p:nvSpPr>
          <p:cNvPr id="38" name="Rectangle 37"/>
          <p:cNvSpPr/>
          <p:nvPr/>
        </p:nvSpPr>
        <p:spPr>
          <a:xfrm>
            <a:off x="6315440" y="4425696"/>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80032" y="4343400"/>
            <a:ext cx="4913665"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扩展电源独立熔断并做反向电流隔离，不与主包直接并联。</a:t>
            </a:r>
          </a:p>
        </p:txBody>
      </p:sp>
      <p:sp>
        <p:nvSpPr>
          <p:cNvPr id="40" name="Rectangle 39"/>
          <p:cNvSpPr/>
          <p:nvPr/>
        </p:nvSpPr>
        <p:spPr>
          <a:xfrm>
            <a:off x="6315440" y="4882896"/>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80032" y="4800600"/>
            <a:ext cx="4913665" cy="274320"/>
          </a:xfrm>
          <a:prstGeom prst="rect">
            <a:avLst/>
          </a:prstGeom>
          <a:noFill/>
        </p:spPr>
        <p:txBody>
          <a:bodyPr wrap="square" lIns="0" rIns="0" tIns="0" bIns="0" anchor="t">
            <a:spAutoFit/>
          </a:bodyPr>
          <a:lstStyle/>
          <a:p>
            <a:pPr algn="l">
              <a:lnSpc>
                <a:spcPct val="126000"/>
              </a:lnSpc>
            </a:pPr>
            <a:r>
              <a:rPr sz="950" b="0" i="0">
                <a:solidFill>
                  <a:srgbClr val="1F2A37"/>
                </a:solidFill>
                <a:latin typeface="Source Han Sans SC"/>
                <a:ea typeface="Source Han Sans SC"/>
                <a:cs typeface="Source Han Sans SC"/>
              </a:rPr>
              <a:t>面向 30 min 连续作业与课堂教学的整班轮换使用。</a:t>
            </a:r>
          </a:p>
        </p:txBody>
      </p:sp>
      <p:sp>
        <p:nvSpPr>
          <p:cNvPr id="42" name="TextBox 41"/>
          <p:cNvSpPr txBox="1"/>
          <p:nvPr/>
        </p:nvSpPr>
        <p:spPr>
          <a:xfrm>
            <a:off x="761695" y="5376672"/>
            <a:ext cx="10668579" cy="219456"/>
          </a:xfrm>
          <a:prstGeom prst="rect">
            <a:avLst/>
          </a:prstGeom>
          <a:noFill/>
        </p:spPr>
        <p:txBody>
          <a:bodyPr wrap="square" lIns="0" rIns="0" tIns="0" bIns="0" anchor="t">
            <a:spAutoFit/>
          </a:bodyPr>
          <a:lstStyle/>
          <a:p>
            <a:pPr algn="l"/>
            <a:r>
              <a:rPr sz="900" b="0" i="0">
                <a:solidFill>
                  <a:srgbClr val="1F2A37"/>
                </a:solidFill>
                <a:latin typeface="Source Han Sans SC"/>
                <a:ea typeface="Source Han Sans SC"/>
                <a:cs typeface="Source Han Sans SC"/>
              </a:rPr>
              <a:t>能效杠杆：降额运行、步态周期优化、空闲关节失能。三条杠杆同时改善续航与关节热负荷，优先于单纯增大电池容量——后者会反过来加重下肢扭矩需求。</a:t>
            </a:r>
          </a:p>
        </p:txBody>
      </p:sp>
      <p:sp>
        <p:nvSpPr>
          <p:cNvPr id="43" name="TextBox 42"/>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电流 ∝ 输出扭矩的线性功耗模型 + 单包实测包络</a:t>
            </a:r>
          </a:p>
        </p:txBody>
      </p:sp>
      <p:sp>
        <p:nvSpPr>
          <p:cNvPr id="44" name="TextBox 43"/>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45" name="Rectangle 44"/>
          <p:cNvSpPr/>
          <p:nvPr/>
        </p:nvSpPr>
        <p:spPr>
          <a:xfrm>
            <a:off x="1529791" y="6016752"/>
            <a:ext cx="90449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621231" y="6016752"/>
            <a:ext cx="758190" cy="237744"/>
          </a:xfrm>
          <a:prstGeom prst="rect">
            <a:avLst/>
          </a:prstGeom>
          <a:noFill/>
        </p:spPr>
        <p:txBody>
          <a:bodyPr wrap="square" lIns="0" rIns="0" tIns="0" bIns="0" anchor="ctr">
            <a:spAutoFit/>
          </a:bodyPr>
          <a:lstStyle/>
          <a:p>
            <a:pPr algn="l"/>
            <a:r>
              <a:rPr sz="1050" b="0" i="0">
                <a:solidFill>
                  <a:srgbClr val="1264A3"/>
                </a:solidFill>
                <a:latin typeface="Source Han Sans SC Heavy"/>
                <a:ea typeface="Source Han Sans SC Heavy"/>
                <a:cs typeface="Source Han Sans SC Heavy"/>
              </a:rPr>
              <a:t>◇</a:t>
            </a:r>
            <a:r>
              <a:rPr sz="1050" b="0" i="0">
                <a:solidFill>
                  <a:srgbClr val="1264A3"/>
                </a:solidFill>
                <a:latin typeface="Source Han Sans SC"/>
                <a:ea typeface="Source Han Sans SC"/>
                <a:cs typeface="Source Han Sans SC"/>
              </a:rPr>
              <a:t> 设计目标</a:t>
            </a:r>
          </a:p>
        </p:txBody>
      </p:sp>
      <p:sp>
        <p:nvSpPr>
          <p:cNvPr id="47" name="Rectangle 46"/>
          <p:cNvSpPr/>
          <p:nvPr/>
        </p:nvSpPr>
        <p:spPr>
          <a:xfrm>
            <a:off x="258058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2672029" y="6016752"/>
            <a:ext cx="624840" cy="237744"/>
          </a:xfrm>
          <a:prstGeom prst="rect">
            <a:avLst/>
          </a:prstGeom>
          <a:noFill/>
        </p:spPr>
        <p:txBody>
          <a:bodyPr wrap="square" lIns="0" rIns="0" tIns="0" bIns="0" anchor="ctr">
            <a:spAutoFit/>
          </a:bodyPr>
          <a:lstStyle/>
          <a:p>
            <a:pPr algn="l"/>
            <a:r>
              <a:rPr sz="1050" b="0" i="0">
                <a:solidFill>
                  <a:srgbClr val="6B7A8C"/>
                </a:solidFill>
                <a:latin typeface="Source Han Sans SC Heavy"/>
                <a:ea typeface="Source Han Sans SC Heavy"/>
                <a:cs typeface="Source Han Sans SC Heavy"/>
              </a:rPr>
              <a:t>○</a:t>
            </a:r>
            <a:r>
              <a:rPr sz="1050" b="0" i="0">
                <a:solidFill>
                  <a:srgbClr val="6B7A8C"/>
                </a:solidFill>
                <a:latin typeface="Source Han Sans SC"/>
                <a:ea typeface="Source Han Sans SC"/>
                <a:cs typeface="Source Han Sans SC"/>
              </a:rPr>
              <a:t> 规划中</a:t>
            </a:r>
          </a:p>
        </p:txBody>
      </p:sp>
    </p:spTree>
  </p:cSld>
  <p:clrMapOvr>
    <a:masterClrMapping/>
  </p:clrMapOvr>
  <p:transition spd="med"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01</a:t>
            </a:r>
            <a:r>
              <a:rPr sz="1000" b="0" i="0">
                <a:solidFill>
                  <a:srgbClr val="6B7A8C"/>
                </a:solidFill>
                <a:latin typeface="Source Han Sans SC"/>
                <a:ea typeface="Source Han Sans SC"/>
                <a:cs typeface="Source Han Sans SC"/>
              </a:rPr>
              <a:t>  构型与总体设计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1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12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成本核算与采购口径</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按 BOM 明细核算，并区分「全口径」与「集采口径」两种口径分别列示，不合并引用。</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61695" y="2267712"/>
            <a:ext cx="2560320" cy="274320"/>
          </a:xfrm>
          <a:prstGeom prst="rect">
            <a:avLst/>
          </a:prstGeom>
          <a:noFill/>
        </p:spPr>
        <p:txBody>
          <a:bodyPr wrap="square" lIns="0" rIns="0" tIns="0" bIns="0" anchor="ctr">
            <a:spAutoFit/>
          </a:bodyPr>
          <a:lstStyle/>
          <a:p>
            <a:pPr algn="l"/>
            <a:r>
              <a:rPr sz="1050" b="0" i="0">
                <a:solidFill>
                  <a:srgbClr val="0A2540"/>
                </a:solidFill>
                <a:latin typeface="Source Han Sans SC Heavy"/>
                <a:ea typeface="Source Han Sans SC Heavy"/>
                <a:cs typeface="Source Han Sans SC Heavy"/>
              </a:rPr>
              <a:t>同级教育套件</a:t>
            </a:r>
          </a:p>
        </p:txBody>
      </p:sp>
      <p:sp>
        <p:nvSpPr>
          <p:cNvPr id="11" name="Rectangle 10"/>
          <p:cNvSpPr/>
          <p:nvPr/>
        </p:nvSpPr>
        <p:spPr>
          <a:xfrm>
            <a:off x="3459175" y="2295144"/>
            <a:ext cx="5120640" cy="219456"/>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895184" y="2295144"/>
            <a:ext cx="1712740" cy="219456"/>
          </a:xfrm>
          <a:prstGeom prst="rect">
            <a:avLst/>
          </a:prstGeom>
          <a:solidFill>
            <a:srgbClr val="DCE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26119" y="2267712"/>
            <a:ext cx="2103120" cy="274320"/>
          </a:xfrm>
          <a:prstGeom prst="rect">
            <a:avLst/>
          </a:prstGeom>
          <a:noFill/>
        </p:spPr>
        <p:txBody>
          <a:bodyPr wrap="square" lIns="0" rIns="0" tIns="0" bIns="0" anchor="ctr">
            <a:spAutoFit/>
          </a:bodyPr>
          <a:lstStyle/>
          <a:p>
            <a:pPr algn="l"/>
            <a:r>
              <a:rPr sz="1000" b="0" i="0">
                <a:solidFill>
                  <a:srgbClr val="1F2A37"/>
                </a:solidFill>
                <a:latin typeface="Source Han Sans SC Heavy"/>
                <a:ea typeface="Source Han Sans SC Heavy"/>
                <a:cs typeface="Source Han Sans SC Heavy"/>
              </a:rPr>
              <a:t>¥6,000–12,000</a:t>
            </a:r>
          </a:p>
        </p:txBody>
      </p:sp>
      <p:sp>
        <p:nvSpPr>
          <p:cNvPr id="14" name="TextBox 13"/>
          <p:cNvSpPr txBox="1"/>
          <p:nvPr/>
        </p:nvSpPr>
        <p:spPr>
          <a:xfrm>
            <a:off x="761695" y="2560320"/>
            <a:ext cx="6492240" cy="219456"/>
          </a:xfrm>
          <a:prstGeom prst="rect">
            <a:avLst/>
          </a:prstGeom>
          <a:noFill/>
        </p:spPr>
        <p:txBody>
          <a:bodyPr wrap="square" lIns="0" rIns="0" tIns="0" bIns="0" anchor="t">
            <a:spAutoFit/>
          </a:bodyPr>
          <a:lstStyle/>
          <a:p>
            <a:pPr algn="l"/>
            <a:r>
              <a:rPr sz="850" b="0" i="0">
                <a:solidFill>
                  <a:srgbClr val="6B7A8C"/>
                </a:solidFill>
                <a:latin typeface="Source Han Sans SC"/>
                <a:ea typeface="Source Han Sans SC"/>
                <a:cs typeface="Source Han Sans SC"/>
              </a:rPr>
              <a:t>单台 6000–12000 元/台；20 台为 12–24 万元</a:t>
            </a:r>
          </a:p>
        </p:txBody>
      </p:sp>
      <p:sp>
        <p:nvSpPr>
          <p:cNvPr id="15" name="TextBox 14"/>
          <p:cNvSpPr txBox="1"/>
          <p:nvPr/>
        </p:nvSpPr>
        <p:spPr>
          <a:xfrm>
            <a:off x="761695" y="2999232"/>
            <a:ext cx="2560320" cy="274320"/>
          </a:xfrm>
          <a:prstGeom prst="rect">
            <a:avLst/>
          </a:prstGeom>
          <a:noFill/>
        </p:spPr>
        <p:txBody>
          <a:bodyPr wrap="square" lIns="0" rIns="0" tIns="0" bIns="0" anchor="ctr">
            <a:spAutoFit/>
          </a:bodyPr>
          <a:lstStyle/>
          <a:p>
            <a:pPr algn="l"/>
            <a:r>
              <a:rPr sz="1050" b="0" i="0">
                <a:solidFill>
                  <a:srgbClr val="0A2540"/>
                </a:solidFill>
                <a:latin typeface="Source Han Sans SC Heavy"/>
                <a:ea typeface="Source Han Sans SC Heavy"/>
                <a:cs typeface="Source Han Sans SC Heavy"/>
              </a:rPr>
              <a:t>本方案 · 全口径</a:t>
            </a:r>
          </a:p>
        </p:txBody>
      </p:sp>
      <p:sp>
        <p:nvSpPr>
          <p:cNvPr id="16" name="Rectangle 15"/>
          <p:cNvSpPr/>
          <p:nvPr/>
        </p:nvSpPr>
        <p:spPr>
          <a:xfrm>
            <a:off x="3459175" y="3026664"/>
            <a:ext cx="5120640" cy="219456"/>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292784" y="3026664"/>
            <a:ext cx="576301" cy="219456"/>
          </a:xfrm>
          <a:prstGeom prst="rect">
            <a:avLst/>
          </a:prstGeom>
          <a:solidFill>
            <a:srgbClr val="9CC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726119" y="2999232"/>
            <a:ext cx="2103120" cy="274320"/>
          </a:xfrm>
          <a:prstGeom prst="rect">
            <a:avLst/>
          </a:prstGeom>
          <a:noFill/>
        </p:spPr>
        <p:txBody>
          <a:bodyPr wrap="square" lIns="0" rIns="0" tIns="0" bIns="0" anchor="ctr">
            <a:spAutoFit/>
          </a:bodyPr>
          <a:lstStyle/>
          <a:p>
            <a:pPr algn="l"/>
            <a:r>
              <a:rPr sz="1000" b="0" i="0">
                <a:solidFill>
                  <a:srgbClr val="1F2A37"/>
                </a:solidFill>
                <a:latin typeface="Source Han Sans SC Heavy"/>
                <a:ea typeface="Source Han Sans SC Heavy"/>
                <a:cs typeface="Source Han Sans SC Heavy"/>
              </a:rPr>
              <a:t>¥3,137–3,961</a:t>
            </a:r>
          </a:p>
        </p:txBody>
      </p:sp>
      <p:sp>
        <p:nvSpPr>
          <p:cNvPr id="19" name="TextBox 18"/>
          <p:cNvSpPr txBox="1"/>
          <p:nvPr/>
        </p:nvSpPr>
        <p:spPr>
          <a:xfrm>
            <a:off x="761695" y="3291840"/>
            <a:ext cx="6492240" cy="219456"/>
          </a:xfrm>
          <a:prstGeom prst="rect">
            <a:avLst/>
          </a:prstGeom>
          <a:noFill/>
        </p:spPr>
        <p:txBody>
          <a:bodyPr wrap="square" lIns="0" rIns="0" tIns="0" bIns="0" anchor="t">
            <a:spAutoFit/>
          </a:bodyPr>
          <a:lstStyle/>
          <a:p>
            <a:pPr algn="l"/>
            <a:r>
              <a:rPr sz="850" b="0" i="0">
                <a:solidFill>
                  <a:srgbClr val="6B7A8C"/>
                </a:solidFill>
                <a:latin typeface="Source Han Sans SC"/>
                <a:ea typeface="Source Han Sans SC"/>
                <a:cs typeface="Source Han Sans SC"/>
              </a:rPr>
              <a:t>含备用执行器与平衡充电器，逐项询价</a:t>
            </a:r>
          </a:p>
        </p:txBody>
      </p:sp>
      <p:sp>
        <p:nvSpPr>
          <p:cNvPr id="20" name="TextBox 19"/>
          <p:cNvSpPr txBox="1"/>
          <p:nvPr/>
        </p:nvSpPr>
        <p:spPr>
          <a:xfrm>
            <a:off x="761695" y="3730752"/>
            <a:ext cx="2560320" cy="274320"/>
          </a:xfrm>
          <a:prstGeom prst="rect">
            <a:avLst/>
          </a:prstGeom>
          <a:noFill/>
        </p:spPr>
        <p:txBody>
          <a:bodyPr wrap="square" lIns="0" rIns="0" tIns="0" bIns="0" anchor="ctr">
            <a:spAutoFit/>
          </a:bodyPr>
          <a:lstStyle/>
          <a:p>
            <a:pPr algn="l"/>
            <a:r>
              <a:rPr sz="1050" b="0" i="0">
                <a:solidFill>
                  <a:srgbClr val="0A2540"/>
                </a:solidFill>
                <a:latin typeface="Source Han Sans SC Heavy"/>
                <a:ea typeface="Source Han Sans SC Heavy"/>
                <a:cs typeface="Source Han Sans SC Heavy"/>
              </a:rPr>
              <a:t>本方案 · 集采口径</a:t>
            </a:r>
          </a:p>
        </p:txBody>
      </p:sp>
      <p:sp>
        <p:nvSpPr>
          <p:cNvPr id="21" name="Rectangle 20"/>
          <p:cNvSpPr/>
          <p:nvPr/>
        </p:nvSpPr>
        <p:spPr>
          <a:xfrm>
            <a:off x="3459175" y="3758184"/>
            <a:ext cx="5120640" cy="219456"/>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292784" y="3758184"/>
            <a:ext cx="64008" cy="219456"/>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26119" y="3730752"/>
            <a:ext cx="2103120" cy="274320"/>
          </a:xfrm>
          <a:prstGeom prst="rect">
            <a:avLst/>
          </a:prstGeom>
          <a:noFill/>
        </p:spPr>
        <p:txBody>
          <a:bodyPr wrap="square" lIns="0" rIns="0" tIns="0" bIns="0" anchor="ctr">
            <a:spAutoFit/>
          </a:bodyPr>
          <a:lstStyle/>
          <a:p>
            <a:pPr algn="l"/>
            <a:r>
              <a:rPr sz="1000" b="0" i="0">
                <a:solidFill>
                  <a:srgbClr val="1F2A37"/>
                </a:solidFill>
                <a:latin typeface="Source Han Sans SC Heavy"/>
                <a:ea typeface="Source Han Sans SC Heavy"/>
                <a:cs typeface="Source Han Sans SC Heavy"/>
              </a:rPr>
              <a:t>¥3,137</a:t>
            </a:r>
          </a:p>
        </p:txBody>
      </p:sp>
      <p:sp>
        <p:nvSpPr>
          <p:cNvPr id="24" name="TextBox 23"/>
          <p:cNvSpPr txBox="1"/>
          <p:nvPr/>
        </p:nvSpPr>
        <p:spPr>
          <a:xfrm>
            <a:off x="761695" y="4023360"/>
            <a:ext cx="6492240" cy="219456"/>
          </a:xfrm>
          <a:prstGeom prst="rect">
            <a:avLst/>
          </a:prstGeom>
          <a:noFill/>
        </p:spPr>
        <p:txBody>
          <a:bodyPr wrap="square" lIns="0" rIns="0" tIns="0" bIns="0" anchor="t">
            <a:spAutoFit/>
          </a:bodyPr>
          <a:lstStyle/>
          <a:p>
            <a:pPr algn="l"/>
            <a:r>
              <a:rPr sz="850" b="0" i="0">
                <a:solidFill>
                  <a:srgbClr val="6B7A8C"/>
                </a:solidFill>
                <a:latin typeface="Source Han Sans SC"/>
                <a:ea typeface="Source Han Sans SC"/>
                <a:cs typeface="Source Han Sans SC"/>
              </a:rPr>
              <a:t>20 只执行器集采价下的紧凑估算</a:t>
            </a:r>
          </a:p>
        </p:txBody>
      </p:sp>
      <p:cxnSp>
        <p:nvCxnSpPr>
          <p:cNvPr id="25" name="Connector 24"/>
          <p:cNvCxnSpPr/>
          <p:nvPr/>
        </p:nvCxnSpPr>
        <p:spPr>
          <a:xfrm>
            <a:off x="3459175" y="4315968"/>
            <a:ext cx="5120640"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312615" y="4315968"/>
            <a:ext cx="0" cy="73152"/>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809695" y="4389120"/>
            <a:ext cx="1005840" cy="201168"/>
          </a:xfrm>
          <a:prstGeom prst="rect">
            <a:avLst/>
          </a:prstGeom>
          <a:noFill/>
        </p:spPr>
        <p:txBody>
          <a:bodyPr wrap="square" lIns="0" rIns="0" tIns="0" bIns="0" anchor="t">
            <a:spAutoFit/>
          </a:bodyPr>
          <a:lstStyle/>
          <a:p>
            <a:pPr algn="ctr"/>
            <a:r>
              <a:rPr sz="800" b="0" i="0">
                <a:solidFill>
                  <a:srgbClr val="6B7A8C"/>
                </a:solidFill>
                <a:latin typeface="Source Han Sans SC"/>
                <a:ea typeface="Source Han Sans SC"/>
                <a:cs typeface="Source Han Sans SC"/>
              </a:rPr>
              <a:t>¥3 000</a:t>
            </a:r>
          </a:p>
        </p:txBody>
      </p:sp>
      <p:cxnSp>
        <p:nvCxnSpPr>
          <p:cNvPr id="28" name="Connector 27"/>
          <p:cNvCxnSpPr/>
          <p:nvPr/>
        </p:nvCxnSpPr>
        <p:spPr>
          <a:xfrm>
            <a:off x="5450535" y="4315968"/>
            <a:ext cx="0" cy="73152"/>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947615" y="4389120"/>
            <a:ext cx="1005840" cy="201168"/>
          </a:xfrm>
          <a:prstGeom prst="rect">
            <a:avLst/>
          </a:prstGeom>
          <a:noFill/>
        </p:spPr>
        <p:txBody>
          <a:bodyPr wrap="square" lIns="0" rIns="0" tIns="0" bIns="0" anchor="t">
            <a:spAutoFit/>
          </a:bodyPr>
          <a:lstStyle/>
          <a:p>
            <a:pPr algn="ctr"/>
            <a:r>
              <a:rPr sz="800" b="0" i="0">
                <a:solidFill>
                  <a:srgbClr val="6B7A8C"/>
                </a:solidFill>
                <a:latin typeface="Source Han Sans SC"/>
                <a:ea typeface="Source Han Sans SC"/>
                <a:cs typeface="Source Han Sans SC"/>
              </a:rPr>
              <a:t>¥5 000</a:t>
            </a:r>
          </a:p>
        </p:txBody>
      </p:sp>
      <p:cxnSp>
        <p:nvCxnSpPr>
          <p:cNvPr id="30" name="Connector 29"/>
          <p:cNvCxnSpPr/>
          <p:nvPr/>
        </p:nvCxnSpPr>
        <p:spPr>
          <a:xfrm>
            <a:off x="6588455" y="4315968"/>
            <a:ext cx="0" cy="73152"/>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85535" y="4389120"/>
            <a:ext cx="1005840" cy="201168"/>
          </a:xfrm>
          <a:prstGeom prst="rect">
            <a:avLst/>
          </a:prstGeom>
          <a:noFill/>
        </p:spPr>
        <p:txBody>
          <a:bodyPr wrap="square" lIns="0" rIns="0" tIns="0" bIns="0" anchor="t">
            <a:spAutoFit/>
          </a:bodyPr>
          <a:lstStyle/>
          <a:p>
            <a:pPr algn="ctr"/>
            <a:r>
              <a:rPr sz="800" b="0" i="0">
                <a:solidFill>
                  <a:srgbClr val="6B7A8C"/>
                </a:solidFill>
                <a:latin typeface="Source Han Sans SC"/>
                <a:ea typeface="Source Han Sans SC"/>
                <a:cs typeface="Source Han Sans SC"/>
              </a:rPr>
              <a:t>¥8 000</a:t>
            </a:r>
          </a:p>
        </p:txBody>
      </p:sp>
      <p:cxnSp>
        <p:nvCxnSpPr>
          <p:cNvPr id="32" name="Connector 31"/>
          <p:cNvCxnSpPr/>
          <p:nvPr/>
        </p:nvCxnSpPr>
        <p:spPr>
          <a:xfrm>
            <a:off x="7726375" y="4315968"/>
            <a:ext cx="0" cy="73152"/>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223455" y="4389120"/>
            <a:ext cx="1005840" cy="201168"/>
          </a:xfrm>
          <a:prstGeom prst="rect">
            <a:avLst/>
          </a:prstGeom>
          <a:noFill/>
        </p:spPr>
        <p:txBody>
          <a:bodyPr wrap="square" lIns="0" rIns="0" tIns="0" bIns="0" anchor="t">
            <a:spAutoFit/>
          </a:bodyPr>
          <a:lstStyle/>
          <a:p>
            <a:pPr algn="ctr"/>
            <a:r>
              <a:rPr sz="800" b="0" i="0">
                <a:solidFill>
                  <a:srgbClr val="6B7A8C"/>
                </a:solidFill>
                <a:latin typeface="Source Han Sans SC"/>
                <a:ea typeface="Source Han Sans SC"/>
                <a:cs typeface="Source Han Sans SC"/>
              </a:rPr>
              <a:t>¥12 000</a:t>
            </a:r>
          </a:p>
        </p:txBody>
      </p:sp>
      <p:sp>
        <p:nvSpPr>
          <p:cNvPr id="34" name="TextBox 33"/>
          <p:cNvSpPr txBox="1"/>
          <p:nvPr/>
        </p:nvSpPr>
        <p:spPr>
          <a:xfrm>
            <a:off x="761695" y="4645152"/>
            <a:ext cx="10668579" cy="219456"/>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价格轴为对数刻度；金额取自 BOM 明细与厂家询价区间。</a:t>
            </a:r>
          </a:p>
        </p:txBody>
      </p:sp>
      <p:sp>
        <p:nvSpPr>
          <p:cNvPr id="35" name="Rectangle 34"/>
          <p:cNvSpPr/>
          <p:nvPr/>
        </p:nvSpPr>
        <p:spPr>
          <a:xfrm>
            <a:off x="761695" y="5010912"/>
            <a:ext cx="10668579" cy="859536"/>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81151" y="5138928"/>
            <a:ext cx="10229667" cy="603504"/>
          </a:xfrm>
          <a:prstGeom prst="rect">
            <a:avLst/>
          </a:prstGeom>
          <a:noFill/>
        </p:spPr>
        <p:txBody>
          <a:bodyPr wrap="square" lIns="0" rIns="0" tIns="0" bIns="0" anchor="t">
            <a:spAutoFit/>
          </a:bodyPr>
          <a:lstStyle/>
          <a:p>
            <a:pPr algn="l">
              <a:lnSpc>
                <a:spcPct val="130000"/>
              </a:lnSpc>
            </a:pPr>
            <a:r>
              <a:rPr sz="950" b="0" i="0">
                <a:solidFill>
                  <a:srgbClr val="1264A3"/>
                </a:solidFill>
                <a:latin typeface="Source Han Sans SC Heavy"/>
                <a:ea typeface="Source Han Sans SC Heavy"/>
                <a:cs typeface="Source Han Sans SC Heavy"/>
              </a:rPr>
              <a:t>教学价值：</a:t>
            </a:r>
            <a:r>
              <a:rPr sz="950" b="0" i="0">
                <a:solidFill>
                  <a:srgbClr val="1F2A37"/>
                </a:solidFill>
                <a:latin typeface="Source Han Sans SC"/>
                <a:ea typeface="Source Han Sans SC"/>
                <a:cs typeface="Source Han Sans SC"/>
              </a:rPr>
              <a:t>按 20 台规模，班级投入 6.3–7.9 万元，为同级平台 12–24 万元 的三分之一左右。差额来自构型决策与统一执行器平台，使每名学生可以独立占用一台设备完成全流程实践。</a:t>
            </a:r>
          </a:p>
        </p:txBody>
      </p:sp>
      <p:sp>
        <p:nvSpPr>
          <p:cNvPr id="37" name="TextBox 36"/>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BOM 逐项询价（含备用执行器与平衡充）；两种口径分别列示，不合并引用</a:t>
            </a:r>
          </a:p>
        </p:txBody>
      </p:sp>
      <p:sp>
        <p:nvSpPr>
          <p:cNvPr id="38" name="TextBox 37"/>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39" name="Rectangle 38"/>
          <p:cNvSpPr/>
          <p:nvPr/>
        </p:nvSpPr>
        <p:spPr>
          <a:xfrm>
            <a:off x="1529791" y="6016752"/>
            <a:ext cx="90449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621231" y="6016752"/>
            <a:ext cx="758190" cy="237744"/>
          </a:xfrm>
          <a:prstGeom prst="rect">
            <a:avLst/>
          </a:prstGeom>
          <a:noFill/>
        </p:spPr>
        <p:txBody>
          <a:bodyPr wrap="square" lIns="0" rIns="0" tIns="0" bIns="0" anchor="ctr">
            <a:spAutoFit/>
          </a:bodyPr>
          <a:lstStyle/>
          <a:p>
            <a:pPr algn="l"/>
            <a:r>
              <a:rPr sz="1050" b="0" i="0">
                <a:solidFill>
                  <a:srgbClr val="1264A3"/>
                </a:solidFill>
                <a:latin typeface="Source Han Sans SC Heavy"/>
                <a:ea typeface="Source Han Sans SC Heavy"/>
                <a:cs typeface="Source Han Sans SC Heavy"/>
              </a:rPr>
              <a:t>◇</a:t>
            </a:r>
            <a:r>
              <a:rPr sz="1050" b="0" i="0">
                <a:solidFill>
                  <a:srgbClr val="1264A3"/>
                </a:solidFill>
                <a:latin typeface="Source Han Sans SC"/>
                <a:ea typeface="Source Han Sans SC"/>
                <a:cs typeface="Source Han Sans SC"/>
              </a:rPr>
              <a:t> 设计目标</a:t>
            </a:r>
          </a:p>
        </p:txBody>
      </p:sp>
    </p:spTree>
  </p:cSld>
  <p:clrMapOvr>
    <a:masterClrMapping/>
  </p:clrMapOvr>
  <p:transition spd="med"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323A42"/>
        </a:solidFill>
        <a:effectLst/>
      </p:bgPr>
    </p:bg>
    <p:spTree>
      <p:nvGrpSpPr>
        <p:cNvPr id="1" name=""/>
        <p:cNvGrpSpPr/>
        <p:nvPr/>
      </p:nvGrpSpPr>
      <p:grpSpPr/>
      <p:sp>
        <p:nvSpPr>
          <p:cNvPr id="2" name="Rectangle 1"/>
          <p:cNvSpPr/>
          <p:nvPr/>
        </p:nvSpPr>
        <p:spPr>
          <a:xfrm>
            <a:off x="0" y="0"/>
            <a:ext cx="576072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1695" y="603504"/>
            <a:ext cx="4937760" cy="237744"/>
          </a:xfrm>
          <a:prstGeom prst="rect">
            <a:avLst/>
          </a:prstGeom>
          <a:noFill/>
        </p:spPr>
        <p:txBody>
          <a:bodyPr wrap="square" lIns="0" rIns="0" tIns="0" bIns="0" anchor="t">
            <a:spAutoFit/>
          </a:bodyPr>
          <a:lstStyle/>
          <a:p>
            <a:pPr algn="l"/>
            <a:r>
              <a:rPr sz="1100" b="0" i="0">
                <a:solidFill>
                  <a:srgbClr val="9CC0DC"/>
                </a:solidFill>
                <a:latin typeface="Source Han Sans SC Heavy"/>
                <a:ea typeface="Source Han Sans SC Heavy"/>
                <a:cs typeface="Source Han Sans SC Heavy"/>
              </a:rPr>
              <a:t>整机外观与结构总成</a:t>
            </a:r>
            <a:r>
              <a:rPr sz="1100" b="0" i="0">
                <a:solidFill>
                  <a:srgbClr val="9CC0DC"/>
                </a:solidFill>
                <a:latin typeface="Source Han Sans SC"/>
                <a:ea typeface="Source Han Sans SC"/>
                <a:cs typeface="Source Han Sans SC"/>
              </a:rPr>
              <a:t>　CAD 光追渲染（整机零位）</a:t>
            </a:r>
          </a:p>
        </p:txBody>
      </p:sp>
      <p:sp>
        <p:nvSpPr>
          <p:cNvPr id="4" name="TextBox 3"/>
          <p:cNvSpPr txBox="1"/>
          <p:nvPr/>
        </p:nvSpPr>
        <p:spPr>
          <a:xfrm>
            <a:off x="761695" y="932688"/>
            <a:ext cx="4937760" cy="475488"/>
          </a:xfrm>
          <a:prstGeom prst="rect">
            <a:avLst/>
          </a:prstGeom>
          <a:noFill/>
        </p:spPr>
        <p:txBody>
          <a:bodyPr wrap="square" lIns="0" rIns="0" tIns="0" bIns="0" anchor="t">
            <a:spAutoFit/>
          </a:bodyPr>
          <a:lstStyle/>
          <a:p>
            <a:pPr algn="l">
              <a:lnSpc>
                <a:spcPct val="100000"/>
              </a:lnSpc>
            </a:pPr>
            <a:r>
              <a:rPr sz="2600" b="0" i="0">
                <a:solidFill>
                  <a:srgbClr val="FFFFFF"/>
                </a:solidFill>
                <a:latin typeface="Source Han Sans SC Heavy"/>
                <a:ea typeface="Source Han Sans SC Heavy"/>
                <a:cs typeface="Source Han Sans SC Heavy"/>
              </a:rPr>
              <a:t>整机外形与技术状态</a:t>
            </a:r>
          </a:p>
        </p:txBody>
      </p:sp>
      <p:sp>
        <p:nvSpPr>
          <p:cNvPr id="5" name="Rectangle 4"/>
          <p:cNvSpPr/>
          <p:nvPr/>
        </p:nvSpPr>
        <p:spPr>
          <a:xfrm>
            <a:off x="761695" y="1517904"/>
            <a:ext cx="658368" cy="4572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760720" y="0"/>
            <a:ext cx="6431249" cy="6858000"/>
          </a:xfrm>
          <a:prstGeom prst="rect">
            <a:avLst/>
          </a:prstGeom>
          <a:solidFill>
            <a:srgbClr val="323A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product_iso.jpg"/>
          <p:cNvPicPr>
            <a:picLocks noChangeAspect="1"/>
          </p:cNvPicPr>
          <p:nvPr/>
        </p:nvPicPr>
        <p:blipFill>
          <a:blip r:embed="rId2"/>
          <a:stretch>
            <a:fillRect/>
          </a:stretch>
        </p:blipFill>
        <p:spPr>
          <a:xfrm>
            <a:off x="7168837" y="0"/>
            <a:ext cx="3615015" cy="6858000"/>
          </a:xfrm>
          <a:prstGeom prst="rect">
            <a:avLst/>
          </a:prstGeom>
        </p:spPr>
      </p:pic>
      <p:sp>
        <p:nvSpPr>
          <p:cNvPr id="8" name="TextBox 7"/>
          <p:cNvSpPr txBox="1"/>
          <p:nvPr/>
        </p:nvSpPr>
        <p:spPr>
          <a:xfrm>
            <a:off x="761695" y="1883664"/>
            <a:ext cx="1371600" cy="237744"/>
          </a:xfrm>
          <a:prstGeom prst="rect">
            <a:avLst/>
          </a:prstGeom>
          <a:noFill/>
        </p:spPr>
        <p:txBody>
          <a:bodyPr wrap="square" lIns="0" rIns="0" tIns="0" bIns="0" anchor="t">
            <a:spAutoFit/>
          </a:bodyPr>
          <a:lstStyle/>
          <a:p>
            <a:pPr algn="l"/>
            <a:r>
              <a:rPr sz="1000" b="0" i="0">
                <a:solidFill>
                  <a:srgbClr val="9CC0DC"/>
                </a:solidFill>
                <a:latin typeface="Source Han Sans SC Heavy"/>
                <a:ea typeface="Source Han Sans SC Heavy"/>
                <a:cs typeface="Source Han Sans SC Heavy"/>
              </a:rPr>
              <a:t>构型</a:t>
            </a:r>
          </a:p>
        </p:txBody>
      </p:sp>
      <p:sp>
        <p:nvSpPr>
          <p:cNvPr id="9" name="TextBox 8"/>
          <p:cNvSpPr txBox="1"/>
          <p:nvPr/>
        </p:nvSpPr>
        <p:spPr>
          <a:xfrm>
            <a:off x="2224735" y="1883664"/>
            <a:ext cx="3383280" cy="402336"/>
          </a:xfrm>
          <a:prstGeom prst="rect">
            <a:avLst/>
          </a:prstGeom>
          <a:noFill/>
        </p:spPr>
        <p:txBody>
          <a:bodyPr wrap="square" lIns="0" rIns="0" tIns="0" bIns="0" anchor="t">
            <a:spAutoFit/>
          </a:bodyPr>
          <a:lstStyle/>
          <a:p>
            <a:pPr algn="l">
              <a:lnSpc>
                <a:spcPct val="124000"/>
              </a:lnSpc>
            </a:pPr>
            <a:r>
              <a:rPr sz="1000" b="0" i="0">
                <a:solidFill>
                  <a:srgbClr val="FFFFFF"/>
                </a:solidFill>
                <a:latin typeface="Source Han Sans SC"/>
                <a:ea typeface="Source Han Sans SC"/>
                <a:cs typeface="Source Han Sans SC"/>
              </a:rPr>
              <a:t>20 自由度：头 2 · 躯干 2 · 臂 8 · 腿 8</a:t>
            </a:r>
          </a:p>
        </p:txBody>
      </p:sp>
      <p:sp>
        <p:nvSpPr>
          <p:cNvPr id="10" name="TextBox 9"/>
          <p:cNvSpPr txBox="1"/>
          <p:nvPr/>
        </p:nvSpPr>
        <p:spPr>
          <a:xfrm>
            <a:off x="761695" y="2377440"/>
            <a:ext cx="1371600" cy="237744"/>
          </a:xfrm>
          <a:prstGeom prst="rect">
            <a:avLst/>
          </a:prstGeom>
          <a:noFill/>
        </p:spPr>
        <p:txBody>
          <a:bodyPr wrap="square" lIns="0" rIns="0" tIns="0" bIns="0" anchor="t">
            <a:spAutoFit/>
          </a:bodyPr>
          <a:lstStyle/>
          <a:p>
            <a:pPr algn="l"/>
            <a:r>
              <a:rPr sz="1000" b="0" i="0">
                <a:solidFill>
                  <a:srgbClr val="9CC0DC"/>
                </a:solidFill>
                <a:latin typeface="Source Han Sans SC Heavy"/>
                <a:ea typeface="Source Han Sans SC Heavy"/>
                <a:cs typeface="Source Han Sans SC Heavy"/>
              </a:rPr>
              <a:t>结构</a:t>
            </a:r>
          </a:p>
        </p:txBody>
      </p:sp>
      <p:sp>
        <p:nvSpPr>
          <p:cNvPr id="11" name="TextBox 10"/>
          <p:cNvSpPr txBox="1"/>
          <p:nvPr/>
        </p:nvSpPr>
        <p:spPr>
          <a:xfrm>
            <a:off x="2224735" y="2377440"/>
            <a:ext cx="3383280" cy="402336"/>
          </a:xfrm>
          <a:prstGeom prst="rect">
            <a:avLst/>
          </a:prstGeom>
          <a:noFill/>
        </p:spPr>
        <p:txBody>
          <a:bodyPr wrap="square" lIns="0" rIns="0" tIns="0" bIns="0" anchor="t">
            <a:spAutoFit/>
          </a:bodyPr>
          <a:lstStyle/>
          <a:p>
            <a:pPr algn="l">
              <a:lnSpc>
                <a:spcPct val="124000"/>
              </a:lnSpc>
            </a:pPr>
            <a:r>
              <a:rPr sz="1000" b="0" i="0">
                <a:solidFill>
                  <a:srgbClr val="FFFFFF"/>
                </a:solidFill>
                <a:latin typeface="Source Han Sans SC"/>
                <a:ea typeface="Source Han Sans SC"/>
                <a:cs typeface="Source Han Sans SC"/>
              </a:rPr>
              <a:t>6061 铝夹层承力，2.4 mm PETG 哑光白外壳</a:t>
            </a:r>
          </a:p>
        </p:txBody>
      </p:sp>
      <p:sp>
        <p:nvSpPr>
          <p:cNvPr id="12" name="TextBox 11"/>
          <p:cNvSpPr txBox="1"/>
          <p:nvPr/>
        </p:nvSpPr>
        <p:spPr>
          <a:xfrm>
            <a:off x="761695" y="2871216"/>
            <a:ext cx="1371600" cy="237744"/>
          </a:xfrm>
          <a:prstGeom prst="rect">
            <a:avLst/>
          </a:prstGeom>
          <a:noFill/>
        </p:spPr>
        <p:txBody>
          <a:bodyPr wrap="square" lIns="0" rIns="0" tIns="0" bIns="0" anchor="t">
            <a:spAutoFit/>
          </a:bodyPr>
          <a:lstStyle/>
          <a:p>
            <a:pPr algn="l"/>
            <a:r>
              <a:rPr sz="1000" b="0" i="0">
                <a:solidFill>
                  <a:srgbClr val="9CC0DC"/>
                </a:solidFill>
                <a:latin typeface="Source Han Sans SC Heavy"/>
                <a:ea typeface="Source Han Sans SC Heavy"/>
                <a:cs typeface="Source Han Sans SC Heavy"/>
              </a:rPr>
              <a:t>执行器</a:t>
            </a:r>
          </a:p>
        </p:txBody>
      </p:sp>
      <p:sp>
        <p:nvSpPr>
          <p:cNvPr id="13" name="TextBox 12"/>
          <p:cNvSpPr txBox="1"/>
          <p:nvPr/>
        </p:nvSpPr>
        <p:spPr>
          <a:xfrm>
            <a:off x="2224735" y="2871216"/>
            <a:ext cx="3383280" cy="402336"/>
          </a:xfrm>
          <a:prstGeom prst="rect">
            <a:avLst/>
          </a:prstGeom>
          <a:noFill/>
        </p:spPr>
        <p:txBody>
          <a:bodyPr wrap="square" lIns="0" rIns="0" tIns="0" bIns="0" anchor="t">
            <a:spAutoFit/>
          </a:bodyPr>
          <a:lstStyle/>
          <a:p>
            <a:pPr algn="l">
              <a:lnSpc>
                <a:spcPct val="124000"/>
              </a:lnSpc>
            </a:pPr>
            <a:r>
              <a:rPr sz="1000" b="0" i="0">
                <a:solidFill>
                  <a:srgbClr val="FFFFFF"/>
                </a:solidFill>
                <a:latin typeface="Source Han Sans SC"/>
                <a:ea typeface="Source Han Sans SC"/>
                <a:cs typeface="Source Han Sans SC"/>
              </a:rPr>
              <a:t>20 只总线舵机单线级联，输出面统一接口</a:t>
            </a:r>
          </a:p>
        </p:txBody>
      </p:sp>
      <p:sp>
        <p:nvSpPr>
          <p:cNvPr id="14" name="TextBox 13"/>
          <p:cNvSpPr txBox="1"/>
          <p:nvPr/>
        </p:nvSpPr>
        <p:spPr>
          <a:xfrm>
            <a:off x="761695" y="3364992"/>
            <a:ext cx="1371600" cy="237744"/>
          </a:xfrm>
          <a:prstGeom prst="rect">
            <a:avLst/>
          </a:prstGeom>
          <a:noFill/>
        </p:spPr>
        <p:txBody>
          <a:bodyPr wrap="square" lIns="0" rIns="0" tIns="0" bIns="0" anchor="t">
            <a:spAutoFit/>
          </a:bodyPr>
          <a:lstStyle/>
          <a:p>
            <a:pPr algn="l"/>
            <a:r>
              <a:rPr sz="1000" b="0" i="0">
                <a:solidFill>
                  <a:srgbClr val="9CC0DC"/>
                </a:solidFill>
                <a:latin typeface="Source Han Sans SC Heavy"/>
                <a:ea typeface="Source Han Sans SC Heavy"/>
                <a:cs typeface="Source Han Sans SC Heavy"/>
              </a:rPr>
              <a:t>包络</a:t>
            </a:r>
          </a:p>
        </p:txBody>
      </p:sp>
      <p:sp>
        <p:nvSpPr>
          <p:cNvPr id="15" name="TextBox 14"/>
          <p:cNvSpPr txBox="1"/>
          <p:nvPr/>
        </p:nvSpPr>
        <p:spPr>
          <a:xfrm>
            <a:off x="2224735" y="3364992"/>
            <a:ext cx="3383280" cy="402336"/>
          </a:xfrm>
          <a:prstGeom prst="rect">
            <a:avLst/>
          </a:prstGeom>
          <a:noFill/>
        </p:spPr>
        <p:txBody>
          <a:bodyPr wrap="square" lIns="0" rIns="0" tIns="0" bIns="0" anchor="t">
            <a:spAutoFit/>
          </a:bodyPr>
          <a:lstStyle/>
          <a:p>
            <a:pPr algn="l">
              <a:lnSpc>
                <a:spcPct val="124000"/>
              </a:lnSpc>
            </a:pPr>
            <a:r>
              <a:rPr sz="1000" b="0" i="0">
                <a:solidFill>
                  <a:srgbClr val="FFFFFF"/>
                </a:solidFill>
                <a:latin typeface="Source Han Sans SC"/>
                <a:ea typeface="Source Han Sans SC"/>
                <a:cs typeface="Source Han Sans SC"/>
              </a:rPr>
              <a:t>466.5 × 188 × 295 mm（高×宽×深）</a:t>
            </a:r>
          </a:p>
        </p:txBody>
      </p:sp>
      <p:sp>
        <p:nvSpPr>
          <p:cNvPr id="16" name="TextBox 15"/>
          <p:cNvSpPr txBox="1"/>
          <p:nvPr/>
        </p:nvSpPr>
        <p:spPr>
          <a:xfrm>
            <a:off x="761695" y="3858768"/>
            <a:ext cx="1371600" cy="237744"/>
          </a:xfrm>
          <a:prstGeom prst="rect">
            <a:avLst/>
          </a:prstGeom>
          <a:noFill/>
        </p:spPr>
        <p:txBody>
          <a:bodyPr wrap="square" lIns="0" rIns="0" tIns="0" bIns="0" anchor="t">
            <a:spAutoFit/>
          </a:bodyPr>
          <a:lstStyle/>
          <a:p>
            <a:pPr algn="l"/>
            <a:r>
              <a:rPr sz="1000" b="0" i="0">
                <a:solidFill>
                  <a:srgbClr val="9CC0DC"/>
                </a:solidFill>
                <a:latin typeface="Source Han Sans SC Heavy"/>
                <a:ea typeface="Source Han Sans SC Heavy"/>
                <a:cs typeface="Source Han Sans SC Heavy"/>
              </a:rPr>
              <a:t>质量</a:t>
            </a:r>
          </a:p>
        </p:txBody>
      </p:sp>
      <p:sp>
        <p:nvSpPr>
          <p:cNvPr id="17" name="TextBox 16"/>
          <p:cNvSpPr txBox="1"/>
          <p:nvPr/>
        </p:nvSpPr>
        <p:spPr>
          <a:xfrm>
            <a:off x="2224735" y="3858768"/>
            <a:ext cx="3383280" cy="402336"/>
          </a:xfrm>
          <a:prstGeom prst="rect">
            <a:avLst/>
          </a:prstGeom>
          <a:noFill/>
        </p:spPr>
        <p:txBody>
          <a:bodyPr wrap="square" lIns="0" rIns="0" tIns="0" bIns="0" anchor="t">
            <a:spAutoFit/>
          </a:bodyPr>
          <a:lstStyle/>
          <a:p>
            <a:pPr algn="l">
              <a:lnSpc>
                <a:spcPct val="124000"/>
              </a:lnSpc>
            </a:pPr>
            <a:r>
              <a:rPr sz="1000" b="0" i="0">
                <a:solidFill>
                  <a:srgbClr val="FFFFFF"/>
                </a:solidFill>
                <a:latin typeface="Source Han Sans SC"/>
                <a:ea typeface="Source Han Sans SC"/>
                <a:cs typeface="Source Han Sans SC"/>
              </a:rPr>
              <a:t>已计 2469 g，目标 2300 g</a:t>
            </a:r>
          </a:p>
        </p:txBody>
      </p:sp>
      <p:sp>
        <p:nvSpPr>
          <p:cNvPr id="18" name="TextBox 17"/>
          <p:cNvSpPr txBox="1"/>
          <p:nvPr/>
        </p:nvSpPr>
        <p:spPr>
          <a:xfrm>
            <a:off x="761695" y="4352544"/>
            <a:ext cx="1371600" cy="237744"/>
          </a:xfrm>
          <a:prstGeom prst="rect">
            <a:avLst/>
          </a:prstGeom>
          <a:noFill/>
        </p:spPr>
        <p:txBody>
          <a:bodyPr wrap="square" lIns="0" rIns="0" tIns="0" bIns="0" anchor="t">
            <a:spAutoFit/>
          </a:bodyPr>
          <a:lstStyle/>
          <a:p>
            <a:pPr algn="l"/>
            <a:r>
              <a:rPr sz="1000" b="0" i="0">
                <a:solidFill>
                  <a:srgbClr val="9CC0DC"/>
                </a:solidFill>
                <a:latin typeface="Source Han Sans SC Heavy"/>
                <a:ea typeface="Source Han Sans SC Heavy"/>
                <a:cs typeface="Source Han Sans SC Heavy"/>
              </a:rPr>
              <a:t>状态</a:t>
            </a:r>
          </a:p>
        </p:txBody>
      </p:sp>
      <p:sp>
        <p:nvSpPr>
          <p:cNvPr id="19" name="TextBox 18"/>
          <p:cNvSpPr txBox="1"/>
          <p:nvPr/>
        </p:nvSpPr>
        <p:spPr>
          <a:xfrm>
            <a:off x="2224735" y="4352544"/>
            <a:ext cx="3383280" cy="402336"/>
          </a:xfrm>
          <a:prstGeom prst="rect">
            <a:avLst/>
          </a:prstGeom>
          <a:noFill/>
        </p:spPr>
        <p:txBody>
          <a:bodyPr wrap="square" lIns="0" rIns="0" tIns="0" bIns="0" anchor="t">
            <a:spAutoFit/>
          </a:bodyPr>
          <a:lstStyle/>
          <a:p>
            <a:pPr algn="l">
              <a:lnSpc>
                <a:spcPct val="124000"/>
              </a:lnSpc>
            </a:pPr>
            <a:r>
              <a:rPr sz="1000" b="0" i="0">
                <a:solidFill>
                  <a:srgbClr val="FFFFFF"/>
                </a:solidFill>
                <a:latin typeface="Source Han Sans SC"/>
                <a:ea typeface="Source Han Sans SC"/>
                <a:cs typeface="Source Han Sans SC"/>
              </a:rPr>
              <a:t>设计冻结；结构件处于备料与试制阶段</a:t>
            </a:r>
          </a:p>
        </p:txBody>
      </p:sp>
      <p:cxnSp>
        <p:nvCxnSpPr>
          <p:cNvPr id="20" name="Connector 19"/>
          <p:cNvCxnSpPr/>
          <p:nvPr/>
        </p:nvCxnSpPr>
        <p:spPr>
          <a:xfrm>
            <a:off x="761695" y="5358384"/>
            <a:ext cx="4974336" cy="0"/>
          </a:xfrm>
          <a:prstGeom prst="line">
            <a:avLst/>
          </a:prstGeom>
          <a:ln w="9525">
            <a:solidFill>
              <a:srgbClr val="1264A3"/>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61695" y="5504688"/>
            <a:ext cx="4974336" cy="512064"/>
          </a:xfrm>
          <a:prstGeom prst="rect">
            <a:avLst/>
          </a:prstGeom>
          <a:noFill/>
        </p:spPr>
        <p:txBody>
          <a:bodyPr wrap="square" lIns="0" rIns="0" tIns="0" bIns="0" anchor="t">
            <a:spAutoFit/>
          </a:bodyPr>
          <a:lstStyle/>
          <a:p>
            <a:pPr algn="l">
              <a:lnSpc>
                <a:spcPct val="124000"/>
              </a:lnSpc>
            </a:pPr>
            <a:r>
              <a:rPr sz="900" b="0" i="0">
                <a:solidFill>
                  <a:srgbClr val="9CC0DC"/>
                </a:solidFill>
                <a:latin typeface="Source Han Sans SC"/>
                <a:ea typeface="Source Han Sans SC"/>
                <a:cs typeface="Source Han Sans SC"/>
              </a:rPr>
              <a:t>图 1-4　整机等轴测视图（CAD 光追渲染）</a:t>
            </a:r>
          </a:p>
          <a:p>
            <a:pPr algn="l"/>
            <a:r>
              <a:rPr sz="850" b="0" i="0">
                <a:solidFill>
                  <a:srgbClr val="9CC0DC"/>
                </a:solidFill>
                <a:latin typeface="Source Han Sans SC"/>
                <a:ea typeface="Source Han Sans SC"/>
                <a:cs typeface="Source Han Sans SC"/>
              </a:rPr>
              <a:t>渲染用于表达结构与接口关系，尺寸以装配体实算值为准。</a:t>
            </a:r>
          </a:p>
        </p:txBody>
      </p:sp>
    </p:spTree>
  </p:cSld>
  <p:clrMapOvr>
    <a:masterClrMapping/>
  </p:clrMapOvr>
  <p:transition spd="med"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323A42"/>
        </a:solidFill>
        <a:effectLst/>
      </p:bgPr>
    </p:bg>
    <p:spTree>
      <p:nvGrpSpPr>
        <p:cNvPr id="1" name=""/>
        <p:cNvGrpSpPr/>
        <p:nvPr/>
      </p:nvGrpSpPr>
      <p:grpSpPr/>
      <p:sp>
        <p:nvSpPr>
          <p:cNvPr id="2" name="Rectangle 1"/>
          <p:cNvSpPr/>
          <p:nvPr/>
        </p:nvSpPr>
        <p:spPr>
          <a:xfrm>
            <a:off x="0" y="0"/>
            <a:ext cx="539496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1695" y="603504"/>
            <a:ext cx="4572000" cy="274320"/>
          </a:xfrm>
          <a:prstGeom prst="rect">
            <a:avLst/>
          </a:prstGeom>
          <a:noFill/>
        </p:spPr>
        <p:txBody>
          <a:bodyPr wrap="square" lIns="0" rIns="0" tIns="0" bIns="0" anchor="t">
            <a:spAutoFit/>
          </a:bodyPr>
          <a:lstStyle/>
          <a:p>
            <a:pPr algn="l"/>
            <a:r>
              <a:rPr sz="1100" b="0" i="0">
                <a:solidFill>
                  <a:srgbClr val="9CC0DC"/>
                </a:solidFill>
                <a:latin typeface="Source Han Sans SC Heavy"/>
                <a:ea typeface="Source Han Sans SC Heavy"/>
                <a:cs typeface="Source Han Sans SC Heavy"/>
              </a:rPr>
              <a:t>结构与装配总成</a:t>
            </a:r>
            <a:r>
              <a:rPr sz="1100" b="0" i="0">
                <a:solidFill>
                  <a:srgbClr val="9CC0DC"/>
                </a:solidFill>
                <a:latin typeface="Source Han Sans SC"/>
                <a:ea typeface="Source Han Sans SC"/>
                <a:cs typeface="Source Han Sans SC"/>
              </a:rPr>
              <a:t>　爆炸视图 · 零件级分解</a:t>
            </a:r>
          </a:p>
        </p:txBody>
      </p:sp>
      <p:sp>
        <p:nvSpPr>
          <p:cNvPr id="4" name="TextBox 3"/>
          <p:cNvSpPr txBox="1"/>
          <p:nvPr/>
        </p:nvSpPr>
        <p:spPr>
          <a:xfrm>
            <a:off x="761695" y="950976"/>
            <a:ext cx="4572000" cy="512064"/>
          </a:xfrm>
          <a:prstGeom prst="rect">
            <a:avLst/>
          </a:prstGeom>
          <a:noFill/>
        </p:spPr>
        <p:txBody>
          <a:bodyPr wrap="square" lIns="0" rIns="0" tIns="0" bIns="0" anchor="t">
            <a:spAutoFit/>
          </a:bodyPr>
          <a:lstStyle/>
          <a:p>
            <a:pPr algn="l">
              <a:lnSpc>
                <a:spcPct val="100000"/>
              </a:lnSpc>
            </a:pPr>
            <a:r>
              <a:rPr sz="2600" b="0" i="0">
                <a:solidFill>
                  <a:srgbClr val="FFFFFF"/>
                </a:solidFill>
                <a:latin typeface="Source Han Sans SC Heavy"/>
                <a:ea typeface="Source Han Sans SC Heavy"/>
                <a:cs typeface="Source Han Sans SC Heavy"/>
              </a:rPr>
              <a:t>整机零件构成与装配关系</a:t>
            </a:r>
          </a:p>
        </p:txBody>
      </p:sp>
      <p:sp>
        <p:nvSpPr>
          <p:cNvPr id="5" name="Rectangle 4"/>
          <p:cNvSpPr/>
          <p:nvPr/>
        </p:nvSpPr>
        <p:spPr>
          <a:xfrm>
            <a:off x="761695" y="1572768"/>
            <a:ext cx="658368" cy="4572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394960" y="0"/>
            <a:ext cx="6797009" cy="6858000"/>
          </a:xfrm>
          <a:prstGeom prst="rect">
            <a:avLst/>
          </a:prstGeom>
          <a:solidFill>
            <a:srgbClr val="323A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exploded.jpg"/>
          <p:cNvPicPr>
            <a:picLocks noChangeAspect="1"/>
          </p:cNvPicPr>
          <p:nvPr/>
        </p:nvPicPr>
        <p:blipFill>
          <a:blip r:embed="rId2"/>
          <a:stretch>
            <a:fillRect/>
          </a:stretch>
        </p:blipFill>
        <p:spPr>
          <a:xfrm>
            <a:off x="6108730" y="0"/>
            <a:ext cx="5369467" cy="6858000"/>
          </a:xfrm>
          <a:prstGeom prst="rect">
            <a:avLst/>
          </a:prstGeom>
        </p:spPr>
      </p:pic>
      <p:sp>
        <p:nvSpPr>
          <p:cNvPr id="8" name="TextBox 7"/>
          <p:cNvSpPr txBox="1"/>
          <p:nvPr/>
        </p:nvSpPr>
        <p:spPr>
          <a:xfrm>
            <a:off x="761695" y="1975104"/>
            <a:ext cx="1371600" cy="237744"/>
          </a:xfrm>
          <a:prstGeom prst="rect">
            <a:avLst/>
          </a:prstGeom>
          <a:noFill/>
        </p:spPr>
        <p:txBody>
          <a:bodyPr wrap="square" lIns="0" rIns="0" tIns="0" bIns="0" anchor="t">
            <a:spAutoFit/>
          </a:bodyPr>
          <a:lstStyle/>
          <a:p>
            <a:pPr algn="l"/>
            <a:r>
              <a:rPr sz="1000" b="0" i="0">
                <a:solidFill>
                  <a:srgbClr val="9CC0DC"/>
                </a:solidFill>
                <a:latin typeface="Source Han Sans SC Heavy"/>
                <a:ea typeface="Source Han Sans SC Heavy"/>
                <a:cs typeface="Source Han Sans SC Heavy"/>
              </a:rPr>
              <a:t>零件级构成</a:t>
            </a:r>
          </a:p>
        </p:txBody>
      </p:sp>
      <p:sp>
        <p:nvSpPr>
          <p:cNvPr id="9" name="TextBox 8"/>
          <p:cNvSpPr txBox="1"/>
          <p:nvPr/>
        </p:nvSpPr>
        <p:spPr>
          <a:xfrm>
            <a:off x="2224735" y="1975104"/>
            <a:ext cx="3017520" cy="566928"/>
          </a:xfrm>
          <a:prstGeom prst="rect">
            <a:avLst/>
          </a:prstGeom>
          <a:noFill/>
        </p:spPr>
        <p:txBody>
          <a:bodyPr wrap="square" lIns="0" rIns="0" tIns="0" bIns="0" anchor="t">
            <a:spAutoFit/>
          </a:bodyPr>
          <a:lstStyle/>
          <a:p>
            <a:pPr algn="l">
              <a:lnSpc>
                <a:spcPct val="124000"/>
              </a:lnSpc>
            </a:pPr>
            <a:r>
              <a:rPr sz="950" b="0" i="0">
                <a:solidFill>
                  <a:srgbClr val="FFFFFF"/>
                </a:solidFill>
                <a:latin typeface="Source Han Sans SC"/>
                <a:ea typeface="Source Han Sans SC"/>
                <a:cs typeface="Source Han Sans SC"/>
              </a:rPr>
              <a:t>同源装配快照 1029 件：铝合金 283 · PETG 8 · TPU 6 · 紧固件 444 · 隔柱 14</a:t>
            </a:r>
          </a:p>
        </p:txBody>
      </p:sp>
      <p:sp>
        <p:nvSpPr>
          <p:cNvPr id="10" name="TextBox 9"/>
          <p:cNvSpPr txBox="1"/>
          <p:nvPr/>
        </p:nvSpPr>
        <p:spPr>
          <a:xfrm>
            <a:off x="761695" y="2615184"/>
            <a:ext cx="1371600" cy="237744"/>
          </a:xfrm>
          <a:prstGeom prst="rect">
            <a:avLst/>
          </a:prstGeom>
          <a:noFill/>
        </p:spPr>
        <p:txBody>
          <a:bodyPr wrap="square" lIns="0" rIns="0" tIns="0" bIns="0" anchor="t">
            <a:spAutoFit/>
          </a:bodyPr>
          <a:lstStyle/>
          <a:p>
            <a:pPr algn="l"/>
            <a:r>
              <a:rPr sz="1000" b="0" i="0">
                <a:solidFill>
                  <a:srgbClr val="9CC0DC"/>
                </a:solidFill>
                <a:latin typeface="Source Han Sans SC Heavy"/>
                <a:ea typeface="Source Han Sans SC Heavy"/>
                <a:cs typeface="Source Han Sans SC Heavy"/>
              </a:rPr>
              <a:t>动力与电子</a:t>
            </a:r>
          </a:p>
        </p:txBody>
      </p:sp>
      <p:sp>
        <p:nvSpPr>
          <p:cNvPr id="11" name="TextBox 10"/>
          <p:cNvSpPr txBox="1"/>
          <p:nvPr/>
        </p:nvSpPr>
        <p:spPr>
          <a:xfrm>
            <a:off x="2224735" y="2615184"/>
            <a:ext cx="3017520" cy="566928"/>
          </a:xfrm>
          <a:prstGeom prst="rect">
            <a:avLst/>
          </a:prstGeom>
          <a:noFill/>
        </p:spPr>
        <p:txBody>
          <a:bodyPr wrap="square" lIns="0" rIns="0" tIns="0" bIns="0" anchor="t">
            <a:spAutoFit/>
          </a:bodyPr>
          <a:lstStyle/>
          <a:p>
            <a:pPr algn="l">
              <a:lnSpc>
                <a:spcPct val="124000"/>
              </a:lnSpc>
            </a:pPr>
            <a:r>
              <a:rPr sz="950" b="0" i="0">
                <a:solidFill>
                  <a:srgbClr val="FFFFFF"/>
                </a:solidFill>
                <a:latin typeface="Source Han Sans SC"/>
                <a:ea typeface="Source Han Sans SC"/>
                <a:cs typeface="Source Han Sans SC"/>
              </a:rPr>
              <a:t>20 只总线舵机、单包电池、主控板与单目相机进入主装配</a:t>
            </a:r>
          </a:p>
        </p:txBody>
      </p:sp>
      <p:sp>
        <p:nvSpPr>
          <p:cNvPr id="12" name="TextBox 11"/>
          <p:cNvSpPr txBox="1"/>
          <p:nvPr/>
        </p:nvSpPr>
        <p:spPr>
          <a:xfrm>
            <a:off x="761695" y="3255264"/>
            <a:ext cx="1371600" cy="237744"/>
          </a:xfrm>
          <a:prstGeom prst="rect">
            <a:avLst/>
          </a:prstGeom>
          <a:noFill/>
        </p:spPr>
        <p:txBody>
          <a:bodyPr wrap="square" lIns="0" rIns="0" tIns="0" bIns="0" anchor="t">
            <a:spAutoFit/>
          </a:bodyPr>
          <a:lstStyle/>
          <a:p>
            <a:pPr algn="l"/>
            <a:r>
              <a:rPr sz="1000" b="0" i="0">
                <a:solidFill>
                  <a:srgbClr val="9CC0DC"/>
                </a:solidFill>
                <a:latin typeface="Source Han Sans SC Heavy"/>
                <a:ea typeface="Source Han Sans SC Heavy"/>
                <a:cs typeface="Source Han Sans SC Heavy"/>
              </a:rPr>
              <a:t>装配判据</a:t>
            </a:r>
          </a:p>
        </p:txBody>
      </p:sp>
      <p:sp>
        <p:nvSpPr>
          <p:cNvPr id="13" name="TextBox 12"/>
          <p:cNvSpPr txBox="1"/>
          <p:nvPr/>
        </p:nvSpPr>
        <p:spPr>
          <a:xfrm>
            <a:off x="2224735" y="3255264"/>
            <a:ext cx="3017520" cy="566928"/>
          </a:xfrm>
          <a:prstGeom prst="rect">
            <a:avLst/>
          </a:prstGeom>
          <a:noFill/>
        </p:spPr>
        <p:txBody>
          <a:bodyPr wrap="square" lIns="0" rIns="0" tIns="0" bIns="0" anchor="t">
            <a:spAutoFit/>
          </a:bodyPr>
          <a:lstStyle/>
          <a:p>
            <a:pPr algn="l">
              <a:lnSpc>
                <a:spcPct val="124000"/>
              </a:lnSpc>
            </a:pPr>
            <a:r>
              <a:rPr sz="950" b="0" i="0">
                <a:solidFill>
                  <a:srgbClr val="FFFFFF"/>
                </a:solidFill>
                <a:latin typeface="Source Han Sans SC"/>
                <a:ea typeface="Source Han Sans SC"/>
                <a:cs typeface="Source Han Sans SC"/>
              </a:rPr>
              <a:t>B-rep 干涉求解零相交，抽样构型扫描全部通过</a:t>
            </a:r>
          </a:p>
        </p:txBody>
      </p:sp>
      <p:sp>
        <p:nvSpPr>
          <p:cNvPr id="14" name="TextBox 13"/>
          <p:cNvSpPr txBox="1"/>
          <p:nvPr/>
        </p:nvSpPr>
        <p:spPr>
          <a:xfrm>
            <a:off x="761695" y="3895344"/>
            <a:ext cx="1371600" cy="237744"/>
          </a:xfrm>
          <a:prstGeom prst="rect">
            <a:avLst/>
          </a:prstGeom>
          <a:noFill/>
        </p:spPr>
        <p:txBody>
          <a:bodyPr wrap="square" lIns="0" rIns="0" tIns="0" bIns="0" anchor="t">
            <a:spAutoFit/>
          </a:bodyPr>
          <a:lstStyle/>
          <a:p>
            <a:pPr algn="l"/>
            <a:r>
              <a:rPr sz="1000" b="0" i="0">
                <a:solidFill>
                  <a:srgbClr val="9CC0DC"/>
                </a:solidFill>
                <a:latin typeface="Source Han Sans SC Heavy"/>
                <a:ea typeface="Source Han Sans SC Heavy"/>
                <a:cs typeface="Source Han Sans SC Heavy"/>
              </a:rPr>
              <a:t>制造输出</a:t>
            </a:r>
          </a:p>
        </p:txBody>
      </p:sp>
      <p:sp>
        <p:nvSpPr>
          <p:cNvPr id="15" name="TextBox 14"/>
          <p:cNvSpPr txBox="1"/>
          <p:nvPr/>
        </p:nvSpPr>
        <p:spPr>
          <a:xfrm>
            <a:off x="2224735" y="3895344"/>
            <a:ext cx="3017520" cy="566928"/>
          </a:xfrm>
          <a:prstGeom prst="rect">
            <a:avLst/>
          </a:prstGeom>
          <a:noFill/>
        </p:spPr>
        <p:txBody>
          <a:bodyPr wrap="square" lIns="0" rIns="0" tIns="0" bIns="0" anchor="t">
            <a:spAutoFit/>
          </a:bodyPr>
          <a:lstStyle/>
          <a:p>
            <a:pPr algn="l">
              <a:lnSpc>
                <a:spcPct val="124000"/>
              </a:lnSpc>
            </a:pPr>
            <a:r>
              <a:rPr sz="950" b="0" i="0">
                <a:solidFill>
                  <a:srgbClr val="FFFFFF"/>
                </a:solidFill>
                <a:latin typeface="Source Han Sans SC"/>
                <a:ea typeface="Source Han Sans SC"/>
                <a:cs typeface="Source Han Sans SC"/>
              </a:rPr>
              <a:t>铝件激光下料清单、PETG/TPU 定向 3MF、标准件与角铝模板</a:t>
            </a:r>
          </a:p>
        </p:txBody>
      </p:sp>
      <p:cxnSp>
        <p:nvCxnSpPr>
          <p:cNvPr id="16" name="Connector 15"/>
          <p:cNvCxnSpPr/>
          <p:nvPr/>
        </p:nvCxnSpPr>
        <p:spPr>
          <a:xfrm>
            <a:off x="761695" y="5431536"/>
            <a:ext cx="4608576" cy="0"/>
          </a:xfrm>
          <a:prstGeom prst="line">
            <a:avLst/>
          </a:prstGeom>
          <a:ln w="9525">
            <a:solidFill>
              <a:srgbClr val="1264A3"/>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61695" y="5577840"/>
            <a:ext cx="4608576" cy="548640"/>
          </a:xfrm>
          <a:prstGeom prst="rect">
            <a:avLst/>
          </a:prstGeom>
          <a:noFill/>
        </p:spPr>
        <p:txBody>
          <a:bodyPr wrap="square" lIns="0" rIns="0" tIns="0" bIns="0" anchor="t">
            <a:spAutoFit/>
          </a:bodyPr>
          <a:lstStyle/>
          <a:p>
            <a:pPr algn="l">
              <a:lnSpc>
                <a:spcPct val="126000"/>
              </a:lnSpc>
            </a:pPr>
            <a:r>
              <a:rPr sz="900" b="0" i="0">
                <a:solidFill>
                  <a:srgbClr val="9CC0DC"/>
                </a:solidFill>
                <a:latin typeface="Source Han Sans SC"/>
                <a:ea typeface="Source Han Sans SC"/>
                <a:cs typeface="Source Han Sans SC"/>
              </a:rPr>
              <a:t>图 1-5　爆炸视图（CAD 光追渲染）</a:t>
            </a:r>
          </a:p>
          <a:p>
            <a:pPr algn="l"/>
            <a:r>
              <a:rPr sz="850" b="0" i="0">
                <a:solidFill>
                  <a:srgbClr val="9CC0DC"/>
                </a:solidFill>
                <a:latin typeface="Source Han Sans SC"/>
                <a:ea typeface="Source Han Sans SC"/>
                <a:cs typeface="Source Han Sans SC"/>
              </a:rPr>
              <a:t>用于说明零件级构成与装配顺序，尺寸以装配体实算值为准。</a:t>
            </a:r>
          </a:p>
        </p:txBody>
      </p:sp>
    </p:spTree>
  </p:cSld>
  <p:clrMapOvr>
    <a:masterClrMapping/>
  </p:clrMapOvr>
  <p:transition spd="med"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Rectangle 1"/>
          <p:cNvSpPr/>
          <p:nvPr/>
        </p:nvSpPr>
        <p:spPr>
          <a:xfrm>
            <a:off x="0" y="0"/>
            <a:ext cx="12191969"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a:off x="53035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0704"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591055"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121408"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51760"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82111"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712463"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242816"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73168"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303520"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83387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364223"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94575"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424927"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955279"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48563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015984"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546336"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076688"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607040"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13739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667744"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198096"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530352"/>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1060704"/>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1591055"/>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2121408"/>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2651760"/>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3182111"/>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3712463"/>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4242816"/>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4773168"/>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5303520"/>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5833872"/>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6364223"/>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05840" y="2103120"/>
            <a:ext cx="8229600" cy="1280160"/>
          </a:xfrm>
          <a:prstGeom prst="rect">
            <a:avLst/>
          </a:prstGeom>
          <a:noFill/>
        </p:spPr>
        <p:txBody>
          <a:bodyPr wrap="square" lIns="0" rIns="0" tIns="0" bIns="0" anchor="t">
            <a:spAutoFit/>
          </a:bodyPr>
          <a:lstStyle/>
          <a:p>
            <a:pPr algn="l"/>
            <a:r>
              <a:rPr sz="12000" b="0" i="0">
                <a:solidFill>
                  <a:srgbClr val="1B3A5C"/>
                </a:solidFill>
                <a:latin typeface="Source Han Sans SC Heavy"/>
                <a:ea typeface="Source Han Sans SC Heavy"/>
                <a:cs typeface="Source Han Sans SC Heavy"/>
              </a:rPr>
              <a:t>02</a:t>
            </a:r>
          </a:p>
        </p:txBody>
      </p:sp>
      <p:sp>
        <p:nvSpPr>
          <p:cNvPr id="39" name="Rectangle 38"/>
          <p:cNvSpPr/>
          <p:nvPr/>
        </p:nvSpPr>
        <p:spPr>
          <a:xfrm>
            <a:off x="1042415" y="3584448"/>
            <a:ext cx="731520" cy="4572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005840" y="3877056"/>
            <a:ext cx="8778240" cy="914400"/>
          </a:xfrm>
          <a:prstGeom prst="rect">
            <a:avLst/>
          </a:prstGeom>
          <a:noFill/>
        </p:spPr>
        <p:txBody>
          <a:bodyPr wrap="square" lIns="0" rIns="0" tIns="0" bIns="0" anchor="t">
            <a:spAutoFit/>
          </a:bodyPr>
          <a:lstStyle/>
          <a:p>
            <a:pPr algn="l">
              <a:lnSpc>
                <a:spcPct val="118000"/>
              </a:lnSpc>
            </a:pPr>
            <a:r>
              <a:rPr sz="3200" b="0" i="0">
                <a:solidFill>
                  <a:srgbClr val="FFFFFF"/>
                </a:solidFill>
                <a:latin typeface="Source Han Sans SC Heavy"/>
                <a:ea typeface="Source Han Sans SC Heavy"/>
                <a:cs typeface="Source Han Sans SC Heavy"/>
              </a:rPr>
              <a:t>软件系统</a:t>
            </a:r>
          </a:p>
        </p:txBody>
      </p:sp>
      <p:sp>
        <p:nvSpPr>
          <p:cNvPr id="41" name="TextBox 40"/>
          <p:cNvSpPr txBox="1"/>
          <p:nvPr/>
        </p:nvSpPr>
        <p:spPr>
          <a:xfrm>
            <a:off x="1005840" y="4956048"/>
            <a:ext cx="8778240" cy="365760"/>
          </a:xfrm>
          <a:prstGeom prst="rect">
            <a:avLst/>
          </a:prstGeom>
          <a:noFill/>
        </p:spPr>
        <p:txBody>
          <a:bodyPr wrap="square" lIns="0" rIns="0" tIns="0" bIns="0" anchor="t">
            <a:spAutoFit/>
          </a:bodyPr>
          <a:lstStyle/>
          <a:p>
            <a:pPr algn="l"/>
            <a:r>
              <a:rPr sz="1350" b="0" i="0">
                <a:solidFill>
                  <a:srgbClr val="9CC0DC"/>
                </a:solidFill>
                <a:latin typeface="Source Han Sans SC"/>
                <a:ea typeface="Source Han Sans SC"/>
                <a:cs typeface="Source Han Sans SC"/>
              </a:rPr>
              <a:t>分层架构、任务调度、接口契约与感知语音通路。</a:t>
            </a:r>
          </a:p>
        </p:txBody>
      </p:sp>
      <p:sp>
        <p:nvSpPr>
          <p:cNvPr id="42" name="Oval 41"/>
          <p:cNvSpPr/>
          <p:nvPr/>
        </p:nvSpPr>
        <p:spPr>
          <a:xfrm>
            <a:off x="10835640" y="1417320"/>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3" name="Connector 42"/>
          <p:cNvCxnSpPr/>
          <p:nvPr/>
        </p:nvCxnSpPr>
        <p:spPr>
          <a:xfrm>
            <a:off x="10881360" y="146304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0835640" y="160934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5" name="Connector 44"/>
          <p:cNvCxnSpPr/>
          <p:nvPr/>
        </p:nvCxnSpPr>
        <p:spPr>
          <a:xfrm>
            <a:off x="10881360" y="165506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0835640" y="180136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7" name="Connector 46"/>
          <p:cNvCxnSpPr/>
          <p:nvPr/>
        </p:nvCxnSpPr>
        <p:spPr>
          <a:xfrm>
            <a:off x="10881360" y="184708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10835640" y="199339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9" name="Connector 48"/>
          <p:cNvCxnSpPr/>
          <p:nvPr/>
        </p:nvCxnSpPr>
        <p:spPr>
          <a:xfrm>
            <a:off x="10881360" y="203911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0835640" y="218541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1" name="Connector 50"/>
          <p:cNvCxnSpPr/>
          <p:nvPr/>
        </p:nvCxnSpPr>
        <p:spPr>
          <a:xfrm>
            <a:off x="10881360" y="2231136"/>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10835640" y="2377440"/>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3" name="Connector 52"/>
          <p:cNvCxnSpPr/>
          <p:nvPr/>
        </p:nvCxnSpPr>
        <p:spPr>
          <a:xfrm>
            <a:off x="10881360" y="242316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10835640" y="256946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5" name="Connector 54"/>
          <p:cNvCxnSpPr/>
          <p:nvPr/>
        </p:nvCxnSpPr>
        <p:spPr>
          <a:xfrm>
            <a:off x="10881360" y="261518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10835640" y="276148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7" name="Connector 56"/>
          <p:cNvCxnSpPr/>
          <p:nvPr/>
        </p:nvCxnSpPr>
        <p:spPr>
          <a:xfrm>
            <a:off x="10881360" y="280720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10835640" y="295351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9" name="Connector 58"/>
          <p:cNvCxnSpPr/>
          <p:nvPr/>
        </p:nvCxnSpPr>
        <p:spPr>
          <a:xfrm>
            <a:off x="10881360" y="299923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0835640" y="314553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1" name="Connector 60"/>
          <p:cNvCxnSpPr/>
          <p:nvPr/>
        </p:nvCxnSpPr>
        <p:spPr>
          <a:xfrm>
            <a:off x="10881360" y="3191256"/>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0835640" y="3337560"/>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3" name="Connector 62"/>
          <p:cNvCxnSpPr/>
          <p:nvPr/>
        </p:nvCxnSpPr>
        <p:spPr>
          <a:xfrm>
            <a:off x="10881360" y="338328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0835640" y="352958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5" name="Connector 64"/>
          <p:cNvCxnSpPr/>
          <p:nvPr/>
        </p:nvCxnSpPr>
        <p:spPr>
          <a:xfrm>
            <a:off x="10881360" y="357530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10835640" y="372160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7" name="Connector 66"/>
          <p:cNvCxnSpPr/>
          <p:nvPr/>
        </p:nvCxnSpPr>
        <p:spPr>
          <a:xfrm>
            <a:off x="10881360" y="376732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10835640" y="391363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9" name="Connector 68"/>
          <p:cNvCxnSpPr/>
          <p:nvPr/>
        </p:nvCxnSpPr>
        <p:spPr>
          <a:xfrm>
            <a:off x="10881360" y="395935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0835640" y="410565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1" name="Connector 70"/>
          <p:cNvCxnSpPr/>
          <p:nvPr/>
        </p:nvCxnSpPr>
        <p:spPr>
          <a:xfrm>
            <a:off x="10881360" y="4151376"/>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10835640" y="4297680"/>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3" name="Connector 72"/>
          <p:cNvCxnSpPr/>
          <p:nvPr/>
        </p:nvCxnSpPr>
        <p:spPr>
          <a:xfrm>
            <a:off x="10881360" y="434340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10835640" y="448970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5" name="Connector 74"/>
          <p:cNvCxnSpPr/>
          <p:nvPr/>
        </p:nvCxnSpPr>
        <p:spPr>
          <a:xfrm>
            <a:off x="10881360" y="453542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10835640" y="468172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7" name="Connector 76"/>
          <p:cNvCxnSpPr/>
          <p:nvPr/>
        </p:nvCxnSpPr>
        <p:spPr>
          <a:xfrm>
            <a:off x="10881360" y="472744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10835640" y="487375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9" name="Connector 78"/>
          <p:cNvCxnSpPr/>
          <p:nvPr/>
        </p:nvCxnSpPr>
        <p:spPr>
          <a:xfrm>
            <a:off x="10881360" y="491947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0835640" y="506577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02</a:t>
            </a:r>
            <a:r>
              <a:rPr sz="1000" b="0" i="0">
                <a:solidFill>
                  <a:srgbClr val="6B7A8C"/>
                </a:solidFill>
                <a:latin typeface="Source Han Sans SC"/>
                <a:ea typeface="Source Han Sans SC"/>
                <a:cs typeface="Source Han Sans SC"/>
              </a:rPr>
              <a:t>  软件系统</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2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16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软件系统的三层结构与层间接口</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分层依据是职责边界：任务调度、运动生成与总线通信各自独立，层间通过固定接口交互。</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84832"/>
            <a:ext cx="6675120" cy="859536"/>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61695" y="2084832"/>
            <a:ext cx="50292" cy="859536"/>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99439" y="2194560"/>
            <a:ext cx="1554480" cy="274320"/>
          </a:xfrm>
          <a:prstGeom prst="rect">
            <a:avLst/>
          </a:prstGeom>
          <a:noFill/>
        </p:spPr>
        <p:txBody>
          <a:bodyPr wrap="square" lIns="0" rIns="0" tIns="0" bIns="0" anchor="t">
            <a:spAutoFit/>
          </a:bodyPr>
          <a:lstStyle/>
          <a:p>
            <a:pPr algn="l"/>
            <a:r>
              <a:rPr sz="1400" b="0" i="0">
                <a:solidFill>
                  <a:srgbClr val="0A2540"/>
                </a:solidFill>
                <a:latin typeface="Source Han Sans SC Heavy"/>
                <a:ea typeface="Source Han Sans SC Heavy"/>
                <a:cs typeface="Source Han Sans SC Heavy"/>
              </a:rPr>
              <a:t>任务层</a:t>
            </a:r>
          </a:p>
        </p:txBody>
      </p:sp>
      <p:sp>
        <p:nvSpPr>
          <p:cNvPr id="13" name="TextBox 12"/>
          <p:cNvSpPr txBox="1"/>
          <p:nvPr/>
        </p:nvSpPr>
        <p:spPr>
          <a:xfrm>
            <a:off x="999439" y="2542032"/>
            <a:ext cx="2560320" cy="219456"/>
          </a:xfrm>
          <a:prstGeom prst="rect">
            <a:avLst/>
          </a:prstGeom>
          <a:noFill/>
        </p:spPr>
        <p:txBody>
          <a:bodyPr wrap="square" lIns="0" rIns="0" tIns="0" bIns="0" anchor="t">
            <a:spAutoFit/>
          </a:bodyPr>
          <a:lstStyle/>
          <a:p>
            <a:pPr algn="l"/>
            <a:r>
              <a:rPr sz="850" b="0" i="0">
                <a:solidFill>
                  <a:srgbClr val="6B7A8C"/>
                </a:solidFill>
                <a:latin typeface="Source Han Sans SC"/>
                <a:ea typeface="Source Han Sans SC"/>
                <a:cs typeface="Source Han Sans SC"/>
              </a:rPr>
              <a:t>cognition · 通用 Linux 主控 · Python 3.14</a:t>
            </a:r>
          </a:p>
        </p:txBody>
      </p:sp>
      <p:sp>
        <p:nvSpPr>
          <p:cNvPr id="14" name="TextBox 13"/>
          <p:cNvSpPr txBox="1"/>
          <p:nvPr/>
        </p:nvSpPr>
        <p:spPr>
          <a:xfrm>
            <a:off x="3596335" y="2084832"/>
            <a:ext cx="3712463" cy="859536"/>
          </a:xfrm>
          <a:prstGeom prst="rect">
            <a:avLst/>
          </a:prstGeom>
          <a:noFill/>
        </p:spPr>
        <p:txBody>
          <a:bodyPr wrap="square" lIns="0" rIns="0" tIns="0" bIns="0" anchor="ctr">
            <a:spAutoFit/>
          </a:bodyPr>
          <a:lstStyle/>
          <a:p>
            <a:pPr algn="l">
              <a:lnSpc>
                <a:spcPct val="128000"/>
              </a:lnSpc>
            </a:pPr>
            <a:r>
              <a:rPr sz="950" b="0" i="0">
                <a:solidFill>
                  <a:srgbClr val="1F2A37"/>
                </a:solidFill>
                <a:latin typeface="Source Han Sans SC"/>
                <a:ea typeface="Source Han Sans SC"/>
                <a:cs typeface="Source Han Sans SC"/>
              </a:rPr>
              <a:t>任务卡解析 · 状态机调度 · 技能插件 · 感知与语音接入</a:t>
            </a:r>
          </a:p>
        </p:txBody>
      </p:sp>
      <p:sp>
        <p:nvSpPr>
          <p:cNvPr id="15" name="Rectangle 14"/>
          <p:cNvSpPr/>
          <p:nvPr/>
        </p:nvSpPr>
        <p:spPr>
          <a:xfrm>
            <a:off x="761695" y="3035808"/>
            <a:ext cx="6675120" cy="859536"/>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61695" y="3035808"/>
            <a:ext cx="50292" cy="859536"/>
          </a:xfrm>
          <a:prstGeom prst="rect">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99439" y="3145536"/>
            <a:ext cx="1554480" cy="274320"/>
          </a:xfrm>
          <a:prstGeom prst="rect">
            <a:avLst/>
          </a:prstGeom>
          <a:noFill/>
        </p:spPr>
        <p:txBody>
          <a:bodyPr wrap="square" lIns="0" rIns="0" tIns="0" bIns="0" anchor="t">
            <a:spAutoFit/>
          </a:bodyPr>
          <a:lstStyle/>
          <a:p>
            <a:pPr algn="l"/>
            <a:r>
              <a:rPr sz="1400" b="0" i="0">
                <a:solidFill>
                  <a:srgbClr val="0A2540"/>
                </a:solidFill>
                <a:latin typeface="Source Han Sans SC Heavy"/>
                <a:ea typeface="Source Han Sans SC Heavy"/>
                <a:cs typeface="Source Han Sans SC Heavy"/>
              </a:rPr>
              <a:t>运动层</a:t>
            </a:r>
          </a:p>
        </p:txBody>
      </p:sp>
      <p:sp>
        <p:nvSpPr>
          <p:cNvPr id="18" name="TextBox 17"/>
          <p:cNvSpPr txBox="1"/>
          <p:nvPr/>
        </p:nvSpPr>
        <p:spPr>
          <a:xfrm>
            <a:off x="999439" y="3493008"/>
            <a:ext cx="2560320" cy="219456"/>
          </a:xfrm>
          <a:prstGeom prst="rect">
            <a:avLst/>
          </a:prstGeom>
          <a:noFill/>
        </p:spPr>
        <p:txBody>
          <a:bodyPr wrap="square" lIns="0" rIns="0" tIns="0" bIns="0" anchor="t">
            <a:spAutoFit/>
          </a:bodyPr>
          <a:lstStyle/>
          <a:p>
            <a:pPr algn="l"/>
            <a:r>
              <a:rPr sz="850" b="0" i="0">
                <a:solidFill>
                  <a:srgbClr val="6B7A8C"/>
                </a:solidFill>
                <a:latin typeface="Source Han Sans SC"/>
                <a:ea typeface="Source Han Sans SC"/>
                <a:cs typeface="Source Han Sans SC"/>
              </a:rPr>
              <a:t>cerebellum · 参数化步态与动作库 · 可下沉至 MCU</a:t>
            </a:r>
          </a:p>
        </p:txBody>
      </p:sp>
      <p:sp>
        <p:nvSpPr>
          <p:cNvPr id="19" name="TextBox 18"/>
          <p:cNvSpPr txBox="1"/>
          <p:nvPr/>
        </p:nvSpPr>
        <p:spPr>
          <a:xfrm>
            <a:off x="3596335" y="3035808"/>
            <a:ext cx="3712463" cy="859536"/>
          </a:xfrm>
          <a:prstGeom prst="rect">
            <a:avLst/>
          </a:prstGeom>
          <a:noFill/>
        </p:spPr>
        <p:txBody>
          <a:bodyPr wrap="square" lIns="0" rIns="0" tIns="0" bIns="0" anchor="ctr">
            <a:spAutoFit/>
          </a:bodyPr>
          <a:lstStyle/>
          <a:p>
            <a:pPr algn="l">
              <a:lnSpc>
                <a:spcPct val="128000"/>
              </a:lnSpc>
            </a:pPr>
            <a:r>
              <a:rPr sz="950" b="0" i="0">
                <a:solidFill>
                  <a:srgbClr val="1F2A37"/>
                </a:solidFill>
                <a:latin typeface="Source Han Sans SC"/>
                <a:ea typeface="Source Han Sans SC"/>
                <a:cs typeface="Source Han Sans SC"/>
              </a:rPr>
              <a:t>正弦步态生成 · 关键帧动作回放 · 角度限位钳制</a:t>
            </a:r>
          </a:p>
        </p:txBody>
      </p:sp>
      <p:sp>
        <p:nvSpPr>
          <p:cNvPr id="20" name="Rectangle 19"/>
          <p:cNvSpPr/>
          <p:nvPr/>
        </p:nvSpPr>
        <p:spPr>
          <a:xfrm>
            <a:off x="761695" y="3986784"/>
            <a:ext cx="6675120" cy="859536"/>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61695" y="3986784"/>
            <a:ext cx="50292" cy="859536"/>
          </a:xfrm>
          <a:prstGeom prst="rect">
            <a:avLst/>
          </a:prstGeom>
          <a:solidFill>
            <a:srgbClr val="6FA3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99439" y="4096512"/>
            <a:ext cx="1554480" cy="274320"/>
          </a:xfrm>
          <a:prstGeom prst="rect">
            <a:avLst/>
          </a:prstGeom>
          <a:noFill/>
        </p:spPr>
        <p:txBody>
          <a:bodyPr wrap="square" lIns="0" rIns="0" tIns="0" bIns="0" anchor="t">
            <a:spAutoFit/>
          </a:bodyPr>
          <a:lstStyle/>
          <a:p>
            <a:pPr algn="l"/>
            <a:r>
              <a:rPr sz="1400" b="0" i="0">
                <a:solidFill>
                  <a:srgbClr val="0A2540"/>
                </a:solidFill>
                <a:latin typeface="Source Han Sans SC Heavy"/>
                <a:ea typeface="Source Han Sans SC Heavy"/>
                <a:cs typeface="Source Han Sans SC Heavy"/>
              </a:rPr>
              <a:t>总线层</a:t>
            </a:r>
          </a:p>
        </p:txBody>
      </p:sp>
      <p:sp>
        <p:nvSpPr>
          <p:cNvPr id="23" name="TextBox 22"/>
          <p:cNvSpPr txBox="1"/>
          <p:nvPr/>
        </p:nvSpPr>
        <p:spPr>
          <a:xfrm>
            <a:off x="999439" y="4443984"/>
            <a:ext cx="2560320" cy="219456"/>
          </a:xfrm>
          <a:prstGeom prst="rect">
            <a:avLst/>
          </a:prstGeom>
          <a:noFill/>
        </p:spPr>
        <p:txBody>
          <a:bodyPr wrap="square" lIns="0" rIns="0" tIns="0" bIns="0" anchor="t">
            <a:spAutoFit/>
          </a:bodyPr>
          <a:lstStyle/>
          <a:p>
            <a:pPr algn="l"/>
            <a:r>
              <a:rPr sz="850" b="0" i="0">
                <a:solidFill>
                  <a:srgbClr val="6B7A8C"/>
                </a:solidFill>
                <a:latin typeface="Source Han Sans SC"/>
                <a:ea typeface="Source Han Sans SC"/>
                <a:cs typeface="Source Han Sans SC"/>
              </a:rPr>
              <a:t>servo bus · 20 路串行总线，单线级联</a:t>
            </a:r>
          </a:p>
        </p:txBody>
      </p:sp>
      <p:sp>
        <p:nvSpPr>
          <p:cNvPr id="24" name="TextBox 23"/>
          <p:cNvSpPr txBox="1"/>
          <p:nvPr/>
        </p:nvSpPr>
        <p:spPr>
          <a:xfrm>
            <a:off x="3596335" y="3986784"/>
            <a:ext cx="3712463" cy="859536"/>
          </a:xfrm>
          <a:prstGeom prst="rect">
            <a:avLst/>
          </a:prstGeom>
          <a:noFill/>
        </p:spPr>
        <p:txBody>
          <a:bodyPr wrap="square" lIns="0" rIns="0" tIns="0" bIns="0" anchor="ctr">
            <a:spAutoFit/>
          </a:bodyPr>
          <a:lstStyle/>
          <a:p>
            <a:pPr algn="l">
              <a:lnSpc>
                <a:spcPct val="128000"/>
              </a:lnSpc>
            </a:pPr>
            <a:r>
              <a:rPr sz="950" b="0" i="0">
                <a:solidFill>
                  <a:srgbClr val="1F2A37"/>
                </a:solidFill>
                <a:latin typeface="Source Han Sans SC"/>
                <a:ea typeface="Source Han Sans SC"/>
                <a:cs typeface="Source Han Sans SC"/>
              </a:rPr>
              <a:t>统一写角度入口 · 角度与脉冲换算 · 同步写与状态回读</a:t>
            </a:r>
          </a:p>
        </p:txBody>
      </p:sp>
      <p:sp>
        <p:nvSpPr>
          <p:cNvPr id="25" name="Rectangle 24"/>
          <p:cNvSpPr/>
          <p:nvPr/>
        </p:nvSpPr>
        <p:spPr>
          <a:xfrm>
            <a:off x="7802575" y="2048256"/>
            <a:ext cx="3627699" cy="2907792"/>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003743" y="2194560"/>
            <a:ext cx="3225363" cy="256032"/>
          </a:xfrm>
          <a:prstGeom prst="rect">
            <a:avLst/>
          </a:prstGeom>
          <a:noFill/>
        </p:spPr>
        <p:txBody>
          <a:bodyPr wrap="square" lIns="0" rIns="0" tIns="0" bIns="0" anchor="t">
            <a:spAutoFit/>
          </a:bodyPr>
          <a:lstStyle/>
          <a:p>
            <a:pPr algn="l"/>
            <a:r>
              <a:rPr sz="1200" b="0" i="0">
                <a:solidFill>
                  <a:srgbClr val="0A2540"/>
                </a:solidFill>
                <a:latin typeface="Source Han Sans SC Heavy"/>
                <a:ea typeface="Source Han Sans SC Heavy"/>
                <a:cs typeface="Source Han Sans SC Heavy"/>
              </a:rPr>
              <a:t>层间接口定义</a:t>
            </a:r>
          </a:p>
        </p:txBody>
      </p:sp>
      <p:sp>
        <p:nvSpPr>
          <p:cNvPr id="27" name="Rectangle 26"/>
          <p:cNvSpPr/>
          <p:nvPr/>
        </p:nvSpPr>
        <p:spPr>
          <a:xfrm>
            <a:off x="8003743" y="2596896"/>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150047" y="2514600"/>
            <a:ext cx="3079059"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批量写角度　</a:t>
            </a:r>
            <a:r>
              <a:rPr sz="900" b="0" i="0">
                <a:solidFill>
                  <a:srgbClr val="1F2A37"/>
                </a:solidFill>
                <a:latin typeface="Source Han Sans SC"/>
                <a:ea typeface="Source Han Sans SC"/>
                <a:cs typeface="Source Han Sans SC"/>
              </a:rPr>
              <a:t>一次写入多个关节目标角度，入参为字典</a:t>
            </a:r>
          </a:p>
        </p:txBody>
      </p:sp>
      <p:sp>
        <p:nvSpPr>
          <p:cNvPr id="29" name="Rectangle 28"/>
          <p:cNvSpPr/>
          <p:nvPr/>
        </p:nvSpPr>
        <p:spPr>
          <a:xfrm>
            <a:off x="8003743" y="2980944"/>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150047" y="2898648"/>
            <a:ext cx="3079059"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动作回放　</a:t>
            </a:r>
            <a:r>
              <a:rPr sz="900" b="0" i="0">
                <a:solidFill>
                  <a:srgbClr val="1F2A37"/>
                </a:solidFill>
                <a:latin typeface="Source Han Sans SC"/>
                <a:ea typeface="Source Han Sans SC"/>
                <a:cs typeface="Source Han Sans SC"/>
              </a:rPr>
              <a:t>按标识回放动作库关键帧序列</a:t>
            </a:r>
          </a:p>
        </p:txBody>
      </p:sp>
      <p:sp>
        <p:nvSpPr>
          <p:cNvPr id="31" name="Rectangle 30"/>
          <p:cNvSpPr/>
          <p:nvPr/>
        </p:nvSpPr>
        <p:spPr>
          <a:xfrm>
            <a:off x="8003743" y="3364992"/>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150047" y="3282696"/>
            <a:ext cx="3079059"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轨迹等待　</a:t>
            </a:r>
            <a:r>
              <a:rPr sz="900" b="0" i="0">
                <a:solidFill>
                  <a:srgbClr val="1F2A37"/>
                </a:solidFill>
                <a:latin typeface="Source Han Sans SC"/>
                <a:ea typeface="Source Han Sans SC"/>
                <a:cs typeface="Source Han Sans SC"/>
              </a:rPr>
              <a:t>等待当前轨迹执行结束后返回</a:t>
            </a:r>
          </a:p>
        </p:txBody>
      </p:sp>
      <p:sp>
        <p:nvSpPr>
          <p:cNvPr id="33" name="Rectangle 32"/>
          <p:cNvSpPr/>
          <p:nvPr/>
        </p:nvSpPr>
        <p:spPr>
          <a:xfrm>
            <a:off x="8003743" y="3749039"/>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150047" y="3666744"/>
            <a:ext cx="3079059"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感知失败　</a:t>
            </a:r>
            <a:r>
              <a:rPr sz="900" b="0" i="0">
                <a:solidFill>
                  <a:srgbClr val="1F2A37"/>
                </a:solidFill>
                <a:latin typeface="Source Han Sans SC"/>
                <a:ea typeface="Source Han Sans SC"/>
                <a:cs typeface="Source Han Sans SC"/>
              </a:rPr>
              <a:t>技能立即返回失败，不向运动层下发动作</a:t>
            </a:r>
          </a:p>
        </p:txBody>
      </p:sp>
      <p:sp>
        <p:nvSpPr>
          <p:cNvPr id="35" name="Rectangle 34"/>
          <p:cNvSpPr/>
          <p:nvPr/>
        </p:nvSpPr>
        <p:spPr>
          <a:xfrm>
            <a:off x="8003743" y="4133087"/>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150047" y="4050791"/>
            <a:ext cx="3079059"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限位钳制　</a:t>
            </a:r>
            <a:r>
              <a:rPr sz="900" b="0" i="0">
                <a:solidFill>
                  <a:srgbClr val="1F2A37"/>
                </a:solidFill>
                <a:latin typeface="Source Han Sans SC"/>
                <a:ea typeface="Source Han Sans SC"/>
                <a:cs typeface="Source Han Sans SC"/>
              </a:rPr>
              <a:t>统一在写角度入口实施，子类只需实现底层写入</a:t>
            </a:r>
          </a:p>
        </p:txBody>
      </p:sp>
      <p:sp>
        <p:nvSpPr>
          <p:cNvPr id="37" name="Rectangle 36"/>
          <p:cNvSpPr/>
          <p:nvPr/>
        </p:nvSpPr>
        <p:spPr>
          <a:xfrm>
            <a:off x="8003743" y="4517136"/>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150047" y="4434840"/>
            <a:ext cx="3079059"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非有限值　</a:t>
            </a:r>
            <a:r>
              <a:rPr sz="900" b="0" i="0">
                <a:solidFill>
                  <a:srgbClr val="1F2A37"/>
                </a:solidFill>
                <a:latin typeface="Source Han Sans SC"/>
                <a:ea typeface="Source Han Sans SC"/>
                <a:cs typeface="Source Han Sans SC"/>
              </a:rPr>
              <a:t>NaN 与 Inf 抛出异常，不静默钳制至限位边界</a:t>
            </a:r>
          </a:p>
        </p:txBody>
      </p:sp>
      <p:sp>
        <p:nvSpPr>
          <p:cNvPr id="39" name="TextBox 38"/>
          <p:cNvSpPr txBox="1"/>
          <p:nvPr/>
        </p:nvSpPr>
        <p:spPr>
          <a:xfrm>
            <a:off x="761695" y="5084064"/>
            <a:ext cx="6675120" cy="219456"/>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接口契约的意义：上层只依赖契约，不依赖实现——同一套任务卡既能跑在虚拟总线上做离线演练，也能直接驱动真机总线。</a:t>
            </a:r>
          </a:p>
        </p:txBody>
      </p:sp>
      <p:sp>
        <p:nvSpPr>
          <p:cNvPr id="40" name="TextBox 39"/>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软件分层与接口定义；离线与真机共用同一契约</a:t>
            </a:r>
          </a:p>
        </p:txBody>
      </p:sp>
      <p:sp>
        <p:nvSpPr>
          <p:cNvPr id="41" name="TextBox 40"/>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42" name="Rectangle 41"/>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Tree>
  </p:cSld>
  <p:clrMapOvr>
    <a:masterClrMapping/>
  </p:clrMapOvr>
  <p:transition spd="med"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02</a:t>
            </a:r>
            <a:r>
              <a:rPr sz="1000" b="0" i="0">
                <a:solidFill>
                  <a:srgbClr val="6B7A8C"/>
                </a:solidFill>
                <a:latin typeface="Source Han Sans SC"/>
                <a:ea typeface="Source Han Sans SC"/>
                <a:cs typeface="Source Han Sans SC"/>
              </a:rPr>
              <a:t>  软件系统</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2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17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任务卡驱动的流程调度与异常收敛</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五项赛务任务的差异以数据形式集中于任务卡；调度器负责流程推进、超时判定与异常终止。</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10668579" cy="1170432"/>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99439" y="2176272"/>
            <a:ext cx="1236699" cy="384048"/>
          </a:xfrm>
          <a:prstGeom prst="rect">
            <a:avLst/>
          </a:prstGeom>
          <a:noFill/>
        </p:spPr>
        <p:txBody>
          <a:bodyPr wrap="square" lIns="0" rIns="0" tIns="0" bIns="0" anchor="ctr">
            <a:spAutoFit/>
          </a:bodyPr>
          <a:lstStyle/>
          <a:p>
            <a:pPr algn="ctr"/>
            <a:r>
              <a:rPr sz="1000" b="0" i="0">
                <a:solidFill>
                  <a:srgbClr val="1F2A37"/>
                </a:solidFill>
                <a:latin typeface="Source Han Sans SC Heavy"/>
                <a:ea typeface="Source Han Sans SC Heavy"/>
                <a:cs typeface="Source Han Sans SC Heavy"/>
              </a:rPr>
              <a:t>读取任务卡</a:t>
            </a:r>
          </a:p>
        </p:txBody>
      </p:sp>
      <p:sp>
        <p:nvSpPr>
          <p:cNvPr id="12" name="TextBox 11"/>
          <p:cNvSpPr txBox="1"/>
          <p:nvPr/>
        </p:nvSpPr>
        <p:spPr>
          <a:xfrm>
            <a:off x="2217851" y="2176272"/>
            <a:ext cx="219456" cy="384048"/>
          </a:xfrm>
          <a:prstGeom prst="rect">
            <a:avLst/>
          </a:prstGeom>
          <a:noFill/>
        </p:spPr>
        <p:txBody>
          <a:bodyPr wrap="square" lIns="0" rIns="0" tIns="0" bIns="0" anchor="ctr">
            <a:spAutoFit/>
          </a:bodyPr>
          <a:lstStyle/>
          <a:p>
            <a:pPr algn="ctr"/>
            <a:r>
              <a:rPr sz="1000" b="0" i="0">
                <a:solidFill>
                  <a:srgbClr val="1264A3"/>
                </a:solidFill>
                <a:latin typeface="Source Han Sans SC Heavy"/>
                <a:ea typeface="Source Han Sans SC Heavy"/>
                <a:cs typeface="Source Han Sans SC Heavy"/>
              </a:rPr>
              <a:t>→</a:t>
            </a:r>
          </a:p>
        </p:txBody>
      </p:sp>
      <p:sp>
        <p:nvSpPr>
          <p:cNvPr id="13" name="TextBox 12"/>
          <p:cNvSpPr txBox="1"/>
          <p:nvPr/>
        </p:nvSpPr>
        <p:spPr>
          <a:xfrm>
            <a:off x="2455595" y="2176272"/>
            <a:ext cx="1236699" cy="384048"/>
          </a:xfrm>
          <a:prstGeom prst="rect">
            <a:avLst/>
          </a:prstGeom>
          <a:noFill/>
        </p:spPr>
        <p:txBody>
          <a:bodyPr wrap="square" lIns="0" rIns="0" tIns="0" bIns="0" anchor="ctr">
            <a:spAutoFit/>
          </a:bodyPr>
          <a:lstStyle/>
          <a:p>
            <a:pPr algn="ctr"/>
            <a:r>
              <a:rPr sz="1000" b="0" i="0">
                <a:solidFill>
                  <a:srgbClr val="1F2A37"/>
                </a:solidFill>
                <a:latin typeface="Source Han Sans SC Heavy"/>
                <a:ea typeface="Source Han Sans SC Heavy"/>
                <a:cs typeface="Source Han Sans SC Heavy"/>
              </a:rPr>
              <a:t>校验技能与超时</a:t>
            </a:r>
          </a:p>
        </p:txBody>
      </p:sp>
      <p:sp>
        <p:nvSpPr>
          <p:cNvPr id="14" name="TextBox 13"/>
          <p:cNvSpPr txBox="1"/>
          <p:nvPr/>
        </p:nvSpPr>
        <p:spPr>
          <a:xfrm>
            <a:off x="3674006" y="2176272"/>
            <a:ext cx="219456" cy="384048"/>
          </a:xfrm>
          <a:prstGeom prst="rect">
            <a:avLst/>
          </a:prstGeom>
          <a:noFill/>
        </p:spPr>
        <p:txBody>
          <a:bodyPr wrap="square" lIns="0" rIns="0" tIns="0" bIns="0" anchor="ctr">
            <a:spAutoFit/>
          </a:bodyPr>
          <a:lstStyle/>
          <a:p>
            <a:pPr algn="ctr"/>
            <a:r>
              <a:rPr sz="1000" b="0" i="0">
                <a:solidFill>
                  <a:srgbClr val="1264A3"/>
                </a:solidFill>
                <a:latin typeface="Source Han Sans SC Heavy"/>
                <a:ea typeface="Source Han Sans SC Heavy"/>
                <a:cs typeface="Source Han Sans SC Heavy"/>
              </a:rPr>
              <a:t>→</a:t>
            </a:r>
          </a:p>
        </p:txBody>
      </p:sp>
      <p:sp>
        <p:nvSpPr>
          <p:cNvPr id="15" name="TextBox 14"/>
          <p:cNvSpPr txBox="1"/>
          <p:nvPr/>
        </p:nvSpPr>
        <p:spPr>
          <a:xfrm>
            <a:off x="3911750" y="2176272"/>
            <a:ext cx="1236699" cy="384048"/>
          </a:xfrm>
          <a:prstGeom prst="rect">
            <a:avLst/>
          </a:prstGeom>
          <a:noFill/>
        </p:spPr>
        <p:txBody>
          <a:bodyPr wrap="square" lIns="0" rIns="0" tIns="0" bIns="0" anchor="ctr">
            <a:spAutoFit/>
          </a:bodyPr>
          <a:lstStyle/>
          <a:p>
            <a:pPr algn="ctr"/>
            <a:r>
              <a:rPr sz="1000" b="0" i="0">
                <a:solidFill>
                  <a:srgbClr val="1F2A37"/>
                </a:solidFill>
                <a:latin typeface="Source Han Sans SC Heavy"/>
                <a:ea typeface="Source Han Sans SC Heavy"/>
                <a:cs typeface="Source Han Sans SC Heavy"/>
              </a:rPr>
              <a:t>STANDBY</a:t>
            </a:r>
          </a:p>
        </p:txBody>
      </p:sp>
      <p:sp>
        <p:nvSpPr>
          <p:cNvPr id="16" name="TextBox 15"/>
          <p:cNvSpPr txBox="1"/>
          <p:nvPr/>
        </p:nvSpPr>
        <p:spPr>
          <a:xfrm>
            <a:off x="5130162" y="2176272"/>
            <a:ext cx="219456" cy="384048"/>
          </a:xfrm>
          <a:prstGeom prst="rect">
            <a:avLst/>
          </a:prstGeom>
          <a:noFill/>
        </p:spPr>
        <p:txBody>
          <a:bodyPr wrap="square" lIns="0" rIns="0" tIns="0" bIns="0" anchor="ctr">
            <a:spAutoFit/>
          </a:bodyPr>
          <a:lstStyle/>
          <a:p>
            <a:pPr algn="ctr"/>
            <a:r>
              <a:rPr sz="1000" b="0" i="0">
                <a:solidFill>
                  <a:srgbClr val="1264A3"/>
                </a:solidFill>
                <a:latin typeface="Source Han Sans SC Heavy"/>
                <a:ea typeface="Source Han Sans SC Heavy"/>
                <a:cs typeface="Source Han Sans SC Heavy"/>
              </a:rPr>
              <a:t>→</a:t>
            </a:r>
          </a:p>
        </p:txBody>
      </p:sp>
      <p:sp>
        <p:nvSpPr>
          <p:cNvPr id="17" name="TextBox 16"/>
          <p:cNvSpPr txBox="1"/>
          <p:nvPr/>
        </p:nvSpPr>
        <p:spPr>
          <a:xfrm>
            <a:off x="5367906" y="2176272"/>
            <a:ext cx="1236699" cy="384048"/>
          </a:xfrm>
          <a:prstGeom prst="rect">
            <a:avLst/>
          </a:prstGeom>
          <a:noFill/>
        </p:spPr>
        <p:txBody>
          <a:bodyPr wrap="square" lIns="0" rIns="0" tIns="0" bIns="0" anchor="ctr">
            <a:spAutoFit/>
          </a:bodyPr>
          <a:lstStyle/>
          <a:p>
            <a:pPr algn="ctr"/>
            <a:r>
              <a:rPr sz="1000" b="0" i="0">
                <a:solidFill>
                  <a:srgbClr val="1F2A37"/>
                </a:solidFill>
                <a:latin typeface="Source Han Sans SC Heavy"/>
                <a:ea typeface="Source Han Sans SC Heavy"/>
                <a:cs typeface="Source Han Sans SC Heavy"/>
              </a:rPr>
              <a:t>ENTERING</a:t>
            </a:r>
          </a:p>
        </p:txBody>
      </p:sp>
      <p:sp>
        <p:nvSpPr>
          <p:cNvPr id="18" name="TextBox 17"/>
          <p:cNvSpPr txBox="1"/>
          <p:nvPr/>
        </p:nvSpPr>
        <p:spPr>
          <a:xfrm>
            <a:off x="6586318" y="2176272"/>
            <a:ext cx="219456" cy="384048"/>
          </a:xfrm>
          <a:prstGeom prst="rect">
            <a:avLst/>
          </a:prstGeom>
          <a:noFill/>
        </p:spPr>
        <p:txBody>
          <a:bodyPr wrap="square" lIns="0" rIns="0" tIns="0" bIns="0" anchor="ctr">
            <a:spAutoFit/>
          </a:bodyPr>
          <a:lstStyle/>
          <a:p>
            <a:pPr algn="ctr"/>
            <a:r>
              <a:rPr sz="1000" b="0" i="0">
                <a:solidFill>
                  <a:srgbClr val="1264A3"/>
                </a:solidFill>
                <a:latin typeface="Source Han Sans SC Heavy"/>
                <a:ea typeface="Source Han Sans SC Heavy"/>
                <a:cs typeface="Source Han Sans SC Heavy"/>
              </a:rPr>
              <a:t>→</a:t>
            </a:r>
          </a:p>
        </p:txBody>
      </p:sp>
      <p:sp>
        <p:nvSpPr>
          <p:cNvPr id="19" name="TextBox 18"/>
          <p:cNvSpPr txBox="1"/>
          <p:nvPr/>
        </p:nvSpPr>
        <p:spPr>
          <a:xfrm>
            <a:off x="6824062" y="2176272"/>
            <a:ext cx="1236699" cy="384048"/>
          </a:xfrm>
          <a:prstGeom prst="rect">
            <a:avLst/>
          </a:prstGeom>
          <a:noFill/>
        </p:spPr>
        <p:txBody>
          <a:bodyPr wrap="square" lIns="0" rIns="0" tIns="0" bIns="0" anchor="ctr">
            <a:spAutoFit/>
          </a:bodyPr>
          <a:lstStyle/>
          <a:p>
            <a:pPr algn="ctr"/>
            <a:r>
              <a:rPr sz="1000" b="0" i="0">
                <a:solidFill>
                  <a:srgbClr val="1F2A37"/>
                </a:solidFill>
                <a:latin typeface="Source Han Sans SC Heavy"/>
                <a:ea typeface="Source Han Sans SC Heavy"/>
                <a:cs typeface="Source Han Sans SC Heavy"/>
              </a:rPr>
              <a:t>EXECUTING</a:t>
            </a:r>
          </a:p>
        </p:txBody>
      </p:sp>
      <p:sp>
        <p:nvSpPr>
          <p:cNvPr id="20" name="TextBox 19"/>
          <p:cNvSpPr txBox="1"/>
          <p:nvPr/>
        </p:nvSpPr>
        <p:spPr>
          <a:xfrm>
            <a:off x="8042474" y="2176272"/>
            <a:ext cx="219456" cy="384048"/>
          </a:xfrm>
          <a:prstGeom prst="rect">
            <a:avLst/>
          </a:prstGeom>
          <a:noFill/>
        </p:spPr>
        <p:txBody>
          <a:bodyPr wrap="square" lIns="0" rIns="0" tIns="0" bIns="0" anchor="ctr">
            <a:spAutoFit/>
          </a:bodyPr>
          <a:lstStyle/>
          <a:p>
            <a:pPr algn="ctr"/>
            <a:r>
              <a:rPr sz="1000" b="0" i="0">
                <a:solidFill>
                  <a:srgbClr val="1264A3"/>
                </a:solidFill>
                <a:latin typeface="Source Han Sans SC Heavy"/>
                <a:ea typeface="Source Han Sans SC Heavy"/>
                <a:cs typeface="Source Han Sans SC Heavy"/>
              </a:rPr>
              <a:t>→</a:t>
            </a:r>
          </a:p>
        </p:txBody>
      </p:sp>
      <p:sp>
        <p:nvSpPr>
          <p:cNvPr id="21" name="TextBox 20"/>
          <p:cNvSpPr txBox="1"/>
          <p:nvPr/>
        </p:nvSpPr>
        <p:spPr>
          <a:xfrm>
            <a:off x="8280218" y="2176272"/>
            <a:ext cx="1236699" cy="384048"/>
          </a:xfrm>
          <a:prstGeom prst="rect">
            <a:avLst/>
          </a:prstGeom>
          <a:noFill/>
        </p:spPr>
        <p:txBody>
          <a:bodyPr wrap="square" lIns="0" rIns="0" tIns="0" bIns="0" anchor="ctr">
            <a:spAutoFit/>
          </a:bodyPr>
          <a:lstStyle/>
          <a:p>
            <a:pPr algn="ctr"/>
            <a:r>
              <a:rPr sz="1000" b="0" i="0">
                <a:solidFill>
                  <a:srgbClr val="1F2A37"/>
                </a:solidFill>
                <a:latin typeface="Source Han Sans SC Heavy"/>
                <a:ea typeface="Source Han Sans SC Heavy"/>
                <a:cs typeface="Source Han Sans SC Heavy"/>
              </a:rPr>
              <a:t>FEEDBACK</a:t>
            </a:r>
          </a:p>
        </p:txBody>
      </p:sp>
      <p:sp>
        <p:nvSpPr>
          <p:cNvPr id="22" name="TextBox 21"/>
          <p:cNvSpPr txBox="1"/>
          <p:nvPr/>
        </p:nvSpPr>
        <p:spPr>
          <a:xfrm>
            <a:off x="9498630" y="2176272"/>
            <a:ext cx="219456" cy="384048"/>
          </a:xfrm>
          <a:prstGeom prst="rect">
            <a:avLst/>
          </a:prstGeom>
          <a:noFill/>
        </p:spPr>
        <p:txBody>
          <a:bodyPr wrap="square" lIns="0" rIns="0" tIns="0" bIns="0" anchor="ctr">
            <a:spAutoFit/>
          </a:bodyPr>
          <a:lstStyle/>
          <a:p>
            <a:pPr algn="ctr"/>
            <a:r>
              <a:rPr sz="1000" b="0" i="0">
                <a:solidFill>
                  <a:srgbClr val="1264A3"/>
                </a:solidFill>
                <a:latin typeface="Source Han Sans SC Heavy"/>
                <a:ea typeface="Source Han Sans SC Heavy"/>
                <a:cs typeface="Source Han Sans SC Heavy"/>
              </a:rPr>
              <a:t>→</a:t>
            </a:r>
          </a:p>
        </p:txBody>
      </p:sp>
      <p:sp>
        <p:nvSpPr>
          <p:cNvPr id="23" name="TextBox 22"/>
          <p:cNvSpPr txBox="1"/>
          <p:nvPr/>
        </p:nvSpPr>
        <p:spPr>
          <a:xfrm>
            <a:off x="9736374" y="2176272"/>
            <a:ext cx="1236699" cy="384048"/>
          </a:xfrm>
          <a:prstGeom prst="rect">
            <a:avLst/>
          </a:prstGeom>
          <a:noFill/>
        </p:spPr>
        <p:txBody>
          <a:bodyPr wrap="square" lIns="0" rIns="0" tIns="0" bIns="0" anchor="ctr">
            <a:spAutoFit/>
          </a:bodyPr>
          <a:lstStyle/>
          <a:p>
            <a:pPr algn="ctr"/>
            <a:r>
              <a:rPr sz="1000" b="0" i="0">
                <a:solidFill>
                  <a:srgbClr val="1F2A37"/>
                </a:solidFill>
                <a:latin typeface="Source Han Sans SC Heavy"/>
                <a:ea typeface="Source Han Sans SC Heavy"/>
                <a:cs typeface="Source Han Sans SC Heavy"/>
              </a:rPr>
              <a:t>DONE</a:t>
            </a:r>
          </a:p>
        </p:txBody>
      </p:sp>
      <p:sp>
        <p:nvSpPr>
          <p:cNvPr id="24" name="TextBox 23"/>
          <p:cNvSpPr txBox="1"/>
          <p:nvPr/>
        </p:nvSpPr>
        <p:spPr>
          <a:xfrm>
            <a:off x="999439" y="2615184"/>
            <a:ext cx="10193091" cy="512064"/>
          </a:xfrm>
          <a:prstGeom prst="rect">
            <a:avLst/>
          </a:prstGeom>
          <a:noFill/>
        </p:spPr>
        <p:txBody>
          <a:bodyPr wrap="square" lIns="0" rIns="0" tIns="0" bIns="0" anchor="t">
            <a:spAutoFit/>
          </a:bodyPr>
          <a:lstStyle/>
          <a:p>
            <a:pPr algn="l">
              <a:lnSpc>
                <a:spcPct val="128000"/>
              </a:lnSpc>
            </a:pPr>
            <a:r>
              <a:rPr sz="950" b="0" i="0">
                <a:solidFill>
                  <a:srgbClr val="1F2A37"/>
                </a:solidFill>
                <a:latin typeface="Source Han Sans SC"/>
                <a:ea typeface="Source Han Sans SC"/>
                <a:cs typeface="Source Han Sans SC"/>
              </a:rPr>
              <a:t>感知丢失、参数越界或通信超时均单向收敛至安全挂起，杜绝执行器顶死风险；状态跳变全程记录，可用于线下复盘。</a:t>
            </a:r>
          </a:p>
          <a:p>
            <a:pPr algn="l"/>
            <a:r>
              <a:rPr sz="900" b="0" i="0">
                <a:solidFill>
                  <a:srgbClr val="6B7A8C"/>
                </a:solidFill>
                <a:latin typeface="Source Han Sans SC"/>
                <a:ea typeface="Source Han Sans SC"/>
                <a:cs typeface="Source Han Sans SC"/>
              </a:rPr>
              <a:t>任务卡示例　{"skills": ["qr"], "params": {"path": ["walk:3", "turn:30"]}, "timeout_s": 90}</a:t>
            </a:r>
          </a:p>
        </p:txBody>
      </p:sp>
      <p:sp>
        <p:nvSpPr>
          <p:cNvPr id="25" name="Rectangle 24"/>
          <p:cNvSpPr/>
          <p:nvPr/>
        </p:nvSpPr>
        <p:spPr>
          <a:xfrm>
            <a:off x="761695" y="3877056"/>
            <a:ext cx="1159459" cy="566928"/>
          </a:xfrm>
          <a:prstGeom prst="rect">
            <a:avLst/>
          </a:prstGeom>
          <a:solidFill>
            <a:srgbClr val="E8F0F7"/>
          </a:solidFill>
          <a:ln w="9525">
            <a:solidFill>
              <a:srgbClr val="9CC0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98271" y="3877056"/>
            <a:ext cx="1086307" cy="566928"/>
          </a:xfrm>
          <a:prstGeom prst="rect">
            <a:avLst/>
          </a:prstGeom>
          <a:noFill/>
        </p:spPr>
        <p:txBody>
          <a:bodyPr wrap="square" lIns="0" rIns="0" tIns="0" bIns="0" anchor="ctr">
            <a:spAutoFit/>
          </a:bodyPr>
          <a:lstStyle/>
          <a:p>
            <a:pPr algn="ctr"/>
            <a:r>
              <a:rPr sz="950" b="0" i="0">
                <a:solidFill>
                  <a:srgbClr val="0A2540"/>
                </a:solidFill>
                <a:latin typeface="Source Han Sans SC Heavy"/>
                <a:ea typeface="Source Han Sans SC Heavy"/>
                <a:cs typeface="Source Han Sans SC Heavy"/>
              </a:rPr>
              <a:t>STANDBY</a:t>
            </a:r>
          </a:p>
          <a:p>
            <a:pPr algn="ctr">
              <a:spcBef>
                <a:spcPts val="200"/>
              </a:spcBef>
            </a:pPr>
            <a:r>
              <a:rPr sz="850" b="0" i="0">
                <a:solidFill>
                  <a:srgbClr val="6B7A8C"/>
                </a:solidFill>
                <a:latin typeface="Source Han Sans SC"/>
                <a:ea typeface="Source Han Sans SC"/>
                <a:cs typeface="Source Han Sans SC"/>
              </a:rPr>
              <a:t>待机</a:t>
            </a:r>
          </a:p>
        </p:txBody>
      </p:sp>
      <p:cxnSp>
        <p:nvCxnSpPr>
          <p:cNvPr id="27" name="Connector 26"/>
          <p:cNvCxnSpPr/>
          <p:nvPr/>
        </p:nvCxnSpPr>
        <p:spPr>
          <a:xfrm>
            <a:off x="1948586" y="4160520"/>
            <a:ext cx="164592" cy="0"/>
          </a:xfrm>
          <a:prstGeom prst="line">
            <a:avLst/>
          </a:prstGeom>
          <a:ln w="12700">
            <a:solidFill>
              <a:srgbClr val="1264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2140610" y="3877056"/>
            <a:ext cx="1159459" cy="566928"/>
          </a:xfrm>
          <a:prstGeom prst="rect">
            <a:avLst/>
          </a:prstGeom>
          <a:solidFill>
            <a:srgbClr val="E8F0F7"/>
          </a:solidFill>
          <a:ln w="9525">
            <a:solidFill>
              <a:srgbClr val="9CC0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77186" y="3877056"/>
            <a:ext cx="1086307" cy="566928"/>
          </a:xfrm>
          <a:prstGeom prst="rect">
            <a:avLst/>
          </a:prstGeom>
          <a:noFill/>
        </p:spPr>
        <p:txBody>
          <a:bodyPr wrap="square" lIns="0" rIns="0" tIns="0" bIns="0" anchor="ctr">
            <a:spAutoFit/>
          </a:bodyPr>
          <a:lstStyle/>
          <a:p>
            <a:pPr algn="ctr"/>
            <a:r>
              <a:rPr sz="950" b="0" i="0">
                <a:solidFill>
                  <a:srgbClr val="0A2540"/>
                </a:solidFill>
                <a:latin typeface="Source Han Sans SC Heavy"/>
                <a:ea typeface="Source Han Sans SC Heavy"/>
                <a:cs typeface="Source Han Sans SC Heavy"/>
              </a:rPr>
              <a:t>ENTERING</a:t>
            </a:r>
          </a:p>
          <a:p>
            <a:pPr algn="ctr">
              <a:spcBef>
                <a:spcPts val="200"/>
              </a:spcBef>
            </a:pPr>
            <a:r>
              <a:rPr sz="850" b="0" i="0">
                <a:solidFill>
                  <a:srgbClr val="6B7A8C"/>
                </a:solidFill>
                <a:latin typeface="Source Han Sans SC"/>
                <a:ea typeface="Source Han Sans SC"/>
                <a:cs typeface="Source Han Sans SC"/>
              </a:rPr>
              <a:t>任务进入</a:t>
            </a:r>
          </a:p>
        </p:txBody>
      </p:sp>
      <p:cxnSp>
        <p:nvCxnSpPr>
          <p:cNvPr id="30" name="Connector 29"/>
          <p:cNvCxnSpPr/>
          <p:nvPr/>
        </p:nvCxnSpPr>
        <p:spPr>
          <a:xfrm>
            <a:off x="3327501" y="4160520"/>
            <a:ext cx="164592" cy="0"/>
          </a:xfrm>
          <a:prstGeom prst="line">
            <a:avLst/>
          </a:prstGeom>
          <a:ln w="12700">
            <a:solidFill>
              <a:srgbClr val="1264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519525" y="3877056"/>
            <a:ext cx="1159459" cy="566928"/>
          </a:xfrm>
          <a:prstGeom prst="rect">
            <a:avLst/>
          </a:prstGeom>
          <a:solidFill>
            <a:srgbClr val="E8F0F7"/>
          </a:solidFill>
          <a:ln w="9525">
            <a:solidFill>
              <a:srgbClr val="9CC0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556101" y="3877056"/>
            <a:ext cx="1086307" cy="566928"/>
          </a:xfrm>
          <a:prstGeom prst="rect">
            <a:avLst/>
          </a:prstGeom>
          <a:noFill/>
        </p:spPr>
        <p:txBody>
          <a:bodyPr wrap="square" lIns="0" rIns="0" tIns="0" bIns="0" anchor="ctr">
            <a:spAutoFit/>
          </a:bodyPr>
          <a:lstStyle/>
          <a:p>
            <a:pPr algn="ctr"/>
            <a:r>
              <a:rPr sz="950" b="0" i="0">
                <a:solidFill>
                  <a:srgbClr val="0A2540"/>
                </a:solidFill>
                <a:latin typeface="Source Han Sans SC Heavy"/>
                <a:ea typeface="Source Han Sans SC Heavy"/>
                <a:cs typeface="Source Han Sans SC Heavy"/>
              </a:rPr>
              <a:t>EXECUTING</a:t>
            </a:r>
          </a:p>
          <a:p>
            <a:pPr algn="ctr">
              <a:spcBef>
                <a:spcPts val="200"/>
              </a:spcBef>
            </a:pPr>
            <a:r>
              <a:rPr sz="850" b="0" i="0">
                <a:solidFill>
                  <a:srgbClr val="6B7A8C"/>
                </a:solidFill>
                <a:latin typeface="Source Han Sans SC"/>
                <a:ea typeface="Source Han Sans SC"/>
                <a:cs typeface="Source Han Sans SC"/>
              </a:rPr>
              <a:t>技能执行</a:t>
            </a:r>
          </a:p>
        </p:txBody>
      </p:sp>
      <p:cxnSp>
        <p:nvCxnSpPr>
          <p:cNvPr id="33" name="Connector 32"/>
          <p:cNvCxnSpPr/>
          <p:nvPr/>
        </p:nvCxnSpPr>
        <p:spPr>
          <a:xfrm>
            <a:off x="4706416" y="4160520"/>
            <a:ext cx="164592" cy="0"/>
          </a:xfrm>
          <a:prstGeom prst="line">
            <a:avLst/>
          </a:prstGeom>
          <a:ln w="12700">
            <a:solidFill>
              <a:srgbClr val="1264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4898440" y="3877056"/>
            <a:ext cx="1159459" cy="566928"/>
          </a:xfrm>
          <a:prstGeom prst="rect">
            <a:avLst/>
          </a:prstGeom>
          <a:solidFill>
            <a:srgbClr val="E8F0F7"/>
          </a:solidFill>
          <a:ln w="9525">
            <a:solidFill>
              <a:srgbClr val="9CC0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935016" y="3877056"/>
            <a:ext cx="1086307" cy="566928"/>
          </a:xfrm>
          <a:prstGeom prst="rect">
            <a:avLst/>
          </a:prstGeom>
          <a:noFill/>
        </p:spPr>
        <p:txBody>
          <a:bodyPr wrap="square" lIns="0" rIns="0" tIns="0" bIns="0" anchor="ctr">
            <a:spAutoFit/>
          </a:bodyPr>
          <a:lstStyle/>
          <a:p>
            <a:pPr algn="ctr"/>
            <a:r>
              <a:rPr sz="950" b="0" i="0">
                <a:solidFill>
                  <a:srgbClr val="0A2540"/>
                </a:solidFill>
                <a:latin typeface="Source Han Sans SC Heavy"/>
                <a:ea typeface="Source Han Sans SC Heavy"/>
                <a:cs typeface="Source Han Sans SC Heavy"/>
              </a:rPr>
              <a:t>FEEDBACK</a:t>
            </a:r>
          </a:p>
          <a:p>
            <a:pPr algn="ctr">
              <a:spcBef>
                <a:spcPts val="200"/>
              </a:spcBef>
            </a:pPr>
            <a:r>
              <a:rPr sz="850" b="0" i="0">
                <a:solidFill>
                  <a:srgbClr val="6B7A8C"/>
                </a:solidFill>
                <a:latin typeface="Source Han Sans SC"/>
                <a:ea typeface="Source Han Sans SC"/>
                <a:cs typeface="Source Han Sans SC"/>
              </a:rPr>
              <a:t>结果反馈</a:t>
            </a:r>
          </a:p>
        </p:txBody>
      </p:sp>
      <p:cxnSp>
        <p:nvCxnSpPr>
          <p:cNvPr id="36" name="Connector 35"/>
          <p:cNvCxnSpPr/>
          <p:nvPr/>
        </p:nvCxnSpPr>
        <p:spPr>
          <a:xfrm>
            <a:off x="6085332" y="4160520"/>
            <a:ext cx="164592" cy="0"/>
          </a:xfrm>
          <a:prstGeom prst="line">
            <a:avLst/>
          </a:prstGeom>
          <a:ln w="12700">
            <a:solidFill>
              <a:srgbClr val="1264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277356" y="3877056"/>
            <a:ext cx="1159459" cy="566928"/>
          </a:xfrm>
          <a:prstGeom prst="rect">
            <a:avLst/>
          </a:prstGeom>
          <a:solidFill>
            <a:srgbClr val="FFFFFF"/>
          </a:solidFill>
          <a:ln w="9525">
            <a:solidFill>
              <a:srgbClr val="2E9E7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313932" y="3877056"/>
            <a:ext cx="1086307" cy="566928"/>
          </a:xfrm>
          <a:prstGeom prst="rect">
            <a:avLst/>
          </a:prstGeom>
          <a:noFill/>
        </p:spPr>
        <p:txBody>
          <a:bodyPr wrap="square" lIns="0" rIns="0" tIns="0" bIns="0" anchor="ctr">
            <a:spAutoFit/>
          </a:bodyPr>
          <a:lstStyle/>
          <a:p>
            <a:pPr algn="ctr"/>
            <a:r>
              <a:rPr sz="950" b="0" i="0">
                <a:solidFill>
                  <a:srgbClr val="0A2540"/>
                </a:solidFill>
                <a:latin typeface="Source Han Sans SC Heavy"/>
                <a:ea typeface="Source Han Sans SC Heavy"/>
                <a:cs typeface="Source Han Sans SC Heavy"/>
              </a:rPr>
              <a:t>DONE</a:t>
            </a:r>
          </a:p>
          <a:p>
            <a:pPr algn="ctr">
              <a:spcBef>
                <a:spcPts val="200"/>
              </a:spcBef>
            </a:pPr>
            <a:r>
              <a:rPr sz="850" b="0" i="0">
                <a:solidFill>
                  <a:srgbClr val="6B7A8C"/>
                </a:solidFill>
                <a:latin typeface="Source Han Sans SC"/>
                <a:ea typeface="Source Han Sans SC"/>
                <a:cs typeface="Source Han Sans SC"/>
              </a:rPr>
              <a:t>完成</a:t>
            </a:r>
          </a:p>
        </p:txBody>
      </p:sp>
      <p:sp>
        <p:nvSpPr>
          <p:cNvPr id="39" name="Rectangle 38"/>
          <p:cNvSpPr/>
          <p:nvPr/>
        </p:nvSpPr>
        <p:spPr>
          <a:xfrm>
            <a:off x="6248095" y="4754880"/>
            <a:ext cx="1188720" cy="329184"/>
          </a:xfrm>
          <a:prstGeom prst="rect">
            <a:avLst/>
          </a:prstGeom>
          <a:noFill/>
          <a:ln w="12700">
            <a:solidFill>
              <a:srgbClr val="E457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248095" y="4754880"/>
            <a:ext cx="1188720" cy="329184"/>
          </a:xfrm>
          <a:prstGeom prst="rect">
            <a:avLst/>
          </a:prstGeom>
          <a:noFill/>
        </p:spPr>
        <p:txBody>
          <a:bodyPr wrap="square" lIns="0" rIns="0" tIns="0" bIns="0" anchor="ctr">
            <a:spAutoFit/>
          </a:bodyPr>
          <a:lstStyle/>
          <a:p>
            <a:pPr algn="ctr"/>
            <a:r>
              <a:rPr sz="950" b="0" i="0">
                <a:solidFill>
                  <a:srgbClr val="E4572E"/>
                </a:solidFill>
                <a:latin typeface="Source Han Sans SC Heavy"/>
                <a:ea typeface="Source Han Sans SC Heavy"/>
                <a:cs typeface="Source Han Sans SC Heavy"/>
              </a:rPr>
              <a:t>ERROR</a:t>
            </a:r>
          </a:p>
        </p:txBody>
      </p:sp>
      <p:cxnSp>
        <p:nvCxnSpPr>
          <p:cNvPr id="41" name="Connector 40"/>
          <p:cNvCxnSpPr/>
          <p:nvPr/>
        </p:nvCxnSpPr>
        <p:spPr>
          <a:xfrm>
            <a:off x="2720340" y="4443984"/>
            <a:ext cx="0" cy="475488"/>
          </a:xfrm>
          <a:prstGeom prst="line">
            <a:avLst/>
          </a:prstGeom>
          <a:ln w="9525">
            <a:solidFill>
              <a:srgbClr val="E4572E"/>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099255" y="4443984"/>
            <a:ext cx="0" cy="475488"/>
          </a:xfrm>
          <a:prstGeom prst="line">
            <a:avLst/>
          </a:prstGeom>
          <a:ln w="9525">
            <a:solidFill>
              <a:srgbClr val="E4572E"/>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478170" y="4443984"/>
            <a:ext cx="0" cy="475488"/>
          </a:xfrm>
          <a:prstGeom prst="line">
            <a:avLst/>
          </a:prstGeom>
          <a:ln w="9525">
            <a:solidFill>
              <a:srgbClr val="E4572E"/>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478170" y="4919472"/>
            <a:ext cx="769925" cy="0"/>
          </a:xfrm>
          <a:prstGeom prst="line">
            <a:avLst/>
          </a:prstGeom>
          <a:ln w="9525">
            <a:solidFill>
              <a:srgbClr val="E4572E"/>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61695" y="4992624"/>
            <a:ext cx="3291840" cy="310896"/>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任一环节异常 → ERROR（保留完整状态历史）</a:t>
            </a:r>
          </a:p>
        </p:txBody>
      </p:sp>
      <p:sp>
        <p:nvSpPr>
          <p:cNvPr id="46" name="TextBox 45"/>
          <p:cNvSpPr txBox="1"/>
          <p:nvPr/>
        </p:nvSpPr>
        <p:spPr>
          <a:xfrm>
            <a:off x="7802575" y="3401568"/>
            <a:ext cx="3627699" cy="256032"/>
          </a:xfrm>
          <a:prstGeom prst="rect">
            <a:avLst/>
          </a:prstGeom>
          <a:noFill/>
        </p:spPr>
        <p:txBody>
          <a:bodyPr wrap="square" lIns="0" rIns="0" tIns="0" bIns="0" anchor="t">
            <a:spAutoFit/>
          </a:bodyPr>
          <a:lstStyle/>
          <a:p>
            <a:pPr algn="l"/>
            <a:r>
              <a:rPr sz="1200" b="0" i="0">
                <a:solidFill>
                  <a:srgbClr val="0A2540"/>
                </a:solidFill>
                <a:latin typeface="Source Han Sans SC Heavy"/>
                <a:ea typeface="Source Han Sans SC Heavy"/>
                <a:cs typeface="Source Han Sans SC Heavy"/>
              </a:rPr>
              <a:t>五项任务卡</a:t>
            </a:r>
          </a:p>
        </p:txBody>
      </p:sp>
      <p:sp>
        <p:nvSpPr>
          <p:cNvPr id="47" name="Rectangle 46"/>
          <p:cNvSpPr/>
          <p:nvPr/>
        </p:nvSpPr>
        <p:spPr>
          <a:xfrm>
            <a:off x="7802575" y="3767328"/>
            <a:ext cx="3627699" cy="365760"/>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930591" y="3767328"/>
            <a:ext cx="566928" cy="365760"/>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T-01</a:t>
            </a:r>
          </a:p>
        </p:txBody>
      </p:sp>
      <p:sp>
        <p:nvSpPr>
          <p:cNvPr id="49" name="TextBox 48"/>
          <p:cNvSpPr txBox="1"/>
          <p:nvPr/>
        </p:nvSpPr>
        <p:spPr>
          <a:xfrm>
            <a:off x="8552383" y="3767328"/>
            <a:ext cx="1115568" cy="365760"/>
          </a:xfrm>
          <a:prstGeom prst="rect">
            <a:avLst/>
          </a:prstGeom>
          <a:noFill/>
        </p:spPr>
        <p:txBody>
          <a:bodyPr wrap="square" lIns="0" rIns="0" tIns="0" bIns="0" anchor="ctr">
            <a:spAutoFit/>
          </a:bodyPr>
          <a:lstStyle/>
          <a:p>
            <a:pPr algn="l"/>
            <a:r>
              <a:rPr sz="950" b="0" i="0">
                <a:solidFill>
                  <a:srgbClr val="0A2540"/>
                </a:solidFill>
                <a:latin typeface="Source Han Sans SC Heavy"/>
                <a:ea typeface="Source Han Sans SC Heavy"/>
                <a:cs typeface="Source Han Sans SC Heavy"/>
              </a:rPr>
              <a:t>人脸识别</a:t>
            </a:r>
          </a:p>
        </p:txBody>
      </p:sp>
      <p:sp>
        <p:nvSpPr>
          <p:cNvPr id="50" name="TextBox 49"/>
          <p:cNvSpPr txBox="1"/>
          <p:nvPr/>
        </p:nvSpPr>
        <p:spPr>
          <a:xfrm>
            <a:off x="9686239" y="3767328"/>
            <a:ext cx="1634307" cy="365760"/>
          </a:xfrm>
          <a:prstGeom prst="rect">
            <a:avLst/>
          </a:prstGeom>
          <a:noFill/>
        </p:spPr>
        <p:txBody>
          <a:bodyPr wrap="square" lIns="0" rIns="0" tIns="0" bIns="0" anchor="ctr">
            <a:spAutoFit/>
          </a:bodyPr>
          <a:lstStyle/>
          <a:p>
            <a:pPr algn="r"/>
            <a:r>
              <a:rPr sz="850" b="0" i="0">
                <a:solidFill>
                  <a:srgbClr val="6B7A8C"/>
                </a:solidFill>
                <a:latin typeface="Source Han Sans SC"/>
                <a:ea typeface="Source Han Sans SC"/>
                <a:cs typeface="Source Han Sans SC"/>
              </a:rPr>
              <a:t>skills=["face"] · 60 s</a:t>
            </a:r>
          </a:p>
        </p:txBody>
      </p:sp>
      <p:sp>
        <p:nvSpPr>
          <p:cNvPr id="51" name="Rectangle 50"/>
          <p:cNvSpPr/>
          <p:nvPr/>
        </p:nvSpPr>
        <p:spPr>
          <a:xfrm>
            <a:off x="7802575" y="4206240"/>
            <a:ext cx="3627699" cy="365760"/>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930591" y="4206240"/>
            <a:ext cx="566928" cy="365760"/>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T-02</a:t>
            </a:r>
          </a:p>
        </p:txBody>
      </p:sp>
      <p:sp>
        <p:nvSpPr>
          <p:cNvPr id="53" name="TextBox 52"/>
          <p:cNvSpPr txBox="1"/>
          <p:nvPr/>
        </p:nvSpPr>
        <p:spPr>
          <a:xfrm>
            <a:off x="8552383" y="4206240"/>
            <a:ext cx="1115568" cy="365760"/>
          </a:xfrm>
          <a:prstGeom prst="rect">
            <a:avLst/>
          </a:prstGeom>
          <a:noFill/>
        </p:spPr>
        <p:txBody>
          <a:bodyPr wrap="square" lIns="0" rIns="0" tIns="0" bIns="0" anchor="ctr">
            <a:spAutoFit/>
          </a:bodyPr>
          <a:lstStyle/>
          <a:p>
            <a:pPr algn="l"/>
            <a:r>
              <a:rPr sz="950" b="0" i="0">
                <a:solidFill>
                  <a:srgbClr val="0A2540"/>
                </a:solidFill>
                <a:latin typeface="Source Han Sans SC Heavy"/>
                <a:ea typeface="Source Han Sans SC Heavy"/>
                <a:cs typeface="Source Han Sans SC Heavy"/>
              </a:rPr>
              <a:t>二维码循迹</a:t>
            </a:r>
          </a:p>
        </p:txBody>
      </p:sp>
      <p:sp>
        <p:nvSpPr>
          <p:cNvPr id="54" name="TextBox 53"/>
          <p:cNvSpPr txBox="1"/>
          <p:nvPr/>
        </p:nvSpPr>
        <p:spPr>
          <a:xfrm>
            <a:off x="9686239" y="4206240"/>
            <a:ext cx="1634307" cy="365760"/>
          </a:xfrm>
          <a:prstGeom prst="rect">
            <a:avLst/>
          </a:prstGeom>
          <a:noFill/>
        </p:spPr>
        <p:txBody>
          <a:bodyPr wrap="square" lIns="0" rIns="0" tIns="0" bIns="0" anchor="ctr">
            <a:spAutoFit/>
          </a:bodyPr>
          <a:lstStyle/>
          <a:p>
            <a:pPr algn="r"/>
            <a:r>
              <a:rPr sz="850" b="0" i="0">
                <a:solidFill>
                  <a:srgbClr val="6B7A8C"/>
                </a:solidFill>
                <a:latin typeface="Source Han Sans SC"/>
                <a:ea typeface="Source Han Sans SC"/>
                <a:cs typeface="Source Han Sans SC"/>
              </a:rPr>
              <a:t>skills=["qr"] · 路径 JSON</a:t>
            </a:r>
          </a:p>
        </p:txBody>
      </p:sp>
      <p:sp>
        <p:nvSpPr>
          <p:cNvPr id="55" name="Rectangle 54"/>
          <p:cNvSpPr/>
          <p:nvPr/>
        </p:nvSpPr>
        <p:spPr>
          <a:xfrm>
            <a:off x="7802575" y="4645152"/>
            <a:ext cx="3627699" cy="365760"/>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7930591" y="4645152"/>
            <a:ext cx="566928" cy="365760"/>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T-03</a:t>
            </a:r>
          </a:p>
        </p:txBody>
      </p:sp>
      <p:sp>
        <p:nvSpPr>
          <p:cNvPr id="57" name="TextBox 56"/>
          <p:cNvSpPr txBox="1"/>
          <p:nvPr/>
        </p:nvSpPr>
        <p:spPr>
          <a:xfrm>
            <a:off x="8552383" y="4645152"/>
            <a:ext cx="1115568" cy="365760"/>
          </a:xfrm>
          <a:prstGeom prst="rect">
            <a:avLst/>
          </a:prstGeom>
          <a:noFill/>
        </p:spPr>
        <p:txBody>
          <a:bodyPr wrap="square" lIns="0" rIns="0" tIns="0" bIns="0" anchor="ctr">
            <a:spAutoFit/>
          </a:bodyPr>
          <a:lstStyle/>
          <a:p>
            <a:pPr algn="l"/>
            <a:r>
              <a:rPr sz="950" b="0" i="0">
                <a:solidFill>
                  <a:srgbClr val="0A2540"/>
                </a:solidFill>
                <a:latin typeface="Source Han Sans SC Heavy"/>
                <a:ea typeface="Source Han Sans SC Heavy"/>
                <a:cs typeface="Source Han Sans SC Heavy"/>
              </a:rPr>
              <a:t>物品搬运</a:t>
            </a:r>
          </a:p>
        </p:txBody>
      </p:sp>
      <p:sp>
        <p:nvSpPr>
          <p:cNvPr id="58" name="TextBox 57"/>
          <p:cNvSpPr txBox="1"/>
          <p:nvPr/>
        </p:nvSpPr>
        <p:spPr>
          <a:xfrm>
            <a:off x="9686239" y="4645152"/>
            <a:ext cx="1634307" cy="365760"/>
          </a:xfrm>
          <a:prstGeom prst="rect">
            <a:avLst/>
          </a:prstGeom>
          <a:noFill/>
        </p:spPr>
        <p:txBody>
          <a:bodyPr wrap="square" lIns="0" rIns="0" tIns="0" bIns="0" anchor="ctr">
            <a:spAutoFit/>
          </a:bodyPr>
          <a:lstStyle/>
          <a:p>
            <a:pPr algn="r"/>
            <a:r>
              <a:rPr sz="850" b="0" i="0">
                <a:solidFill>
                  <a:srgbClr val="6B7A8C"/>
                </a:solidFill>
                <a:latin typeface="Source Han Sans SC"/>
                <a:ea typeface="Source Han Sans SC"/>
                <a:cs typeface="Source Han Sans SC"/>
              </a:rPr>
              <a:t>skills=["carry"] · 色块与物距</a:t>
            </a:r>
          </a:p>
        </p:txBody>
      </p:sp>
      <p:sp>
        <p:nvSpPr>
          <p:cNvPr id="59" name="Rectangle 58"/>
          <p:cNvSpPr/>
          <p:nvPr/>
        </p:nvSpPr>
        <p:spPr>
          <a:xfrm>
            <a:off x="7802575" y="5084064"/>
            <a:ext cx="3627699" cy="365760"/>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930591" y="5084064"/>
            <a:ext cx="566928" cy="365760"/>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T-04</a:t>
            </a:r>
          </a:p>
        </p:txBody>
      </p:sp>
      <p:sp>
        <p:nvSpPr>
          <p:cNvPr id="61" name="TextBox 60"/>
          <p:cNvSpPr txBox="1"/>
          <p:nvPr/>
        </p:nvSpPr>
        <p:spPr>
          <a:xfrm>
            <a:off x="8552383" y="5084064"/>
            <a:ext cx="1115568" cy="365760"/>
          </a:xfrm>
          <a:prstGeom prst="rect">
            <a:avLst/>
          </a:prstGeom>
          <a:noFill/>
        </p:spPr>
        <p:txBody>
          <a:bodyPr wrap="square" lIns="0" rIns="0" tIns="0" bIns="0" anchor="ctr">
            <a:spAutoFit/>
          </a:bodyPr>
          <a:lstStyle/>
          <a:p>
            <a:pPr algn="l"/>
            <a:r>
              <a:rPr sz="950" b="0" i="0">
                <a:solidFill>
                  <a:srgbClr val="0A2540"/>
                </a:solidFill>
                <a:latin typeface="Source Han Sans SC Heavy"/>
                <a:ea typeface="Source Han Sans SC Heavy"/>
                <a:cs typeface="Source Han Sans SC Heavy"/>
              </a:rPr>
              <a:t>体育运动</a:t>
            </a:r>
          </a:p>
        </p:txBody>
      </p:sp>
      <p:sp>
        <p:nvSpPr>
          <p:cNvPr id="62" name="TextBox 61"/>
          <p:cNvSpPr txBox="1"/>
          <p:nvPr/>
        </p:nvSpPr>
        <p:spPr>
          <a:xfrm>
            <a:off x="9686239" y="5084064"/>
            <a:ext cx="1634307" cy="365760"/>
          </a:xfrm>
          <a:prstGeom prst="rect">
            <a:avLst/>
          </a:prstGeom>
          <a:noFill/>
        </p:spPr>
        <p:txBody>
          <a:bodyPr wrap="square" lIns="0" rIns="0" tIns="0" bIns="0" anchor="ctr">
            <a:spAutoFit/>
          </a:bodyPr>
          <a:lstStyle/>
          <a:p>
            <a:pPr algn="r"/>
            <a:r>
              <a:rPr sz="850" b="0" i="0">
                <a:solidFill>
                  <a:srgbClr val="6B7A8C"/>
                </a:solidFill>
                <a:latin typeface="Source Han Sans SC"/>
                <a:ea typeface="Source Han Sans SC"/>
                <a:cs typeface="Source Han Sans SC"/>
              </a:rPr>
              <a:t>skills=["kick"] · 死区与上限</a:t>
            </a:r>
          </a:p>
        </p:txBody>
      </p:sp>
      <p:sp>
        <p:nvSpPr>
          <p:cNvPr id="63" name="Rectangle 62"/>
          <p:cNvSpPr/>
          <p:nvPr/>
        </p:nvSpPr>
        <p:spPr>
          <a:xfrm>
            <a:off x="7802575" y="5522976"/>
            <a:ext cx="3627699" cy="365760"/>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7930591" y="5522976"/>
            <a:ext cx="566928" cy="365760"/>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T-05</a:t>
            </a:r>
          </a:p>
        </p:txBody>
      </p:sp>
      <p:sp>
        <p:nvSpPr>
          <p:cNvPr id="65" name="TextBox 64"/>
          <p:cNvSpPr txBox="1"/>
          <p:nvPr/>
        </p:nvSpPr>
        <p:spPr>
          <a:xfrm>
            <a:off x="8552383" y="5522976"/>
            <a:ext cx="1115568" cy="365760"/>
          </a:xfrm>
          <a:prstGeom prst="rect">
            <a:avLst/>
          </a:prstGeom>
          <a:noFill/>
        </p:spPr>
        <p:txBody>
          <a:bodyPr wrap="square" lIns="0" rIns="0" tIns="0" bIns="0" anchor="ctr">
            <a:spAutoFit/>
          </a:bodyPr>
          <a:lstStyle/>
          <a:p>
            <a:pPr algn="l"/>
            <a:r>
              <a:rPr sz="950" b="0" i="0">
                <a:solidFill>
                  <a:srgbClr val="0A2540"/>
                </a:solidFill>
                <a:latin typeface="Source Han Sans SC Heavy"/>
                <a:ea typeface="Source Han Sans SC Heavy"/>
                <a:cs typeface="Source Han Sans SC Heavy"/>
              </a:rPr>
              <a:t>娱乐休闲</a:t>
            </a:r>
          </a:p>
        </p:txBody>
      </p:sp>
      <p:sp>
        <p:nvSpPr>
          <p:cNvPr id="66" name="TextBox 65"/>
          <p:cNvSpPr txBox="1"/>
          <p:nvPr/>
        </p:nvSpPr>
        <p:spPr>
          <a:xfrm>
            <a:off x="9686239" y="5522976"/>
            <a:ext cx="1634307" cy="365760"/>
          </a:xfrm>
          <a:prstGeom prst="rect">
            <a:avLst/>
          </a:prstGeom>
          <a:noFill/>
        </p:spPr>
        <p:txBody>
          <a:bodyPr wrap="square" lIns="0" rIns="0" tIns="0" bIns="0" anchor="ctr">
            <a:spAutoFit/>
          </a:bodyPr>
          <a:lstStyle/>
          <a:p>
            <a:pPr algn="r"/>
            <a:r>
              <a:rPr sz="850" b="0" i="0">
                <a:solidFill>
                  <a:srgbClr val="6B7A8C"/>
                </a:solidFill>
                <a:latin typeface="Source Han Sans SC"/>
                <a:ea typeface="Source Han Sans SC"/>
                <a:cs typeface="Source Han Sans SC"/>
              </a:rPr>
              <a:t>skills=["dance"] · 关键词与节数</a:t>
            </a:r>
          </a:p>
        </p:txBody>
      </p:sp>
      <p:sp>
        <p:nvSpPr>
          <p:cNvPr id="67" name="TextBox 66"/>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五项任务的完整流程在离线环境中逐条走通，流程通过率 5/5</a:t>
            </a:r>
          </a:p>
        </p:txBody>
      </p:sp>
      <p:sp>
        <p:nvSpPr>
          <p:cNvPr id="68" name="TextBox 67"/>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69" name="Rectangle 68"/>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Tree>
  </p:cSld>
  <p:clrMapOvr>
    <a:masterClrMapping/>
  </p:clrMapOvr>
  <p:transition spd="med"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02</a:t>
            </a:r>
            <a:r>
              <a:rPr sz="1000" b="0" i="0">
                <a:solidFill>
                  <a:srgbClr val="6B7A8C"/>
                </a:solidFill>
                <a:latin typeface="Source Han Sans SC"/>
                <a:ea typeface="Source Han Sans SC"/>
                <a:cs typeface="Source Han Sans SC"/>
              </a:rPr>
              <a:t>  软件系统</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2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18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技能接口契约与失效防护设计</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下列条款用于防止技能在感知失败时继续下发动作，每一条都由单元测试锁定。</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10668579" cy="310896"/>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3135" y="2048256"/>
            <a:ext cx="137160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防护项</a:t>
            </a:r>
          </a:p>
        </p:txBody>
      </p:sp>
      <p:sp>
        <p:nvSpPr>
          <p:cNvPr id="12" name="TextBox 11"/>
          <p:cNvSpPr txBox="1"/>
          <p:nvPr/>
        </p:nvSpPr>
        <p:spPr>
          <a:xfrm>
            <a:off x="2407615" y="2048256"/>
            <a:ext cx="4251959"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失效模式</a:t>
            </a:r>
          </a:p>
        </p:txBody>
      </p:sp>
      <p:sp>
        <p:nvSpPr>
          <p:cNvPr id="13" name="TextBox 12"/>
          <p:cNvSpPr txBox="1"/>
          <p:nvPr/>
        </p:nvSpPr>
        <p:spPr>
          <a:xfrm>
            <a:off x="6842455" y="2048256"/>
            <a:ext cx="2944368"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防护策略</a:t>
            </a:r>
          </a:p>
        </p:txBody>
      </p:sp>
      <p:sp>
        <p:nvSpPr>
          <p:cNvPr id="14" name="TextBox 13"/>
          <p:cNvSpPr txBox="1"/>
          <p:nvPr/>
        </p:nvSpPr>
        <p:spPr>
          <a:xfrm>
            <a:off x="9969703" y="2048256"/>
            <a:ext cx="137160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验证用例</a:t>
            </a:r>
          </a:p>
        </p:txBody>
      </p:sp>
      <p:sp>
        <p:nvSpPr>
          <p:cNvPr id="15" name="TextBox 14"/>
          <p:cNvSpPr txBox="1"/>
          <p:nvPr/>
        </p:nvSpPr>
        <p:spPr>
          <a:xfrm>
            <a:off x="853135" y="2359152"/>
            <a:ext cx="1371600"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感知结果类型校验</a:t>
            </a:r>
          </a:p>
        </p:txBody>
      </p:sp>
      <p:sp>
        <p:nvSpPr>
          <p:cNvPr id="16" name="TextBox 15"/>
          <p:cNvSpPr txBox="1"/>
          <p:nvPr/>
        </p:nvSpPr>
        <p:spPr>
          <a:xfrm>
            <a:off x="2407615" y="2359152"/>
            <a:ext cx="4251959"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found 字段必须为原生布尔值，字符串 "False" 在 Python 中为真值</a:t>
            </a:r>
          </a:p>
        </p:txBody>
      </p:sp>
      <p:sp>
        <p:nvSpPr>
          <p:cNvPr id="17" name="TextBox 16"/>
          <p:cNvSpPr txBox="1"/>
          <p:nvPr/>
        </p:nvSpPr>
        <p:spPr>
          <a:xfrm>
            <a:off x="6842455" y="2359152"/>
            <a:ext cx="2944368"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非布尔值抛出异常</a:t>
            </a:r>
          </a:p>
        </p:txBody>
      </p:sp>
      <p:sp>
        <p:nvSpPr>
          <p:cNvPr id="18" name="TextBox 17"/>
          <p:cNvSpPr txBox="1"/>
          <p:nvPr/>
        </p:nvSpPr>
        <p:spPr>
          <a:xfrm>
            <a:off x="9969703" y="2359152"/>
            <a:ext cx="1371600"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类型校验用例</a:t>
            </a:r>
          </a:p>
        </p:txBody>
      </p:sp>
      <p:cxnSp>
        <p:nvCxnSpPr>
          <p:cNvPr id="19" name="Connector 18"/>
          <p:cNvCxnSpPr/>
          <p:nvPr/>
        </p:nvCxnSpPr>
        <p:spPr>
          <a:xfrm>
            <a:off x="761695" y="2871216"/>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53135" y="2871216"/>
            <a:ext cx="1371600"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目标丢失即终止</a:t>
            </a:r>
          </a:p>
        </p:txBody>
      </p:sp>
      <p:sp>
        <p:nvSpPr>
          <p:cNvPr id="21" name="TextBox 20"/>
          <p:cNvSpPr txBox="1"/>
          <p:nvPr/>
        </p:nvSpPr>
        <p:spPr>
          <a:xfrm>
            <a:off x="2407615" y="2871216"/>
            <a:ext cx="4251959"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技能执行前核验感知结果，未检出目标即判定失败并退出</a:t>
            </a:r>
          </a:p>
        </p:txBody>
      </p:sp>
      <p:sp>
        <p:nvSpPr>
          <p:cNvPr id="22" name="TextBox 21"/>
          <p:cNvSpPr txBox="1"/>
          <p:nvPr/>
        </p:nvSpPr>
        <p:spPr>
          <a:xfrm>
            <a:off x="6842455" y="2871216"/>
            <a:ext cx="2944368"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后续动作零下发</a:t>
            </a:r>
          </a:p>
        </p:txBody>
      </p:sp>
      <p:sp>
        <p:nvSpPr>
          <p:cNvPr id="23" name="TextBox 22"/>
          <p:cNvSpPr txBox="1"/>
          <p:nvPr/>
        </p:nvSpPr>
        <p:spPr>
          <a:xfrm>
            <a:off x="9969703" y="2871216"/>
            <a:ext cx="1371600"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调度层用例</a:t>
            </a:r>
          </a:p>
        </p:txBody>
      </p:sp>
      <p:cxnSp>
        <p:nvCxnSpPr>
          <p:cNvPr id="24" name="Connector 23"/>
          <p:cNvCxnSpPr/>
          <p:nvPr/>
        </p:nvCxnSpPr>
        <p:spPr>
          <a:xfrm>
            <a:off x="761695" y="3383280"/>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53135" y="3383280"/>
            <a:ext cx="1371600"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超时处理</a:t>
            </a:r>
          </a:p>
        </p:txBody>
      </p:sp>
      <p:sp>
        <p:nvSpPr>
          <p:cNvPr id="26" name="TextBox 25"/>
          <p:cNvSpPr txBox="1"/>
          <p:nvPr/>
        </p:nvSpPr>
        <p:spPr>
          <a:xfrm>
            <a:off x="2407615" y="3383280"/>
            <a:ext cx="4251959"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后台定时器仅置位中止标志，不在子线程调用归位流程</a:t>
            </a:r>
          </a:p>
        </p:txBody>
      </p:sp>
      <p:sp>
        <p:nvSpPr>
          <p:cNvPr id="27" name="TextBox 26"/>
          <p:cNvSpPr txBox="1"/>
          <p:nvPr/>
        </p:nvSpPr>
        <p:spPr>
          <a:xfrm>
            <a:off x="6842455" y="3383280"/>
            <a:ext cx="2944368"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归位仅在主线程执行一次</a:t>
            </a:r>
          </a:p>
        </p:txBody>
      </p:sp>
      <p:sp>
        <p:nvSpPr>
          <p:cNvPr id="28" name="TextBox 27"/>
          <p:cNvSpPr txBox="1"/>
          <p:nvPr/>
        </p:nvSpPr>
        <p:spPr>
          <a:xfrm>
            <a:off x="9969703" y="3383280"/>
            <a:ext cx="1371600"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状态机用例</a:t>
            </a:r>
          </a:p>
        </p:txBody>
      </p:sp>
      <p:cxnSp>
        <p:nvCxnSpPr>
          <p:cNvPr id="29" name="Connector 28"/>
          <p:cNvCxnSpPr/>
          <p:nvPr/>
        </p:nvCxnSpPr>
        <p:spPr>
          <a:xfrm>
            <a:off x="761695" y="3895344"/>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3135" y="3895344"/>
            <a:ext cx="1371600"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动作去重</a:t>
            </a:r>
          </a:p>
        </p:txBody>
      </p:sp>
      <p:sp>
        <p:nvSpPr>
          <p:cNvPr id="31" name="TextBox 30"/>
          <p:cNvSpPr txBox="1"/>
          <p:nvPr/>
        </p:nvSpPr>
        <p:spPr>
          <a:xfrm>
            <a:off x="2407615" y="3895344"/>
            <a:ext cx="4251959"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同一状态重复调用导致的指令重复下发</a:t>
            </a:r>
          </a:p>
        </p:txBody>
      </p:sp>
      <p:sp>
        <p:nvSpPr>
          <p:cNvPr id="32" name="TextBox 31"/>
          <p:cNvSpPr txBox="1"/>
          <p:nvPr/>
        </p:nvSpPr>
        <p:spPr>
          <a:xfrm>
            <a:off x="6842455" y="3895344"/>
            <a:ext cx="2944368"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同一次状态转移仅下发一次</a:t>
            </a:r>
          </a:p>
        </p:txBody>
      </p:sp>
      <p:sp>
        <p:nvSpPr>
          <p:cNvPr id="33" name="TextBox 32"/>
          <p:cNvSpPr txBox="1"/>
          <p:nvPr/>
        </p:nvSpPr>
        <p:spPr>
          <a:xfrm>
            <a:off x="9969703" y="3895344"/>
            <a:ext cx="1371600"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调度层用例</a:t>
            </a:r>
          </a:p>
        </p:txBody>
      </p:sp>
      <p:cxnSp>
        <p:nvCxnSpPr>
          <p:cNvPr id="34" name="Connector 33"/>
          <p:cNvCxnSpPr/>
          <p:nvPr/>
        </p:nvCxnSpPr>
        <p:spPr>
          <a:xfrm>
            <a:off x="761695" y="4407408"/>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53135" y="4407408"/>
            <a:ext cx="1371600"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非有限值防护</a:t>
            </a:r>
          </a:p>
        </p:txBody>
      </p:sp>
      <p:sp>
        <p:nvSpPr>
          <p:cNvPr id="36" name="TextBox 35"/>
          <p:cNvSpPr txBox="1"/>
          <p:nvPr/>
        </p:nvSpPr>
        <p:spPr>
          <a:xfrm>
            <a:off x="2407615" y="4407408"/>
            <a:ext cx="4251959"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角度钳制与脉冲换算拒绝 NaN 与 Inf</a:t>
            </a:r>
          </a:p>
        </p:txBody>
      </p:sp>
      <p:sp>
        <p:nvSpPr>
          <p:cNvPr id="37" name="TextBox 36"/>
          <p:cNvSpPr txBox="1"/>
          <p:nvPr/>
        </p:nvSpPr>
        <p:spPr>
          <a:xfrm>
            <a:off x="6842455" y="4407408"/>
            <a:ext cx="2944368"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抛出异常且不发送数据帧，避免满脉冲顶死机械限位</a:t>
            </a:r>
          </a:p>
        </p:txBody>
      </p:sp>
      <p:sp>
        <p:nvSpPr>
          <p:cNvPr id="38" name="TextBox 37"/>
          <p:cNvSpPr txBox="1"/>
          <p:nvPr/>
        </p:nvSpPr>
        <p:spPr>
          <a:xfrm>
            <a:off x="9969703" y="4407408"/>
            <a:ext cx="1371600" cy="512064"/>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运动层与总线用例</a:t>
            </a:r>
          </a:p>
        </p:txBody>
      </p:sp>
      <p:cxnSp>
        <p:nvCxnSpPr>
          <p:cNvPr id="39" name="Connector 38"/>
          <p:cNvCxnSpPr/>
          <p:nvPr/>
        </p:nvCxnSpPr>
        <p:spPr>
          <a:xfrm>
            <a:off x="761695" y="4919472"/>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61695" y="5084064"/>
            <a:ext cx="10668579" cy="256032"/>
          </a:xfrm>
          <a:prstGeom prst="rect">
            <a:avLst/>
          </a:prstGeom>
          <a:noFill/>
        </p:spPr>
        <p:txBody>
          <a:bodyPr wrap="square" lIns="0" rIns="0" tIns="0" bIns="0" anchor="t">
            <a:spAutoFit/>
          </a:bodyPr>
          <a:lstStyle/>
          <a:p>
            <a:pPr algn="l"/>
            <a:r>
              <a:rPr sz="1000" b="0" i="0">
                <a:solidFill>
                  <a:srgbClr val="0A2540"/>
                </a:solidFill>
                <a:latin typeface="Source Han Sans SC Heavy"/>
                <a:ea typeface="Source Han Sans SC Heavy"/>
                <a:cs typeface="Source Han Sans SC Heavy"/>
              </a:rPr>
              <a:t>覆盖范围：</a:t>
            </a:r>
            <a:r>
              <a:rPr sz="1000" b="0" i="0">
                <a:solidFill>
                  <a:srgbClr val="1F2A37"/>
                </a:solidFill>
                <a:latin typeface="Source Han Sans SC"/>
                <a:ea typeface="Source Han Sans SC"/>
                <a:cs typeface="Source Han Sans SC"/>
              </a:rPr>
              <a:t>主包 699 项测试覆盖状态机边界、非法输入校验与超时并发处理；零依赖环境下自动跳过可选依赖用例，不静默降级。</a:t>
            </a:r>
          </a:p>
        </p:txBody>
      </p:sp>
      <p:sp>
        <p:nvSpPr>
          <p:cNvPr id="41" name="TextBox 40"/>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接口契约与单元测试矩阵（本机离线复跑）</a:t>
            </a:r>
          </a:p>
        </p:txBody>
      </p:sp>
      <p:sp>
        <p:nvSpPr>
          <p:cNvPr id="42" name="TextBox 41"/>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43" name="Rectangle 42"/>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Tree>
  </p:cSld>
  <p:clrMapOvr>
    <a:masterClrMapping/>
  </p:clrMapOvr>
  <p:transition spd="med"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02</a:t>
            </a:r>
            <a:r>
              <a:rPr sz="1000" b="0" i="0">
                <a:solidFill>
                  <a:srgbClr val="6B7A8C"/>
                </a:solidFill>
                <a:latin typeface="Source Han Sans SC"/>
                <a:ea typeface="Source Han Sans SC"/>
                <a:cs typeface="Source Han Sans SC"/>
              </a:rPr>
              <a:t>  软件系统</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2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19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端侧感知与语音通路</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三条视觉通路与两级语音通路接入统一感知接口，接口返回结构固定，技能层不依赖具体实现。</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10668579" cy="310896"/>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3135" y="2048256"/>
            <a:ext cx="77724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通路</a:t>
            </a:r>
          </a:p>
        </p:txBody>
      </p:sp>
      <p:sp>
        <p:nvSpPr>
          <p:cNvPr id="12" name="TextBox 11"/>
          <p:cNvSpPr txBox="1"/>
          <p:nvPr/>
        </p:nvSpPr>
        <p:spPr>
          <a:xfrm>
            <a:off x="1813255" y="2048256"/>
            <a:ext cx="416052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方法</a:t>
            </a:r>
          </a:p>
        </p:txBody>
      </p:sp>
      <p:sp>
        <p:nvSpPr>
          <p:cNvPr id="13" name="TextBox 12"/>
          <p:cNvSpPr txBox="1"/>
          <p:nvPr/>
        </p:nvSpPr>
        <p:spPr>
          <a:xfrm>
            <a:off x="6156655" y="2048256"/>
            <a:ext cx="3904487"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输出与使用方式</a:t>
            </a:r>
          </a:p>
        </p:txBody>
      </p:sp>
      <p:sp>
        <p:nvSpPr>
          <p:cNvPr id="14" name="TextBox 13"/>
          <p:cNvSpPr txBox="1"/>
          <p:nvPr/>
        </p:nvSpPr>
        <p:spPr>
          <a:xfrm>
            <a:off x="10244023" y="2048256"/>
            <a:ext cx="109728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评测口径</a:t>
            </a:r>
          </a:p>
        </p:txBody>
      </p:sp>
      <p:sp>
        <p:nvSpPr>
          <p:cNvPr id="15" name="TextBox 14"/>
          <p:cNvSpPr txBox="1"/>
          <p:nvPr/>
        </p:nvSpPr>
        <p:spPr>
          <a:xfrm>
            <a:off x="853135" y="2359152"/>
            <a:ext cx="777240" cy="548640"/>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人脸</a:t>
            </a:r>
          </a:p>
        </p:txBody>
      </p:sp>
      <p:sp>
        <p:nvSpPr>
          <p:cNvPr id="16" name="TextBox 15"/>
          <p:cNvSpPr txBox="1"/>
          <p:nvPr/>
        </p:nvSpPr>
        <p:spPr>
          <a:xfrm>
            <a:off x="1813255" y="2359152"/>
            <a:ext cx="4160520" cy="548640"/>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检测 + 五点对齐 + 128 维特征 + 余弦相似度检索</a:t>
            </a:r>
          </a:p>
        </p:txBody>
      </p:sp>
      <p:sp>
        <p:nvSpPr>
          <p:cNvPr id="17" name="TextBox 16"/>
          <p:cNvSpPr txBox="1"/>
          <p:nvPr/>
        </p:nvSpPr>
        <p:spPr>
          <a:xfrm>
            <a:off x="6156655" y="2359152"/>
            <a:ext cx="3904487" cy="548640"/>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识别结果由本地人脸库比对给出；低于阈值时输出拒识</a:t>
            </a:r>
          </a:p>
        </p:txBody>
      </p:sp>
      <p:sp>
        <p:nvSpPr>
          <p:cNvPr id="18" name="TextBox 17"/>
          <p:cNvSpPr txBox="1"/>
          <p:nvPr/>
        </p:nvSpPr>
        <p:spPr>
          <a:xfrm>
            <a:off x="10244023" y="2359152"/>
            <a:ext cx="1097280" cy="548640"/>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公开基准集</a:t>
            </a:r>
          </a:p>
        </p:txBody>
      </p:sp>
      <p:cxnSp>
        <p:nvCxnSpPr>
          <p:cNvPr id="19" name="Connector 18"/>
          <p:cNvCxnSpPr/>
          <p:nvPr/>
        </p:nvCxnSpPr>
        <p:spPr>
          <a:xfrm>
            <a:off x="761695" y="2907792"/>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53135" y="2907792"/>
            <a:ext cx="777240" cy="548640"/>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二维码</a:t>
            </a:r>
          </a:p>
        </p:txBody>
      </p:sp>
      <p:sp>
        <p:nvSpPr>
          <p:cNvPr id="21" name="TextBox 20"/>
          <p:cNvSpPr txBox="1"/>
          <p:nvPr/>
        </p:nvSpPr>
        <p:spPr>
          <a:xfrm>
            <a:off x="1813255" y="2907792"/>
            <a:ext cx="4160520" cy="548640"/>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三种解码器对照，主用轻量模型</a:t>
            </a:r>
          </a:p>
        </p:txBody>
      </p:sp>
      <p:sp>
        <p:nvSpPr>
          <p:cNvPr id="22" name="TextBox 21"/>
          <p:cNvSpPr txBox="1"/>
          <p:nvPr/>
        </p:nvSpPr>
        <p:spPr>
          <a:xfrm>
            <a:off x="6156655" y="2907792"/>
            <a:ext cx="3904487" cy="548640"/>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载荷为带版本号的路径 JSON，兼容单动作旧格式</a:t>
            </a:r>
          </a:p>
        </p:txBody>
      </p:sp>
      <p:sp>
        <p:nvSpPr>
          <p:cNvPr id="23" name="TextBox 22"/>
          <p:cNvSpPr txBox="1"/>
          <p:nvPr/>
        </p:nvSpPr>
        <p:spPr>
          <a:xfrm>
            <a:off x="10244023" y="2907792"/>
            <a:ext cx="1097280" cy="548640"/>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程序合成畸变场景</a:t>
            </a:r>
          </a:p>
        </p:txBody>
      </p:sp>
      <p:cxnSp>
        <p:nvCxnSpPr>
          <p:cNvPr id="24" name="Connector 23"/>
          <p:cNvCxnSpPr/>
          <p:nvPr/>
        </p:nvCxnSpPr>
        <p:spPr>
          <a:xfrm>
            <a:off x="761695" y="3456432"/>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53135" y="3456432"/>
            <a:ext cx="777240" cy="548640"/>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球与色块</a:t>
            </a:r>
          </a:p>
        </p:txBody>
      </p:sp>
      <p:sp>
        <p:nvSpPr>
          <p:cNvPr id="26" name="TextBox 25"/>
          <p:cNvSpPr txBox="1"/>
          <p:nvPr/>
        </p:nvSpPr>
        <p:spPr>
          <a:xfrm>
            <a:off x="1813255" y="3456432"/>
            <a:ext cx="4160520" cy="548640"/>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HSV 阈值分割，输出类别、横向偏移与像素宽度</a:t>
            </a:r>
          </a:p>
        </p:txBody>
      </p:sp>
      <p:sp>
        <p:nvSpPr>
          <p:cNvPr id="27" name="TextBox 26"/>
          <p:cNvSpPr txBox="1"/>
          <p:nvPr/>
        </p:nvSpPr>
        <p:spPr>
          <a:xfrm>
            <a:off x="6156655" y="3456432"/>
            <a:ext cx="3904487" cy="548640"/>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供踢球与搬运技能使用；未标定时结果标记 uncalibrated</a:t>
            </a:r>
          </a:p>
        </p:txBody>
      </p:sp>
      <p:sp>
        <p:nvSpPr>
          <p:cNvPr id="28" name="TextBox 27"/>
          <p:cNvSpPr txBox="1"/>
          <p:nvPr/>
        </p:nvSpPr>
        <p:spPr>
          <a:xfrm>
            <a:off x="10244023" y="3456432"/>
            <a:ext cx="1097280" cy="548640"/>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合成图与一维几何</a:t>
            </a:r>
          </a:p>
        </p:txBody>
      </p:sp>
      <p:cxnSp>
        <p:nvCxnSpPr>
          <p:cNvPr id="29" name="Connector 28"/>
          <p:cNvCxnSpPr/>
          <p:nvPr/>
        </p:nvCxnSpPr>
        <p:spPr>
          <a:xfrm>
            <a:off x="761695" y="4005072"/>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761695" y="4187952"/>
            <a:ext cx="5133121" cy="1078992"/>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62863" y="4297680"/>
            <a:ext cx="4730785" cy="237744"/>
          </a:xfrm>
          <a:prstGeom prst="rect">
            <a:avLst/>
          </a:prstGeom>
          <a:noFill/>
        </p:spPr>
        <p:txBody>
          <a:bodyPr wrap="square" lIns="0" rIns="0" tIns="0" bIns="0" anchor="t">
            <a:spAutoFit/>
          </a:bodyPr>
          <a:lstStyle/>
          <a:p>
            <a:pPr algn="l"/>
            <a:r>
              <a:rPr sz="1150" b="0" i="0">
                <a:solidFill>
                  <a:srgbClr val="0A2540"/>
                </a:solidFill>
                <a:latin typeface="Source Han Sans SC Heavy"/>
                <a:ea typeface="Source Han Sans SC Heavy"/>
                <a:cs typeface="Source Han Sans SC Heavy"/>
              </a:rPr>
              <a:t>语音合成（本地播报）</a:t>
            </a:r>
          </a:p>
        </p:txBody>
      </p:sp>
      <p:sp>
        <p:nvSpPr>
          <p:cNvPr id="32" name="TextBox 31"/>
          <p:cNvSpPr txBox="1"/>
          <p:nvPr/>
        </p:nvSpPr>
        <p:spPr>
          <a:xfrm>
            <a:off x="962863" y="4608576"/>
            <a:ext cx="4730785" cy="603504"/>
          </a:xfrm>
          <a:prstGeom prst="rect">
            <a:avLst/>
          </a:prstGeom>
          <a:noFill/>
        </p:spPr>
        <p:txBody>
          <a:bodyPr wrap="square" lIns="0" rIns="0" tIns="0" bIns="0" anchor="t">
            <a:spAutoFit/>
          </a:bodyPr>
          <a:lstStyle/>
          <a:p>
            <a:pPr algn="l">
              <a:lnSpc>
                <a:spcPct val="130000"/>
              </a:lnSpc>
            </a:pPr>
            <a:r>
              <a:rPr sz="950" b="0" i="0">
                <a:solidFill>
                  <a:srgbClr val="1F2A37"/>
                </a:solidFill>
                <a:latin typeface="Source Han Sans SC"/>
                <a:ea typeface="Source Han Sans SC"/>
                <a:cs typeface="Source Han Sans SC"/>
              </a:rPr>
              <a:t>按可用性依次探测本地语音引擎，支持环境变量指定；引擎缺失时明确标注为不可用，不以静默方式跳过播报。</a:t>
            </a:r>
          </a:p>
        </p:txBody>
      </p:sp>
      <p:sp>
        <p:nvSpPr>
          <p:cNvPr id="33" name="Rectangle 32"/>
          <p:cNvSpPr/>
          <p:nvPr/>
        </p:nvSpPr>
        <p:spPr>
          <a:xfrm>
            <a:off x="6297152" y="4187952"/>
            <a:ext cx="5133121" cy="1078992"/>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98320" y="4297680"/>
            <a:ext cx="4730785" cy="237744"/>
          </a:xfrm>
          <a:prstGeom prst="rect">
            <a:avLst/>
          </a:prstGeom>
          <a:noFill/>
        </p:spPr>
        <p:txBody>
          <a:bodyPr wrap="square" lIns="0" rIns="0" tIns="0" bIns="0" anchor="t">
            <a:spAutoFit/>
          </a:bodyPr>
          <a:lstStyle/>
          <a:p>
            <a:pPr algn="l"/>
            <a:r>
              <a:rPr sz="1150" b="0" i="0">
                <a:solidFill>
                  <a:srgbClr val="0A2540"/>
                </a:solidFill>
                <a:latin typeface="Source Han Sans SC Heavy"/>
                <a:ea typeface="Source Han Sans SC Heavy"/>
                <a:cs typeface="Source Han Sans SC Heavy"/>
              </a:rPr>
              <a:t>语音识别（离线关键词）</a:t>
            </a:r>
          </a:p>
        </p:txBody>
      </p:sp>
      <p:sp>
        <p:nvSpPr>
          <p:cNvPr id="35" name="TextBox 34"/>
          <p:cNvSpPr txBox="1"/>
          <p:nvPr/>
        </p:nvSpPr>
        <p:spPr>
          <a:xfrm>
            <a:off x="6498320" y="4608576"/>
            <a:ext cx="4730785" cy="603504"/>
          </a:xfrm>
          <a:prstGeom prst="rect">
            <a:avLst/>
          </a:prstGeom>
          <a:noFill/>
        </p:spPr>
        <p:txBody>
          <a:bodyPr wrap="square" lIns="0" rIns="0" tIns="0" bIns="0" anchor="t">
            <a:spAutoFit/>
          </a:bodyPr>
          <a:lstStyle/>
          <a:p>
            <a:pPr algn="l">
              <a:lnSpc>
                <a:spcPct val="130000"/>
              </a:lnSpc>
            </a:pPr>
            <a:r>
              <a:rPr sz="950" b="0" i="0">
                <a:solidFill>
                  <a:srgbClr val="1F2A37"/>
                </a:solidFill>
                <a:latin typeface="Source Han Sans SC"/>
                <a:ea typeface="Source Han Sans SC"/>
                <a:cs typeface="Source Han Sans SC"/>
              </a:rPr>
              <a:t>离线识别引擎以惰性后端方式接入，白名单外的说法不触发动作；核心运行时不依赖该库，缺件时返回不可用状态。</a:t>
            </a:r>
          </a:p>
        </p:txBody>
      </p:sp>
      <p:sp>
        <p:nvSpPr>
          <p:cNvPr id="36" name="TextBox 35"/>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各通路的评测口径分别见第三章对应页面</a:t>
            </a:r>
          </a:p>
        </p:txBody>
      </p:sp>
      <p:sp>
        <p:nvSpPr>
          <p:cNvPr id="37" name="TextBox 36"/>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38" name="Rectangle 37"/>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40" name="Rectangle 39"/>
          <p:cNvSpPr/>
          <p:nvPr/>
        </p:nvSpPr>
        <p:spPr>
          <a:xfrm>
            <a:off x="244723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53867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Tree>
  </p:cSld>
  <p:clrMapOvr>
    <a:masterClrMapping/>
  </p:clrMapOvr>
  <p:transition spd="med"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02</a:t>
            </a:r>
            <a:r>
              <a:rPr sz="1000" b="0" i="0">
                <a:solidFill>
                  <a:srgbClr val="6B7A8C"/>
                </a:solidFill>
                <a:latin typeface="Source Han Sans SC"/>
                <a:ea typeface="Source Han Sans SC"/>
                <a:cs typeface="Source Han Sans SC"/>
              </a:rPr>
              <a:t>  软件系统</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2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20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高可靠离线运行时与验证矩阵</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核心运行时不依赖任何第三方库，全部用例在通用 Linux + CPython 3.14 下离线复跑，无需硬件连线与图形界面。</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2564274" cy="1243584"/>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61695" y="2048256"/>
            <a:ext cx="41148" cy="1243584"/>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81151" y="2176272"/>
            <a:ext cx="2198514" cy="497204"/>
          </a:xfrm>
          <a:prstGeom prst="rect">
            <a:avLst/>
          </a:prstGeom>
          <a:noFill/>
        </p:spPr>
        <p:txBody>
          <a:bodyPr wrap="square" lIns="0" rIns="0" tIns="0" bIns="0" anchor="t">
            <a:spAutoFit/>
          </a:bodyPr>
          <a:lstStyle/>
          <a:p>
            <a:pPr algn="l">
              <a:lnSpc>
                <a:spcPct val="100000"/>
              </a:lnSpc>
            </a:pPr>
            <a:r>
              <a:rPr sz="2700" b="0" i="0">
                <a:solidFill>
                  <a:srgbClr val="0A2540"/>
                </a:solidFill>
                <a:latin typeface="Source Han Sans SC Heavy"/>
                <a:ea typeface="Source Han Sans SC Heavy"/>
                <a:cs typeface="Source Han Sans SC Heavy"/>
              </a:rPr>
              <a:t>699</a:t>
            </a:r>
            <a:r>
              <a:rPr sz="1500" b="0" i="0">
                <a:solidFill>
                  <a:srgbClr val="0A2540"/>
                </a:solidFill>
                <a:latin typeface="Source Han Sans SC Heavy"/>
                <a:ea typeface="Source Han Sans SC Heavy"/>
                <a:cs typeface="Source Han Sans SC Heavy"/>
              </a:rPr>
              <a:t> 项</a:t>
            </a:r>
          </a:p>
        </p:txBody>
      </p:sp>
      <p:sp>
        <p:nvSpPr>
          <p:cNvPr id="13" name="TextBox 12"/>
          <p:cNvSpPr txBox="1"/>
          <p:nvPr/>
        </p:nvSpPr>
        <p:spPr>
          <a:xfrm>
            <a:off x="981151" y="2746629"/>
            <a:ext cx="2198514" cy="472059"/>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软件主包单元测试：调度、技能、运动与总线</a:t>
            </a:r>
          </a:p>
        </p:txBody>
      </p:sp>
      <p:sp>
        <p:nvSpPr>
          <p:cNvPr id="14" name="Rectangle 13"/>
          <p:cNvSpPr/>
          <p:nvPr/>
        </p:nvSpPr>
        <p:spPr>
          <a:xfrm>
            <a:off x="3463129" y="2048256"/>
            <a:ext cx="2564274" cy="1243584"/>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463129" y="2048256"/>
            <a:ext cx="41148" cy="1243584"/>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82585" y="2176272"/>
            <a:ext cx="2198514" cy="497204"/>
          </a:xfrm>
          <a:prstGeom prst="rect">
            <a:avLst/>
          </a:prstGeom>
          <a:noFill/>
        </p:spPr>
        <p:txBody>
          <a:bodyPr wrap="square" lIns="0" rIns="0" tIns="0" bIns="0" anchor="t">
            <a:spAutoFit/>
          </a:bodyPr>
          <a:lstStyle/>
          <a:p>
            <a:pPr algn="l">
              <a:lnSpc>
                <a:spcPct val="100000"/>
              </a:lnSpc>
            </a:pPr>
            <a:r>
              <a:rPr sz="2700" b="0" i="0">
                <a:solidFill>
                  <a:srgbClr val="0A2540"/>
                </a:solidFill>
                <a:latin typeface="Source Han Sans SC Heavy"/>
                <a:ea typeface="Source Han Sans SC Heavy"/>
                <a:cs typeface="Source Han Sans SC Heavy"/>
              </a:rPr>
              <a:t>41</a:t>
            </a:r>
            <a:r>
              <a:rPr sz="1500" b="0" i="0">
                <a:solidFill>
                  <a:srgbClr val="0A2540"/>
                </a:solidFill>
                <a:latin typeface="Source Han Sans SC Heavy"/>
                <a:ea typeface="Source Han Sans SC Heavy"/>
                <a:cs typeface="Source Han Sans SC Heavy"/>
              </a:rPr>
              <a:t> 项</a:t>
            </a:r>
          </a:p>
        </p:txBody>
      </p:sp>
      <p:sp>
        <p:nvSpPr>
          <p:cNvPr id="17" name="TextBox 16"/>
          <p:cNvSpPr txBox="1"/>
          <p:nvPr/>
        </p:nvSpPr>
        <p:spPr>
          <a:xfrm>
            <a:off x="3682585" y="2746629"/>
            <a:ext cx="2198514" cy="472059"/>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运动学离线测试：关节映射、句柄绑定与角位移</a:t>
            </a:r>
          </a:p>
        </p:txBody>
      </p:sp>
      <p:sp>
        <p:nvSpPr>
          <p:cNvPr id="18" name="Rectangle 17"/>
          <p:cNvSpPr/>
          <p:nvPr/>
        </p:nvSpPr>
        <p:spPr>
          <a:xfrm>
            <a:off x="6164564" y="2048256"/>
            <a:ext cx="2564274" cy="1243584"/>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164564" y="2048256"/>
            <a:ext cx="41148" cy="1243584"/>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84020" y="2176272"/>
            <a:ext cx="2198514" cy="497204"/>
          </a:xfrm>
          <a:prstGeom prst="rect">
            <a:avLst/>
          </a:prstGeom>
          <a:noFill/>
        </p:spPr>
        <p:txBody>
          <a:bodyPr wrap="square" lIns="0" rIns="0" tIns="0" bIns="0" anchor="t">
            <a:spAutoFit/>
          </a:bodyPr>
          <a:lstStyle/>
          <a:p>
            <a:pPr algn="l">
              <a:lnSpc>
                <a:spcPct val="100000"/>
              </a:lnSpc>
            </a:pPr>
            <a:r>
              <a:rPr sz="2700" b="0" i="0">
                <a:solidFill>
                  <a:srgbClr val="0A2540"/>
                </a:solidFill>
                <a:latin typeface="Source Han Sans SC Heavy"/>
                <a:ea typeface="Source Han Sans SC Heavy"/>
                <a:cs typeface="Source Han Sans SC Heavy"/>
              </a:rPr>
              <a:t>95</a:t>
            </a:r>
            <a:r>
              <a:rPr sz="1500" b="0" i="0">
                <a:solidFill>
                  <a:srgbClr val="0A2540"/>
                </a:solidFill>
                <a:latin typeface="Source Han Sans SC Heavy"/>
                <a:ea typeface="Source Han Sans SC Heavy"/>
                <a:cs typeface="Source Han Sans SC Heavy"/>
              </a:rPr>
              <a:t> 项</a:t>
            </a:r>
          </a:p>
        </p:txBody>
      </p:sp>
      <p:sp>
        <p:nvSpPr>
          <p:cNvPr id="21" name="TextBox 20"/>
          <p:cNvSpPr txBox="1"/>
          <p:nvPr/>
        </p:nvSpPr>
        <p:spPr>
          <a:xfrm>
            <a:off x="6384020" y="2746629"/>
            <a:ext cx="2198514" cy="472059"/>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装配链路测试：结构件接口、装配与制造输出</a:t>
            </a:r>
          </a:p>
        </p:txBody>
      </p:sp>
      <p:sp>
        <p:nvSpPr>
          <p:cNvPr id="22" name="Rectangle 21"/>
          <p:cNvSpPr/>
          <p:nvPr/>
        </p:nvSpPr>
        <p:spPr>
          <a:xfrm>
            <a:off x="8865999" y="2048256"/>
            <a:ext cx="2564274" cy="1243584"/>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865999" y="2048256"/>
            <a:ext cx="41148" cy="1243584"/>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085455" y="2176272"/>
            <a:ext cx="2198514" cy="497204"/>
          </a:xfrm>
          <a:prstGeom prst="rect">
            <a:avLst/>
          </a:prstGeom>
          <a:noFill/>
        </p:spPr>
        <p:txBody>
          <a:bodyPr wrap="square" lIns="0" rIns="0" tIns="0" bIns="0" anchor="t">
            <a:spAutoFit/>
          </a:bodyPr>
          <a:lstStyle/>
          <a:p>
            <a:pPr algn="l">
              <a:lnSpc>
                <a:spcPct val="100000"/>
              </a:lnSpc>
            </a:pPr>
            <a:r>
              <a:rPr sz="2700" b="0" i="0">
                <a:solidFill>
                  <a:srgbClr val="2E9E7B"/>
                </a:solidFill>
                <a:latin typeface="Source Han Sans SC Heavy"/>
                <a:ea typeface="Source Han Sans SC Heavy"/>
                <a:cs typeface="Source Han Sans SC Heavy"/>
              </a:rPr>
              <a:t>0</a:t>
            </a:r>
            <a:r>
              <a:rPr sz="1500" b="0" i="0">
                <a:solidFill>
                  <a:srgbClr val="2E9E7B"/>
                </a:solidFill>
                <a:latin typeface="Source Han Sans SC Heavy"/>
                <a:ea typeface="Source Han Sans SC Heavy"/>
                <a:cs typeface="Source Han Sans SC Heavy"/>
              </a:rPr>
              <a:t> 第三方依赖</a:t>
            </a:r>
          </a:p>
        </p:txBody>
      </p:sp>
      <p:sp>
        <p:nvSpPr>
          <p:cNvPr id="25" name="TextBox 24"/>
          <p:cNvSpPr txBox="1"/>
          <p:nvPr/>
        </p:nvSpPr>
        <p:spPr>
          <a:xfrm>
            <a:off x="9085455" y="2746629"/>
            <a:ext cx="2198514" cy="472059"/>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主包仅使用 Python 标准库，端侧部署极简</a:t>
            </a:r>
          </a:p>
        </p:txBody>
      </p:sp>
      <p:sp>
        <p:nvSpPr>
          <p:cNvPr id="26" name="Rectangle 25"/>
          <p:cNvSpPr/>
          <p:nvPr/>
        </p:nvSpPr>
        <p:spPr>
          <a:xfrm>
            <a:off x="761695" y="3474720"/>
            <a:ext cx="5133121" cy="1920240"/>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81151" y="3602736"/>
            <a:ext cx="4694209" cy="256032"/>
          </a:xfrm>
          <a:prstGeom prst="rect">
            <a:avLst/>
          </a:prstGeom>
          <a:noFill/>
        </p:spPr>
        <p:txBody>
          <a:bodyPr wrap="square" lIns="0" rIns="0" tIns="0" bIns="0" anchor="t">
            <a:spAutoFit/>
          </a:bodyPr>
          <a:lstStyle/>
          <a:p>
            <a:pPr algn="l"/>
            <a:r>
              <a:rPr sz="1200" b="0" i="0">
                <a:solidFill>
                  <a:srgbClr val="0A2540"/>
                </a:solidFill>
                <a:latin typeface="Source Han Sans SC Heavy"/>
                <a:ea typeface="Source Han Sans SC Heavy"/>
                <a:cs typeface="Source Han Sans SC Heavy"/>
              </a:rPr>
              <a:t>运行时特性</a:t>
            </a:r>
          </a:p>
        </p:txBody>
      </p:sp>
      <p:sp>
        <p:nvSpPr>
          <p:cNvPr id="28" name="Rectangle 27"/>
          <p:cNvSpPr/>
          <p:nvPr/>
        </p:nvSpPr>
        <p:spPr>
          <a:xfrm>
            <a:off x="981151" y="4005072"/>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127455" y="3922776"/>
            <a:ext cx="4547905"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确定性与可复现　</a:t>
            </a:r>
            <a:r>
              <a:rPr sz="900" b="0" i="0">
                <a:solidFill>
                  <a:srgbClr val="1F2A37"/>
                </a:solidFill>
                <a:latin typeface="Source Han Sans SC"/>
                <a:ea typeface="Source Han Sans SC"/>
                <a:cs typeface="Source Han Sans SC"/>
              </a:rPr>
              <a:t>同一输入给出同一轨迹，测试不依赖时间与网络</a:t>
            </a:r>
          </a:p>
        </p:txBody>
      </p:sp>
      <p:sp>
        <p:nvSpPr>
          <p:cNvPr id="30" name="Rectangle 29"/>
          <p:cNvSpPr/>
          <p:nvPr/>
        </p:nvSpPr>
        <p:spPr>
          <a:xfrm>
            <a:off x="981151" y="4352544"/>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127455" y="4270248"/>
            <a:ext cx="4547905"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输入全量校验　</a:t>
            </a:r>
            <a:r>
              <a:rPr sz="900" b="0" i="0">
                <a:solidFill>
                  <a:srgbClr val="1F2A37"/>
                </a:solidFill>
                <a:latin typeface="Source Han Sans SC"/>
                <a:ea typeface="Source Han Sans SC"/>
                <a:cs typeface="Source Han Sans SC"/>
              </a:rPr>
              <a:t>关节名、角度范围与非有限值在入口一次性拦截</a:t>
            </a:r>
          </a:p>
        </p:txBody>
      </p:sp>
      <p:sp>
        <p:nvSpPr>
          <p:cNvPr id="32" name="Rectangle 31"/>
          <p:cNvSpPr/>
          <p:nvPr/>
        </p:nvSpPr>
        <p:spPr>
          <a:xfrm>
            <a:off x="981151" y="4700016"/>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127455" y="4617720"/>
            <a:ext cx="4547905"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失败熔断　</a:t>
            </a:r>
            <a:r>
              <a:rPr sz="900" b="0" i="0">
                <a:solidFill>
                  <a:srgbClr val="1F2A37"/>
                </a:solidFill>
                <a:latin typeface="Source Han Sans SC"/>
                <a:ea typeface="Source Han Sans SC"/>
                <a:cs typeface="Source Han Sans SC"/>
              </a:rPr>
              <a:t>任一环节失败即终止任务，不产生部分动作</a:t>
            </a:r>
          </a:p>
        </p:txBody>
      </p:sp>
      <p:sp>
        <p:nvSpPr>
          <p:cNvPr id="34" name="Rectangle 33"/>
          <p:cNvSpPr/>
          <p:nvPr/>
        </p:nvSpPr>
        <p:spPr>
          <a:xfrm>
            <a:off x="981151" y="5047488"/>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127455" y="4965192"/>
            <a:ext cx="4547905"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安全挂起　</a:t>
            </a:r>
            <a:r>
              <a:rPr sz="900" b="0" i="0">
                <a:solidFill>
                  <a:srgbClr val="1F2A37"/>
                </a:solidFill>
                <a:latin typeface="Source Han Sans SC"/>
                <a:ea typeface="Source Han Sans SC"/>
                <a:cs typeface="Source Han Sans SC"/>
              </a:rPr>
              <a:t>异常态统一收敛，保留完整状态历史供复盘</a:t>
            </a:r>
          </a:p>
        </p:txBody>
      </p:sp>
      <p:sp>
        <p:nvSpPr>
          <p:cNvPr id="36" name="Rectangle 35"/>
          <p:cNvSpPr/>
          <p:nvPr/>
        </p:nvSpPr>
        <p:spPr>
          <a:xfrm>
            <a:off x="6297152" y="3474720"/>
            <a:ext cx="5133121" cy="1920240"/>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516608" y="3602736"/>
            <a:ext cx="4694209" cy="256032"/>
          </a:xfrm>
          <a:prstGeom prst="rect">
            <a:avLst/>
          </a:prstGeom>
          <a:noFill/>
        </p:spPr>
        <p:txBody>
          <a:bodyPr wrap="square" lIns="0" rIns="0" tIns="0" bIns="0" anchor="t">
            <a:spAutoFit/>
          </a:bodyPr>
          <a:lstStyle/>
          <a:p>
            <a:pPr algn="l"/>
            <a:r>
              <a:rPr sz="1200" b="0" i="0">
                <a:solidFill>
                  <a:srgbClr val="0A2540"/>
                </a:solidFill>
                <a:latin typeface="Source Han Sans SC Heavy"/>
                <a:ea typeface="Source Han Sans SC Heavy"/>
                <a:cs typeface="Source Han Sans SC Heavy"/>
              </a:rPr>
              <a:t>测试矩阵覆盖</a:t>
            </a:r>
          </a:p>
        </p:txBody>
      </p:sp>
      <p:sp>
        <p:nvSpPr>
          <p:cNvPr id="38" name="Rectangle 37"/>
          <p:cNvSpPr/>
          <p:nvPr/>
        </p:nvSpPr>
        <p:spPr>
          <a:xfrm>
            <a:off x="6516608" y="4005072"/>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662912" y="3922776"/>
            <a:ext cx="4547905"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关节限位　</a:t>
            </a:r>
            <a:r>
              <a:rPr sz="900" b="0" i="0">
                <a:solidFill>
                  <a:srgbClr val="1F2A37"/>
                </a:solidFill>
                <a:latin typeface="Source Han Sans SC"/>
                <a:ea typeface="Source Han Sans SC"/>
                <a:cs typeface="Source Han Sans SC"/>
              </a:rPr>
              <a:t>100% 关节的越界钳制与非法输入拒绝</a:t>
            </a:r>
          </a:p>
        </p:txBody>
      </p:sp>
      <p:sp>
        <p:nvSpPr>
          <p:cNvPr id="40" name="Rectangle 39"/>
          <p:cNvSpPr/>
          <p:nvPr/>
        </p:nvSpPr>
        <p:spPr>
          <a:xfrm>
            <a:off x="6516608" y="4352544"/>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662912" y="4270248"/>
            <a:ext cx="4547905"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数值健壮性　</a:t>
            </a:r>
            <a:r>
              <a:rPr sz="900" b="0" i="0">
                <a:solidFill>
                  <a:srgbClr val="1F2A37"/>
                </a:solidFill>
                <a:latin typeface="Source Han Sans SC"/>
                <a:ea typeface="Source Han Sans SC"/>
                <a:cs typeface="Source Han Sans SC"/>
              </a:rPr>
              <a:t>NaN / Inf 过滤与脉冲换算边界</a:t>
            </a:r>
          </a:p>
        </p:txBody>
      </p:sp>
      <p:sp>
        <p:nvSpPr>
          <p:cNvPr id="42" name="Rectangle 41"/>
          <p:cNvSpPr/>
          <p:nvPr/>
        </p:nvSpPr>
        <p:spPr>
          <a:xfrm>
            <a:off x="6516608" y="4700016"/>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662912" y="4617720"/>
            <a:ext cx="4547905"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并发与超时　</a:t>
            </a:r>
            <a:r>
              <a:rPr sz="900" b="0" i="0">
                <a:solidFill>
                  <a:srgbClr val="1F2A37"/>
                </a:solidFill>
                <a:latin typeface="Source Han Sans SC"/>
                <a:ea typeface="Source Han Sans SC"/>
                <a:cs typeface="Source Han Sans SC"/>
              </a:rPr>
              <a:t>后台计时与主线程归位的并发路径</a:t>
            </a:r>
          </a:p>
        </p:txBody>
      </p:sp>
      <p:sp>
        <p:nvSpPr>
          <p:cNvPr id="44" name="Rectangle 43"/>
          <p:cNvSpPr/>
          <p:nvPr/>
        </p:nvSpPr>
        <p:spPr>
          <a:xfrm>
            <a:off x="6516608" y="5047488"/>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662912" y="4965192"/>
            <a:ext cx="4547905"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任务卡校验　</a:t>
            </a:r>
            <a:r>
              <a:rPr sz="900" b="0" i="0">
                <a:solidFill>
                  <a:srgbClr val="1F2A37"/>
                </a:solidFill>
                <a:latin typeface="Source Han Sans SC"/>
                <a:ea typeface="Source Han Sans SC"/>
                <a:cs typeface="Source Han Sans SC"/>
              </a:rPr>
              <a:t>字段缺失、类型错误与超时配置</a:t>
            </a:r>
          </a:p>
        </p:txBody>
      </p:sp>
      <p:sp>
        <p:nvSpPr>
          <p:cNvPr id="46" name="TextBox 45"/>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本机离线复跑结果：主包 699 项（跳过 46 项可选依赖）、运动学 41 项、装配链路 95 项</a:t>
            </a:r>
          </a:p>
        </p:txBody>
      </p:sp>
      <p:sp>
        <p:nvSpPr>
          <p:cNvPr id="47" name="TextBox 46"/>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48" name="Rectangle 47"/>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Tree>
  </p:cSld>
  <p:clrMapOvr>
    <a:masterClrMapping/>
  </p:clrMapOvr>
  <p:transition spd="med"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Rectangle 1"/>
          <p:cNvSpPr/>
          <p:nvPr/>
        </p:nvSpPr>
        <p:spPr>
          <a:xfrm>
            <a:off x="0" y="0"/>
            <a:ext cx="12191969"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a:off x="53035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0704"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591055"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121408"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51760"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82111"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712463"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242816"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73168"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303520"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83387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364223"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94575"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424927"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955279"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48563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015984"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546336"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076688"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607040"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13739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667744"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198096"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530352"/>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1060704"/>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1591055"/>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2121408"/>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2651760"/>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3182111"/>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3712463"/>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4242816"/>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4773168"/>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5303520"/>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5833872"/>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6364223"/>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05840" y="2103120"/>
            <a:ext cx="8229600" cy="1280160"/>
          </a:xfrm>
          <a:prstGeom prst="rect">
            <a:avLst/>
          </a:prstGeom>
          <a:noFill/>
        </p:spPr>
        <p:txBody>
          <a:bodyPr wrap="square" lIns="0" rIns="0" tIns="0" bIns="0" anchor="t">
            <a:spAutoFit/>
          </a:bodyPr>
          <a:lstStyle/>
          <a:p>
            <a:pPr algn="l"/>
            <a:r>
              <a:rPr sz="12000" b="0" i="0">
                <a:solidFill>
                  <a:srgbClr val="1B3A5C"/>
                </a:solidFill>
                <a:latin typeface="Source Han Sans SC Heavy"/>
                <a:ea typeface="Source Han Sans SC Heavy"/>
                <a:cs typeface="Source Han Sans SC Heavy"/>
              </a:rPr>
              <a:t>03</a:t>
            </a:r>
          </a:p>
        </p:txBody>
      </p:sp>
      <p:sp>
        <p:nvSpPr>
          <p:cNvPr id="39" name="Rectangle 38"/>
          <p:cNvSpPr/>
          <p:nvPr/>
        </p:nvSpPr>
        <p:spPr>
          <a:xfrm>
            <a:off x="1042415" y="3584448"/>
            <a:ext cx="731520" cy="4572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005840" y="3877056"/>
            <a:ext cx="8778240" cy="914400"/>
          </a:xfrm>
          <a:prstGeom prst="rect">
            <a:avLst/>
          </a:prstGeom>
          <a:noFill/>
        </p:spPr>
        <p:txBody>
          <a:bodyPr wrap="square" lIns="0" rIns="0" tIns="0" bIns="0" anchor="t">
            <a:spAutoFit/>
          </a:bodyPr>
          <a:lstStyle/>
          <a:p>
            <a:pPr algn="l">
              <a:lnSpc>
                <a:spcPct val="118000"/>
              </a:lnSpc>
            </a:pPr>
            <a:r>
              <a:rPr sz="3200" b="0" i="0">
                <a:solidFill>
                  <a:srgbClr val="FFFFFF"/>
                </a:solidFill>
                <a:latin typeface="Source Han Sans SC Heavy"/>
                <a:ea typeface="Source Han Sans SC Heavy"/>
                <a:cs typeface="Source Han Sans SC Heavy"/>
              </a:rPr>
              <a:t>五项赛务任务</a:t>
            </a:r>
          </a:p>
        </p:txBody>
      </p:sp>
      <p:sp>
        <p:nvSpPr>
          <p:cNvPr id="41" name="TextBox 40"/>
          <p:cNvSpPr txBox="1"/>
          <p:nvPr/>
        </p:nvSpPr>
        <p:spPr>
          <a:xfrm>
            <a:off x="1005840" y="4956048"/>
            <a:ext cx="8778240" cy="365760"/>
          </a:xfrm>
          <a:prstGeom prst="rect">
            <a:avLst/>
          </a:prstGeom>
          <a:noFill/>
        </p:spPr>
        <p:txBody>
          <a:bodyPr wrap="square" lIns="0" rIns="0" tIns="0" bIns="0" anchor="t">
            <a:spAutoFit/>
          </a:bodyPr>
          <a:lstStyle/>
          <a:p>
            <a:pPr algn="l"/>
            <a:r>
              <a:rPr sz="1350" b="0" i="0">
                <a:solidFill>
                  <a:srgbClr val="9CC0DC"/>
                </a:solidFill>
                <a:latin typeface="Source Han Sans SC"/>
                <a:ea typeface="Source Han Sans SC"/>
                <a:cs typeface="Source Han Sans SC"/>
              </a:rPr>
              <a:t>每项任务给出全链路实现、定量评测结果与物理适配计划。</a:t>
            </a:r>
          </a:p>
        </p:txBody>
      </p:sp>
      <p:sp>
        <p:nvSpPr>
          <p:cNvPr id="42" name="Oval 41"/>
          <p:cNvSpPr/>
          <p:nvPr/>
        </p:nvSpPr>
        <p:spPr>
          <a:xfrm>
            <a:off x="10835640" y="1417320"/>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3" name="Connector 42"/>
          <p:cNvCxnSpPr/>
          <p:nvPr/>
        </p:nvCxnSpPr>
        <p:spPr>
          <a:xfrm>
            <a:off x="10881360" y="146304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0835640" y="160934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5" name="Connector 44"/>
          <p:cNvCxnSpPr/>
          <p:nvPr/>
        </p:nvCxnSpPr>
        <p:spPr>
          <a:xfrm>
            <a:off x="10881360" y="165506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0835640" y="180136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7" name="Connector 46"/>
          <p:cNvCxnSpPr/>
          <p:nvPr/>
        </p:nvCxnSpPr>
        <p:spPr>
          <a:xfrm>
            <a:off x="10881360" y="184708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10835640" y="199339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9" name="Connector 48"/>
          <p:cNvCxnSpPr/>
          <p:nvPr/>
        </p:nvCxnSpPr>
        <p:spPr>
          <a:xfrm>
            <a:off x="10881360" y="203911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0835640" y="218541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1" name="Connector 50"/>
          <p:cNvCxnSpPr/>
          <p:nvPr/>
        </p:nvCxnSpPr>
        <p:spPr>
          <a:xfrm>
            <a:off x="10881360" y="2231136"/>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10835640" y="2377440"/>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3" name="Connector 52"/>
          <p:cNvCxnSpPr/>
          <p:nvPr/>
        </p:nvCxnSpPr>
        <p:spPr>
          <a:xfrm>
            <a:off x="10881360" y="242316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10835640" y="256946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5" name="Connector 54"/>
          <p:cNvCxnSpPr/>
          <p:nvPr/>
        </p:nvCxnSpPr>
        <p:spPr>
          <a:xfrm>
            <a:off x="10881360" y="261518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10835640" y="276148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7" name="Connector 56"/>
          <p:cNvCxnSpPr/>
          <p:nvPr/>
        </p:nvCxnSpPr>
        <p:spPr>
          <a:xfrm>
            <a:off x="10881360" y="280720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10835640" y="295351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9" name="Connector 58"/>
          <p:cNvCxnSpPr/>
          <p:nvPr/>
        </p:nvCxnSpPr>
        <p:spPr>
          <a:xfrm>
            <a:off x="10881360" y="299923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0835640" y="314553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1" name="Connector 60"/>
          <p:cNvCxnSpPr/>
          <p:nvPr/>
        </p:nvCxnSpPr>
        <p:spPr>
          <a:xfrm>
            <a:off x="10881360" y="3191256"/>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0835640" y="3337560"/>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3" name="Connector 62"/>
          <p:cNvCxnSpPr/>
          <p:nvPr/>
        </p:nvCxnSpPr>
        <p:spPr>
          <a:xfrm>
            <a:off x="10881360" y="338328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0835640" y="352958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5" name="Connector 64"/>
          <p:cNvCxnSpPr/>
          <p:nvPr/>
        </p:nvCxnSpPr>
        <p:spPr>
          <a:xfrm>
            <a:off x="10881360" y="357530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10835640" y="372160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7" name="Connector 66"/>
          <p:cNvCxnSpPr/>
          <p:nvPr/>
        </p:nvCxnSpPr>
        <p:spPr>
          <a:xfrm>
            <a:off x="10881360" y="376732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10835640" y="391363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9" name="Connector 68"/>
          <p:cNvCxnSpPr/>
          <p:nvPr/>
        </p:nvCxnSpPr>
        <p:spPr>
          <a:xfrm>
            <a:off x="10881360" y="395935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0835640" y="410565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1" name="Connector 70"/>
          <p:cNvCxnSpPr/>
          <p:nvPr/>
        </p:nvCxnSpPr>
        <p:spPr>
          <a:xfrm>
            <a:off x="10881360" y="4151376"/>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10835640" y="4297680"/>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3" name="Connector 72"/>
          <p:cNvCxnSpPr/>
          <p:nvPr/>
        </p:nvCxnSpPr>
        <p:spPr>
          <a:xfrm>
            <a:off x="10881360" y="434340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10835640" y="448970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5" name="Connector 74"/>
          <p:cNvCxnSpPr/>
          <p:nvPr/>
        </p:nvCxnSpPr>
        <p:spPr>
          <a:xfrm>
            <a:off x="10881360" y="453542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10835640" y="468172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7" name="Connector 76"/>
          <p:cNvCxnSpPr/>
          <p:nvPr/>
        </p:nvCxnSpPr>
        <p:spPr>
          <a:xfrm>
            <a:off x="10881360" y="472744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10835640" y="487375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9" name="Connector 78"/>
          <p:cNvCxnSpPr/>
          <p:nvPr/>
        </p:nvCxnSpPr>
        <p:spPr>
          <a:xfrm>
            <a:off x="10881360" y="491947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0835640" y="506577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03</a:t>
            </a:r>
            <a:r>
              <a:rPr sz="1000" b="0" i="0">
                <a:solidFill>
                  <a:srgbClr val="6B7A8C"/>
                </a:solidFill>
                <a:latin typeface="Source Han Sans SC"/>
                <a:ea typeface="Source Han Sans SC"/>
                <a:cs typeface="Source Han Sans SC"/>
              </a:rPr>
              <a:t>  五项赛务任务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3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22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任务一（人脸识别）：全离线识别链路与拒识保护</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赛题要求识别指定人脸并播报姓名。本方案实现检测、特征提取、本地库比对与显式拒识的完整链路。</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10668579" cy="548640"/>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2863"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取帧</a:t>
            </a:r>
          </a:p>
        </p:txBody>
      </p:sp>
      <p:sp>
        <p:nvSpPr>
          <p:cNvPr id="12" name="TextBox 11"/>
          <p:cNvSpPr txBox="1"/>
          <p:nvPr/>
        </p:nvSpPr>
        <p:spPr>
          <a:xfrm>
            <a:off x="2436159"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3" name="TextBox 12"/>
          <p:cNvSpPr txBox="1"/>
          <p:nvPr/>
        </p:nvSpPr>
        <p:spPr>
          <a:xfrm>
            <a:off x="2673903"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轻量检测器</a:t>
            </a:r>
          </a:p>
        </p:txBody>
      </p:sp>
      <p:sp>
        <p:nvSpPr>
          <p:cNvPr id="14" name="TextBox 13"/>
          <p:cNvSpPr txBox="1"/>
          <p:nvPr/>
        </p:nvSpPr>
        <p:spPr>
          <a:xfrm>
            <a:off x="4147200"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5" name="TextBox 14"/>
          <p:cNvSpPr txBox="1"/>
          <p:nvPr/>
        </p:nvSpPr>
        <p:spPr>
          <a:xfrm>
            <a:off x="4384944"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五点对齐</a:t>
            </a:r>
          </a:p>
        </p:txBody>
      </p:sp>
      <p:sp>
        <p:nvSpPr>
          <p:cNvPr id="16" name="TextBox 15"/>
          <p:cNvSpPr txBox="1"/>
          <p:nvPr/>
        </p:nvSpPr>
        <p:spPr>
          <a:xfrm>
            <a:off x="5858240"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7" name="TextBox 16"/>
          <p:cNvSpPr txBox="1"/>
          <p:nvPr/>
        </p:nvSpPr>
        <p:spPr>
          <a:xfrm>
            <a:off x="6095984"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128 维特征</a:t>
            </a:r>
          </a:p>
        </p:txBody>
      </p:sp>
      <p:sp>
        <p:nvSpPr>
          <p:cNvPr id="18" name="TextBox 17"/>
          <p:cNvSpPr txBox="1"/>
          <p:nvPr/>
        </p:nvSpPr>
        <p:spPr>
          <a:xfrm>
            <a:off x="7569281"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9" name="TextBox 18"/>
          <p:cNvSpPr txBox="1"/>
          <p:nvPr/>
        </p:nvSpPr>
        <p:spPr>
          <a:xfrm>
            <a:off x="7807025"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本地库检索</a:t>
            </a:r>
          </a:p>
        </p:txBody>
      </p:sp>
      <p:sp>
        <p:nvSpPr>
          <p:cNvPr id="20" name="TextBox 19"/>
          <p:cNvSpPr txBox="1"/>
          <p:nvPr/>
        </p:nvSpPr>
        <p:spPr>
          <a:xfrm>
            <a:off x="9280321"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21" name="TextBox 20"/>
          <p:cNvSpPr txBox="1"/>
          <p:nvPr/>
        </p:nvSpPr>
        <p:spPr>
          <a:xfrm>
            <a:off x="9518065"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播报或拒识</a:t>
            </a:r>
          </a:p>
        </p:txBody>
      </p:sp>
      <p:sp>
        <p:nvSpPr>
          <p:cNvPr id="22" name="Rectangle 21"/>
          <p:cNvSpPr/>
          <p:nvPr/>
        </p:nvSpPr>
        <p:spPr>
          <a:xfrm>
            <a:off x="761695"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61695"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81151"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98.6%</a:t>
            </a:r>
            <a:r>
              <a:rPr sz="1500" b="0" i="0">
                <a:solidFill>
                  <a:srgbClr val="0A2540"/>
                </a:solidFill>
                <a:latin typeface="Source Han Sans SC Heavy"/>
                <a:ea typeface="Source Han Sans SC Heavy"/>
                <a:cs typeface="Source Han Sans SC Heavy"/>
              </a:rPr>
              <a:t> rank-1（50 人）</a:t>
            </a:r>
          </a:p>
        </p:txBody>
      </p:sp>
      <p:sp>
        <p:nvSpPr>
          <p:cNvPr id="25" name="TextBox 24"/>
          <p:cNvSpPr txBox="1"/>
          <p:nvPr/>
        </p:nvSpPr>
        <p:spPr>
          <a:xfrm>
            <a:off x="981151"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公开基准集困难协议</a:t>
            </a:r>
          </a:p>
        </p:txBody>
      </p:sp>
      <p:sp>
        <p:nvSpPr>
          <p:cNvPr id="26" name="Rectangle 25"/>
          <p:cNvSpPr/>
          <p:nvPr/>
        </p:nvSpPr>
        <p:spPr>
          <a:xfrm>
            <a:off x="4409328"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409328"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628784"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1.06%</a:t>
            </a:r>
            <a:r>
              <a:rPr sz="1500" b="0" i="0">
                <a:solidFill>
                  <a:srgbClr val="0A2540"/>
                </a:solidFill>
                <a:latin typeface="Source Han Sans SC Heavy"/>
                <a:ea typeface="Source Han Sans SC Heavy"/>
                <a:cs typeface="Source Han Sans SC Heavy"/>
              </a:rPr>
              <a:t> 等错误率</a:t>
            </a:r>
          </a:p>
        </p:txBody>
      </p:sp>
      <p:sp>
        <p:nvSpPr>
          <p:cNvPr id="29" name="TextBox 28"/>
          <p:cNvSpPr txBox="1"/>
          <p:nvPr/>
        </p:nvSpPr>
        <p:spPr>
          <a:xfrm>
            <a:off x="4628784"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动态阈值 0.278</a:t>
            </a:r>
          </a:p>
        </p:txBody>
      </p:sp>
      <p:sp>
        <p:nvSpPr>
          <p:cNvPr id="30" name="Rectangle 29"/>
          <p:cNvSpPr/>
          <p:nvPr/>
        </p:nvSpPr>
        <p:spPr>
          <a:xfrm>
            <a:off x="8056961"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056961"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76417"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100%</a:t>
            </a:r>
            <a:r>
              <a:rPr sz="1500" b="0" i="0">
                <a:solidFill>
                  <a:srgbClr val="0A2540"/>
                </a:solidFill>
                <a:latin typeface="Source Han Sans SC Heavy"/>
                <a:ea typeface="Source Han Sans SC Heavy"/>
                <a:cs typeface="Source Han Sans SC Heavy"/>
              </a:rPr>
              <a:t> 检出率</a:t>
            </a:r>
          </a:p>
        </p:txBody>
      </p:sp>
      <p:sp>
        <p:nvSpPr>
          <p:cNvPr id="33" name="TextBox 32"/>
          <p:cNvSpPr txBox="1"/>
          <p:nvPr/>
        </p:nvSpPr>
        <p:spPr>
          <a:xfrm>
            <a:off x="8276417"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传统方法对照 98%</a:t>
            </a:r>
          </a:p>
        </p:txBody>
      </p:sp>
      <p:sp>
        <p:nvSpPr>
          <p:cNvPr id="34" name="Rectangle 33"/>
          <p:cNvSpPr/>
          <p:nvPr/>
        </p:nvSpPr>
        <p:spPr>
          <a:xfrm>
            <a:off x="761695" y="3877056"/>
            <a:ext cx="5133121" cy="256032"/>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89711" y="3877056"/>
            <a:ext cx="4877089" cy="256032"/>
          </a:xfrm>
          <a:prstGeom prst="rect">
            <a:avLst/>
          </a:prstGeom>
          <a:noFill/>
        </p:spPr>
        <p:txBody>
          <a:bodyPr wrap="square" lIns="0" rIns="0" tIns="0" bIns="0" anchor="ctr">
            <a:spAutoFit/>
          </a:bodyPr>
          <a:lstStyle/>
          <a:p>
            <a:pPr algn="l"/>
            <a:r>
              <a:rPr sz="950" b="0" i="0">
                <a:solidFill>
                  <a:srgbClr val="FFFFFF"/>
                </a:solidFill>
                <a:latin typeface="Source Han Sans SC Heavy"/>
                <a:ea typeface="Source Han Sans SC Heavy"/>
                <a:cs typeface="Source Han Sans SC Heavy"/>
              </a:rPr>
              <a:t>全链路实现</a:t>
            </a:r>
          </a:p>
        </p:txBody>
      </p:sp>
      <p:sp>
        <p:nvSpPr>
          <p:cNvPr id="36" name="Rectangle 35"/>
          <p:cNvSpPr/>
          <p:nvPr/>
        </p:nvSpPr>
        <p:spPr>
          <a:xfrm>
            <a:off x="6297152" y="3877056"/>
            <a:ext cx="5133121" cy="256032"/>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25168" y="3877056"/>
            <a:ext cx="4877089" cy="256032"/>
          </a:xfrm>
          <a:prstGeom prst="rect">
            <a:avLst/>
          </a:prstGeom>
          <a:noFill/>
        </p:spPr>
        <p:txBody>
          <a:bodyPr wrap="square" lIns="0" rIns="0" tIns="0" bIns="0" anchor="ctr">
            <a:spAutoFit/>
          </a:bodyPr>
          <a:lstStyle/>
          <a:p>
            <a:pPr algn="l"/>
            <a:r>
              <a:rPr sz="950" b="0" i="0">
                <a:solidFill>
                  <a:srgbClr val="FFFFFF"/>
                </a:solidFill>
                <a:latin typeface="Source Han Sans SC Heavy"/>
                <a:ea typeface="Source Han Sans SC Heavy"/>
                <a:cs typeface="Source Han Sans SC Heavy"/>
              </a:rPr>
              <a:t>物理适配与标定计划</a:t>
            </a:r>
          </a:p>
        </p:txBody>
      </p:sp>
      <p:sp>
        <p:nvSpPr>
          <p:cNvPr id="38" name="Rectangle 37"/>
          <p:cNvSpPr/>
          <p:nvPr/>
        </p:nvSpPr>
        <p:spPr>
          <a:xfrm>
            <a:off x="779983" y="4261104"/>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44575" y="4178808"/>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检测、五点对齐、128 维特征提取与本地库余弦检索构成完整链路，识别结果带来源标注。</a:t>
            </a:r>
          </a:p>
        </p:txBody>
      </p:sp>
      <p:sp>
        <p:nvSpPr>
          <p:cNvPr id="40" name="Rectangle 39"/>
          <p:cNvSpPr/>
          <p:nvPr/>
        </p:nvSpPr>
        <p:spPr>
          <a:xfrm>
            <a:off x="779983" y="4594860"/>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44575" y="4512564"/>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相似度低于动态阈值 0.278 时输出拒识；人脸库为空时对任何输入均给出明确拒识。</a:t>
            </a:r>
          </a:p>
        </p:txBody>
      </p:sp>
      <p:sp>
        <p:nvSpPr>
          <p:cNvPr id="42" name="Rectangle 41"/>
          <p:cNvSpPr/>
          <p:nvPr/>
        </p:nvSpPr>
        <p:spPr>
          <a:xfrm>
            <a:off x="779983" y="4928616"/>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44575" y="4846320"/>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识别成功后头部两轴按目标框中心执行开环随动，仅在取得检测框时下发姿态。</a:t>
            </a:r>
          </a:p>
        </p:txBody>
      </p:sp>
      <p:sp>
        <p:nvSpPr>
          <p:cNvPr id="44" name="Rectangle 43"/>
          <p:cNvSpPr/>
          <p:nvPr/>
        </p:nvSpPr>
        <p:spPr>
          <a:xfrm>
            <a:off x="779983" y="5262372"/>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44575" y="5180076"/>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端侧分项计时：检测 6.3 ms、特征提取 20.8 ms，支持实时帧率。</a:t>
            </a:r>
          </a:p>
        </p:txBody>
      </p:sp>
      <p:sp>
        <p:nvSpPr>
          <p:cNvPr id="46" name="Rectangle 45"/>
          <p:cNvSpPr/>
          <p:nvPr/>
        </p:nvSpPr>
        <p:spPr>
          <a:xfrm>
            <a:off x="6315440" y="4261104"/>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480032" y="4178808"/>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标定阶段在 0.5 / 1.0 / 1.5 m 三个距离档采集实拍样本，重建现场判定阈值。</a:t>
            </a:r>
          </a:p>
        </p:txBody>
      </p:sp>
      <p:sp>
        <p:nvSpPr>
          <p:cNvPr id="48" name="Rectangle 47"/>
          <p:cNvSpPr/>
          <p:nvPr/>
        </p:nvSpPr>
        <p:spPr>
          <a:xfrm>
            <a:off x="6315440" y="4594860"/>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80032" y="4512564"/>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结合样机单目相机做畸变矫正与自动曝光补偿，覆盖侧脸与逆光工况。</a:t>
            </a:r>
          </a:p>
        </p:txBody>
      </p:sp>
      <p:sp>
        <p:nvSpPr>
          <p:cNvPr id="50" name="Rectangle 49"/>
          <p:cNvSpPr/>
          <p:nvPr/>
        </p:nvSpPr>
        <p:spPr>
          <a:xfrm>
            <a:off x="6315440" y="4928616"/>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480032" y="4846320"/>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主控板端推理耗时随平台实测回填，据此确定最大可用帧率与丢帧策略。</a:t>
            </a:r>
          </a:p>
        </p:txBody>
      </p:sp>
      <p:sp>
        <p:nvSpPr>
          <p:cNvPr id="52" name="TextBox 51"/>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公开人脸基准集困难协议（50 人闭集）+ 端侧推理分项计时</a:t>
            </a:r>
          </a:p>
        </p:txBody>
      </p:sp>
      <p:sp>
        <p:nvSpPr>
          <p:cNvPr id="53" name="TextBox 52"/>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54" name="Rectangle 53"/>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56" name="Rectangle 55"/>
          <p:cNvSpPr/>
          <p:nvPr/>
        </p:nvSpPr>
        <p:spPr>
          <a:xfrm>
            <a:off x="244723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253867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Tree>
  </p:cSld>
  <p:clrMapOvr>
    <a:masterClrMapping/>
  </p:clrMapOvr>
  <p:transition spd="med"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03</a:t>
            </a:r>
            <a:r>
              <a:rPr sz="1000" b="0" i="0">
                <a:solidFill>
                  <a:srgbClr val="6B7A8C"/>
                </a:solidFill>
                <a:latin typeface="Source Han Sans SC"/>
                <a:ea typeface="Source Han Sans SC"/>
                <a:cs typeface="Source Han Sans SC"/>
              </a:rPr>
              <a:t>  五项赛务任务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3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23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任务二（二维码循迹）：路径表达、解码器对照与到位判定</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赛题要求识别二维码并按指示路径行走。载荷格式支持多段路径，旧单动作格式保持兼容。</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10668579" cy="548640"/>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2863"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取帧</a:t>
            </a:r>
          </a:p>
        </p:txBody>
      </p:sp>
      <p:sp>
        <p:nvSpPr>
          <p:cNvPr id="12" name="TextBox 11"/>
          <p:cNvSpPr txBox="1"/>
          <p:nvPr/>
        </p:nvSpPr>
        <p:spPr>
          <a:xfrm>
            <a:off x="2436159"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3" name="TextBox 12"/>
          <p:cNvSpPr txBox="1"/>
          <p:nvPr/>
        </p:nvSpPr>
        <p:spPr>
          <a:xfrm>
            <a:off x="2673903"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三解码器对照</a:t>
            </a:r>
          </a:p>
        </p:txBody>
      </p:sp>
      <p:sp>
        <p:nvSpPr>
          <p:cNvPr id="14" name="TextBox 13"/>
          <p:cNvSpPr txBox="1"/>
          <p:nvPr/>
        </p:nvSpPr>
        <p:spPr>
          <a:xfrm>
            <a:off x="4147200"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5" name="TextBox 14"/>
          <p:cNvSpPr txBox="1"/>
          <p:nvPr/>
        </p:nvSpPr>
        <p:spPr>
          <a:xfrm>
            <a:off x="4384944"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解析路径</a:t>
            </a:r>
          </a:p>
        </p:txBody>
      </p:sp>
      <p:sp>
        <p:nvSpPr>
          <p:cNvPr id="16" name="TextBox 15"/>
          <p:cNvSpPr txBox="1"/>
          <p:nvPr/>
        </p:nvSpPr>
        <p:spPr>
          <a:xfrm>
            <a:off x="5858240"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7" name="TextBox 16"/>
          <p:cNvSpPr txBox="1"/>
          <p:nvPr/>
        </p:nvSpPr>
        <p:spPr>
          <a:xfrm>
            <a:off x="6095984"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整条校验</a:t>
            </a:r>
          </a:p>
        </p:txBody>
      </p:sp>
      <p:sp>
        <p:nvSpPr>
          <p:cNvPr id="18" name="TextBox 17"/>
          <p:cNvSpPr txBox="1"/>
          <p:nvPr/>
        </p:nvSpPr>
        <p:spPr>
          <a:xfrm>
            <a:off x="7569281"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9" name="TextBox 18"/>
          <p:cNvSpPr txBox="1"/>
          <p:nvPr/>
        </p:nvSpPr>
        <p:spPr>
          <a:xfrm>
            <a:off x="7807025"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逐段执行</a:t>
            </a:r>
          </a:p>
        </p:txBody>
      </p:sp>
      <p:sp>
        <p:nvSpPr>
          <p:cNvPr id="20" name="TextBox 19"/>
          <p:cNvSpPr txBox="1"/>
          <p:nvPr/>
        </p:nvSpPr>
        <p:spPr>
          <a:xfrm>
            <a:off x="9280321"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21" name="TextBox 20"/>
          <p:cNvSpPr txBox="1"/>
          <p:nvPr/>
        </p:nvSpPr>
        <p:spPr>
          <a:xfrm>
            <a:off x="9518065"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到点判定</a:t>
            </a:r>
          </a:p>
        </p:txBody>
      </p:sp>
      <p:sp>
        <p:nvSpPr>
          <p:cNvPr id="22" name="Rectangle 21"/>
          <p:cNvSpPr/>
          <p:nvPr/>
        </p:nvSpPr>
        <p:spPr>
          <a:xfrm>
            <a:off x="761695"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61695"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81151"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100%</a:t>
            </a:r>
            <a:r>
              <a:rPr sz="1500" b="0" i="0">
                <a:solidFill>
                  <a:srgbClr val="0A2540"/>
                </a:solidFill>
                <a:latin typeface="Source Han Sans SC Heavy"/>
                <a:ea typeface="Source Han Sans SC Heavy"/>
                <a:cs typeface="Source Han Sans SC Heavy"/>
              </a:rPr>
              <a:t> 主用解码器成功率</a:t>
            </a:r>
          </a:p>
        </p:txBody>
      </p:sp>
      <p:sp>
        <p:nvSpPr>
          <p:cNvPr id="25" name="TextBox 24"/>
          <p:cNvSpPr txBox="1"/>
          <p:nvPr/>
        </p:nvSpPr>
        <p:spPr>
          <a:xfrm>
            <a:off x="981151"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判据条件 6/6</a:t>
            </a:r>
          </a:p>
        </p:txBody>
      </p:sp>
      <p:sp>
        <p:nvSpPr>
          <p:cNvPr id="26" name="Rectangle 25"/>
          <p:cNvSpPr/>
          <p:nvPr/>
        </p:nvSpPr>
        <p:spPr>
          <a:xfrm>
            <a:off x="4409328"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409328"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628784"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10/10</a:t>
            </a:r>
            <a:r>
              <a:rPr sz="1500" b="0" i="0">
                <a:solidFill>
                  <a:srgbClr val="0A2540"/>
                </a:solidFill>
                <a:latin typeface="Source Han Sans SC Heavy"/>
                <a:ea typeface="Source Han Sans SC Heavy"/>
                <a:cs typeface="Source Han Sans SC Heavy"/>
              </a:rPr>
              <a:t> 指令回放正确率</a:t>
            </a:r>
          </a:p>
        </p:txBody>
      </p:sp>
      <p:sp>
        <p:nvSpPr>
          <p:cNvPr id="29" name="TextBox 28"/>
          <p:cNvSpPr txBox="1"/>
          <p:nvPr/>
        </p:nvSpPr>
        <p:spPr>
          <a:xfrm>
            <a:off x="4628784"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编码、解码与执行逐段比对</a:t>
            </a:r>
          </a:p>
        </p:txBody>
      </p:sp>
      <p:sp>
        <p:nvSpPr>
          <p:cNvPr id="30" name="Rectangle 29"/>
          <p:cNvSpPr/>
          <p:nvPr/>
        </p:nvSpPr>
        <p:spPr>
          <a:xfrm>
            <a:off x="8056961"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056961"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76417"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60</a:t>
            </a:r>
            <a:r>
              <a:rPr sz="1500" b="0" i="0">
                <a:solidFill>
                  <a:srgbClr val="0A2540"/>
                </a:solidFill>
                <a:latin typeface="Source Han Sans SC Heavy"/>
                <a:ea typeface="Source Han Sans SC Heavy"/>
                <a:cs typeface="Source Han Sans SC Heavy"/>
              </a:rPr>
              <a:t> 像素宽度硬边界</a:t>
            </a:r>
          </a:p>
        </p:txBody>
      </p:sp>
      <p:sp>
        <p:nvSpPr>
          <p:cNvPr id="33" name="TextBox 32"/>
          <p:cNvSpPr txBox="1"/>
          <p:nvPr/>
        </p:nvSpPr>
        <p:spPr>
          <a:xfrm>
            <a:off x="8276417"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低于该值三种解码器均失败</a:t>
            </a:r>
          </a:p>
        </p:txBody>
      </p:sp>
      <p:sp>
        <p:nvSpPr>
          <p:cNvPr id="34" name="Rectangle 33"/>
          <p:cNvSpPr/>
          <p:nvPr/>
        </p:nvSpPr>
        <p:spPr>
          <a:xfrm>
            <a:off x="761695" y="3877056"/>
            <a:ext cx="5133121" cy="256032"/>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89711" y="3877056"/>
            <a:ext cx="4877089" cy="256032"/>
          </a:xfrm>
          <a:prstGeom prst="rect">
            <a:avLst/>
          </a:prstGeom>
          <a:noFill/>
        </p:spPr>
        <p:txBody>
          <a:bodyPr wrap="square" lIns="0" rIns="0" tIns="0" bIns="0" anchor="ctr">
            <a:spAutoFit/>
          </a:bodyPr>
          <a:lstStyle/>
          <a:p>
            <a:pPr algn="l"/>
            <a:r>
              <a:rPr sz="950" b="0" i="0">
                <a:solidFill>
                  <a:srgbClr val="FFFFFF"/>
                </a:solidFill>
                <a:latin typeface="Source Han Sans SC Heavy"/>
                <a:ea typeface="Source Han Sans SC Heavy"/>
                <a:cs typeface="Source Han Sans SC Heavy"/>
              </a:rPr>
              <a:t>全链路实现</a:t>
            </a:r>
          </a:p>
        </p:txBody>
      </p:sp>
      <p:sp>
        <p:nvSpPr>
          <p:cNvPr id="36" name="Rectangle 35"/>
          <p:cNvSpPr/>
          <p:nvPr/>
        </p:nvSpPr>
        <p:spPr>
          <a:xfrm>
            <a:off x="6297152" y="3877056"/>
            <a:ext cx="5133121" cy="256032"/>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25168" y="3877056"/>
            <a:ext cx="4877089" cy="256032"/>
          </a:xfrm>
          <a:prstGeom prst="rect">
            <a:avLst/>
          </a:prstGeom>
          <a:noFill/>
        </p:spPr>
        <p:txBody>
          <a:bodyPr wrap="square" lIns="0" rIns="0" tIns="0" bIns="0" anchor="ctr">
            <a:spAutoFit/>
          </a:bodyPr>
          <a:lstStyle/>
          <a:p>
            <a:pPr algn="l"/>
            <a:r>
              <a:rPr sz="950" b="0" i="0">
                <a:solidFill>
                  <a:srgbClr val="FFFFFF"/>
                </a:solidFill>
                <a:latin typeface="Source Han Sans SC Heavy"/>
                <a:ea typeface="Source Han Sans SC Heavy"/>
                <a:cs typeface="Source Han Sans SC Heavy"/>
              </a:rPr>
              <a:t>物理适配与标定计划</a:t>
            </a:r>
          </a:p>
        </p:txBody>
      </p:sp>
      <p:sp>
        <p:nvSpPr>
          <p:cNvPr id="38" name="Rectangle 37"/>
          <p:cNvSpPr/>
          <p:nvPr/>
        </p:nvSpPr>
        <p:spPr>
          <a:xfrm>
            <a:off x="779983" y="4261104"/>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44575" y="4178808"/>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在 27 组程序合成畸变场景上对照三种解码器，主用轻量模型在判据条件下全部通过。</a:t>
            </a:r>
          </a:p>
        </p:txBody>
      </p:sp>
      <p:sp>
        <p:nvSpPr>
          <p:cNvPr id="40" name="Rectangle 39"/>
          <p:cNvSpPr/>
          <p:nvPr/>
        </p:nvSpPr>
        <p:spPr>
          <a:xfrm>
            <a:off x="779983" y="4594860"/>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44575" y="4512564"/>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路径在整条校验通过后开始执行，段间检查中止信号，任一段失败即停止，单帧解码 35.5 ms。</a:t>
            </a:r>
          </a:p>
        </p:txBody>
      </p:sp>
      <p:sp>
        <p:nvSpPr>
          <p:cNvPr id="42" name="Rectangle 41"/>
          <p:cNvSpPr/>
          <p:nvPr/>
        </p:nvSpPr>
        <p:spPr>
          <a:xfrm>
            <a:off x="779983" y="4928616"/>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44575" y="4846320"/>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编码端与执行端共用同一套校验，非法动作与越界步数均转为技能失败。</a:t>
            </a:r>
          </a:p>
        </p:txBody>
      </p:sp>
      <p:sp>
        <p:nvSpPr>
          <p:cNvPr id="44" name="Rectangle 43"/>
          <p:cNvSpPr/>
          <p:nvPr/>
        </p:nvSpPr>
        <p:spPr>
          <a:xfrm>
            <a:off x="779983" y="5262372"/>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44575" y="5180076"/>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转向由左右髋滚转反对称侧倾实现，与无髋偏航轴的构型一致。</a:t>
            </a:r>
          </a:p>
        </p:txBody>
      </p:sp>
      <p:sp>
        <p:nvSpPr>
          <p:cNvPr id="46" name="Rectangle 45"/>
          <p:cNvSpPr/>
          <p:nvPr/>
        </p:nvSpPr>
        <p:spPr>
          <a:xfrm>
            <a:off x="6315440" y="4261104"/>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480032" y="4178808"/>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真实相机的反光、运动模糊与打印质量纳入下一阶段场景集，扩充判据样本。</a:t>
            </a:r>
          </a:p>
        </p:txBody>
      </p:sp>
      <p:sp>
        <p:nvSpPr>
          <p:cNvPr id="48" name="Rectangle 47"/>
          <p:cNvSpPr/>
          <p:nvPr/>
        </p:nvSpPr>
        <p:spPr>
          <a:xfrm>
            <a:off x="6315440" y="4594860"/>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80032" y="4512564"/>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到点误差依赖标称位移模型，样机阶段以视觉里程计与惯性测量融合回填标定值。</a:t>
            </a:r>
          </a:p>
        </p:txBody>
      </p:sp>
      <p:sp>
        <p:nvSpPr>
          <p:cNvPr id="50" name="Rectangle 49"/>
          <p:cNvSpPr/>
          <p:nvPr/>
        </p:nvSpPr>
        <p:spPr>
          <a:xfrm>
            <a:off x="6315440" y="4928616"/>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480032" y="4846320"/>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转向映射在标定阶段实测，形成指令角与实际转角的对应表。</a:t>
            </a:r>
          </a:p>
        </p:txBody>
      </p:sp>
      <p:sp>
        <p:nvSpPr>
          <p:cNvPr id="52" name="TextBox 51"/>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程序合成畸变场景集（27 组 × 3 解码器）+ 指令回放逐段比对</a:t>
            </a:r>
          </a:p>
        </p:txBody>
      </p:sp>
      <p:sp>
        <p:nvSpPr>
          <p:cNvPr id="53" name="TextBox 52"/>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54" name="Rectangle 53"/>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56" name="Rectangle 55"/>
          <p:cNvSpPr/>
          <p:nvPr/>
        </p:nvSpPr>
        <p:spPr>
          <a:xfrm>
            <a:off x="244723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253867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Tree>
  </p:cSld>
  <p:clrMapOvr>
    <a:masterClrMapping/>
  </p:clrMapOvr>
  <p:transition spd="med"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03</a:t>
            </a:r>
            <a:r>
              <a:rPr sz="1000" b="0" i="0">
                <a:solidFill>
                  <a:srgbClr val="6B7A8C"/>
                </a:solidFill>
                <a:latin typeface="Source Han Sans SC"/>
                <a:ea typeface="Source Han Sans SC"/>
                <a:cs typeface="Source Han Sans SC"/>
              </a:rPr>
              <a:t>  五项赛务任务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3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24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任务三（物品搬运）：两步对准与参数化闭环收敛</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搬运流程在横向偏差超出容差时判定失败并终止抓取；放置阶段在未检出路标时保持夹持状态。</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10668579" cy="548640"/>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2863"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色块检测</a:t>
            </a:r>
          </a:p>
        </p:txBody>
      </p:sp>
      <p:sp>
        <p:nvSpPr>
          <p:cNvPr id="12" name="TextBox 11"/>
          <p:cNvSpPr txBox="1"/>
          <p:nvPr/>
        </p:nvSpPr>
        <p:spPr>
          <a:xfrm>
            <a:off x="2436159"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3" name="TextBox 12"/>
          <p:cNvSpPr txBox="1"/>
          <p:nvPr/>
        </p:nvSpPr>
        <p:spPr>
          <a:xfrm>
            <a:off x="2673903"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多轮横向伺服</a:t>
            </a:r>
          </a:p>
        </p:txBody>
      </p:sp>
      <p:sp>
        <p:nvSpPr>
          <p:cNvPr id="14" name="TextBox 13"/>
          <p:cNvSpPr txBox="1"/>
          <p:nvPr/>
        </p:nvSpPr>
        <p:spPr>
          <a:xfrm>
            <a:off x="4147200"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5" name="TextBox 14"/>
          <p:cNvSpPr txBox="1"/>
          <p:nvPr/>
        </p:nvSpPr>
        <p:spPr>
          <a:xfrm>
            <a:off x="4384944"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死区判定</a:t>
            </a:r>
          </a:p>
        </p:txBody>
      </p:sp>
      <p:sp>
        <p:nvSpPr>
          <p:cNvPr id="16" name="TextBox 15"/>
          <p:cNvSpPr txBox="1"/>
          <p:nvPr/>
        </p:nvSpPr>
        <p:spPr>
          <a:xfrm>
            <a:off x="5858240"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7" name="TextBox 16"/>
          <p:cNvSpPr txBox="1"/>
          <p:nvPr/>
        </p:nvSpPr>
        <p:spPr>
          <a:xfrm>
            <a:off x="6095984"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夹取</a:t>
            </a:r>
          </a:p>
        </p:txBody>
      </p:sp>
      <p:sp>
        <p:nvSpPr>
          <p:cNvPr id="18" name="TextBox 17"/>
          <p:cNvSpPr txBox="1"/>
          <p:nvPr/>
        </p:nvSpPr>
        <p:spPr>
          <a:xfrm>
            <a:off x="7569281"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9" name="TextBox 18"/>
          <p:cNvSpPr txBox="1"/>
          <p:nvPr/>
        </p:nvSpPr>
        <p:spPr>
          <a:xfrm>
            <a:off x="7807025"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行走</a:t>
            </a:r>
          </a:p>
        </p:txBody>
      </p:sp>
      <p:sp>
        <p:nvSpPr>
          <p:cNvPr id="20" name="TextBox 19"/>
          <p:cNvSpPr txBox="1"/>
          <p:nvPr/>
        </p:nvSpPr>
        <p:spPr>
          <a:xfrm>
            <a:off x="9280321"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21" name="TextBox 20"/>
          <p:cNvSpPr txBox="1"/>
          <p:nvPr/>
        </p:nvSpPr>
        <p:spPr>
          <a:xfrm>
            <a:off x="9518065"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路标对准后释放</a:t>
            </a:r>
          </a:p>
        </p:txBody>
      </p:sp>
      <p:sp>
        <p:nvSpPr>
          <p:cNvPr id="22" name="Rectangle 21"/>
          <p:cNvSpPr/>
          <p:nvPr/>
        </p:nvSpPr>
        <p:spPr>
          <a:xfrm>
            <a:off x="761695"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61695"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81151"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23/23</a:t>
            </a:r>
            <a:r>
              <a:rPr sz="1500" b="0" i="0">
                <a:solidFill>
                  <a:srgbClr val="0A2540"/>
                </a:solidFill>
                <a:latin typeface="Source Han Sans SC Heavy"/>
                <a:ea typeface="Source Han Sans SC Heavy"/>
                <a:cs typeface="Source Han Sans SC Heavy"/>
              </a:rPr>
              <a:t> 色块检出</a:t>
            </a:r>
          </a:p>
        </p:txBody>
      </p:sp>
      <p:sp>
        <p:nvSpPr>
          <p:cNvPr id="25" name="TextBox 24"/>
          <p:cNvSpPr txBox="1"/>
          <p:nvPr/>
        </p:nvSpPr>
        <p:spPr>
          <a:xfrm>
            <a:off x="981151"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程序合成图评测</a:t>
            </a:r>
          </a:p>
        </p:txBody>
      </p:sp>
      <p:sp>
        <p:nvSpPr>
          <p:cNvPr id="26" name="Rectangle 25"/>
          <p:cNvSpPr/>
          <p:nvPr/>
        </p:nvSpPr>
        <p:spPr>
          <a:xfrm>
            <a:off x="4409328"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409328"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628784"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20/20</a:t>
            </a:r>
            <a:r>
              <a:rPr sz="1500" b="0" i="0">
                <a:solidFill>
                  <a:srgbClr val="0A2540"/>
                </a:solidFill>
                <a:latin typeface="Source Han Sans SC Heavy"/>
                <a:ea typeface="Source Han Sans SC Heavy"/>
                <a:cs typeface="Source Han Sans SC Heavy"/>
              </a:rPr>
              <a:t> 推荐参数闭环收敛</a:t>
            </a:r>
          </a:p>
        </p:txBody>
      </p:sp>
      <p:sp>
        <p:nvSpPr>
          <p:cNvPr id="29" name="TextBox 28"/>
          <p:cNvSpPr txBox="1"/>
          <p:nvPr/>
        </p:nvSpPr>
        <p:spPr>
          <a:xfrm>
            <a:off x="4628784"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默认参数 11/20</a:t>
            </a:r>
          </a:p>
        </p:txBody>
      </p:sp>
      <p:sp>
        <p:nvSpPr>
          <p:cNvPr id="30" name="Rectangle 29"/>
          <p:cNvSpPr/>
          <p:nvPr/>
        </p:nvSpPr>
        <p:spPr>
          <a:xfrm>
            <a:off x="8056961"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056961"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76417"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100%</a:t>
            </a:r>
            <a:r>
              <a:rPr sz="1500" b="0" i="0">
                <a:solidFill>
                  <a:srgbClr val="0A2540"/>
                </a:solidFill>
                <a:latin typeface="Source Han Sans SC Heavy"/>
                <a:ea typeface="Source Han Sans SC Heavy"/>
                <a:cs typeface="Source Han Sans SC Heavy"/>
              </a:rPr>
              <a:t> 参数整定提升</a:t>
            </a:r>
          </a:p>
        </p:txBody>
      </p:sp>
      <p:sp>
        <p:nvSpPr>
          <p:cNvPr id="33" name="TextBox 32"/>
          <p:cNvSpPr txBox="1"/>
          <p:nvPr/>
        </p:nvSpPr>
        <p:spPr>
          <a:xfrm>
            <a:off x="8276417"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max_iters=15 · step_gain=1.0</a:t>
            </a:r>
          </a:p>
        </p:txBody>
      </p:sp>
      <p:sp>
        <p:nvSpPr>
          <p:cNvPr id="34" name="Rectangle 33"/>
          <p:cNvSpPr/>
          <p:nvPr/>
        </p:nvSpPr>
        <p:spPr>
          <a:xfrm>
            <a:off x="761695" y="3877056"/>
            <a:ext cx="5133121" cy="256032"/>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89711" y="3877056"/>
            <a:ext cx="4877089" cy="256032"/>
          </a:xfrm>
          <a:prstGeom prst="rect">
            <a:avLst/>
          </a:prstGeom>
          <a:noFill/>
        </p:spPr>
        <p:txBody>
          <a:bodyPr wrap="square" lIns="0" rIns="0" tIns="0" bIns="0" anchor="ctr">
            <a:spAutoFit/>
          </a:bodyPr>
          <a:lstStyle/>
          <a:p>
            <a:pPr algn="l"/>
            <a:r>
              <a:rPr sz="950" b="0" i="0">
                <a:solidFill>
                  <a:srgbClr val="FFFFFF"/>
                </a:solidFill>
                <a:latin typeface="Source Han Sans SC Heavy"/>
                <a:ea typeface="Source Han Sans SC Heavy"/>
                <a:cs typeface="Source Han Sans SC Heavy"/>
              </a:rPr>
              <a:t>全链路实现</a:t>
            </a:r>
          </a:p>
        </p:txBody>
      </p:sp>
      <p:sp>
        <p:nvSpPr>
          <p:cNvPr id="36" name="Rectangle 35"/>
          <p:cNvSpPr/>
          <p:nvPr/>
        </p:nvSpPr>
        <p:spPr>
          <a:xfrm>
            <a:off x="6297152" y="3877056"/>
            <a:ext cx="5133121" cy="256032"/>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25168" y="3877056"/>
            <a:ext cx="4877089" cy="256032"/>
          </a:xfrm>
          <a:prstGeom prst="rect">
            <a:avLst/>
          </a:prstGeom>
          <a:noFill/>
        </p:spPr>
        <p:txBody>
          <a:bodyPr wrap="square" lIns="0" rIns="0" tIns="0" bIns="0" anchor="ctr">
            <a:spAutoFit/>
          </a:bodyPr>
          <a:lstStyle/>
          <a:p>
            <a:pPr algn="l"/>
            <a:r>
              <a:rPr sz="950" b="0" i="0">
                <a:solidFill>
                  <a:srgbClr val="FFFFFF"/>
                </a:solidFill>
                <a:latin typeface="Source Han Sans SC Heavy"/>
                <a:ea typeface="Source Han Sans SC Heavy"/>
                <a:cs typeface="Source Han Sans SC Heavy"/>
              </a:rPr>
              <a:t>物理适配与标定计划</a:t>
            </a:r>
          </a:p>
        </p:txBody>
      </p:sp>
      <p:sp>
        <p:nvSpPr>
          <p:cNvPr id="38" name="Rectangle 37"/>
          <p:cNvSpPr/>
          <p:nvPr/>
        </p:nvSpPr>
        <p:spPr>
          <a:xfrm>
            <a:off x="779983" y="4261104"/>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44575" y="4178808"/>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两步对准都要「看见」：目标色块进入死区才夹取，放置阶段未检出路标即保持夹持。</a:t>
            </a:r>
          </a:p>
        </p:txBody>
      </p:sp>
      <p:sp>
        <p:nvSpPr>
          <p:cNvPr id="40" name="Rectangle 39"/>
          <p:cNvSpPr/>
          <p:nvPr/>
        </p:nvSpPr>
        <p:spPr>
          <a:xfrm>
            <a:off x="779983" y="4594860"/>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44575" y="4512564"/>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控制常数三级优先级：任务卡参数 &gt; 配置文件 &gt; 代码默认值，换场景只改配置数据。</a:t>
            </a:r>
          </a:p>
        </p:txBody>
      </p:sp>
      <p:sp>
        <p:nvSpPr>
          <p:cNvPr id="42" name="Rectangle 41"/>
          <p:cNvSpPr/>
          <p:nvPr/>
        </p:nvSpPr>
        <p:spPr>
          <a:xfrm>
            <a:off x="779983" y="4928616"/>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44575" y="4846320"/>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评测给出参数敏感度表，各作业距离下的可纠正偏差范围可直接查表。</a:t>
            </a:r>
          </a:p>
        </p:txBody>
      </p:sp>
      <p:sp>
        <p:nvSpPr>
          <p:cNvPr id="44" name="Rectangle 43"/>
          <p:cNvSpPr/>
          <p:nvPr/>
        </p:nvSpPr>
        <p:spPr>
          <a:xfrm>
            <a:off x="779983" y="5262372"/>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44575" y="5180076"/>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偏差进入死区或落在容差内方可执行抓取，否则判定失败并放弃本次动作。</a:t>
            </a:r>
          </a:p>
        </p:txBody>
      </p:sp>
      <p:sp>
        <p:nvSpPr>
          <p:cNvPr id="46" name="Rectangle 45"/>
          <p:cNvSpPr/>
          <p:nvPr/>
        </p:nvSpPr>
        <p:spPr>
          <a:xfrm>
            <a:off x="6315440" y="4261104"/>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480032" y="4178808"/>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夹爪容差与相机内参在样机阶段标定后回填，控制参数整定无需修改代码。</a:t>
            </a:r>
          </a:p>
        </p:txBody>
      </p:sp>
      <p:sp>
        <p:nvSpPr>
          <p:cNvPr id="48" name="Rectangle 47"/>
          <p:cNvSpPr/>
          <p:nvPr/>
        </p:nvSpPr>
        <p:spPr>
          <a:xfrm>
            <a:off x="6315440" y="4594860"/>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80032" y="4512564"/>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实机抓取成功率按不低于 80% 验收，评测脚本与标定入口已就位。</a:t>
            </a:r>
          </a:p>
        </p:txBody>
      </p:sp>
      <p:sp>
        <p:nvSpPr>
          <p:cNvPr id="50" name="Rectangle 49"/>
          <p:cNvSpPr/>
          <p:nvPr/>
        </p:nvSpPr>
        <p:spPr>
          <a:xfrm>
            <a:off x="6315440" y="4928616"/>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480032" y="4846320"/>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100 g 典型载荷下臂部峰值 67.1% 额定，夹持阶段不进入持续堵转工况。</a:t>
            </a:r>
          </a:p>
        </p:txBody>
      </p:sp>
      <p:sp>
        <p:nvSpPr>
          <p:cNvPr id="52" name="TextBox 51"/>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程序合成图 + 一维几何在环评测（参数敏感度表）</a:t>
            </a:r>
          </a:p>
        </p:txBody>
      </p:sp>
      <p:sp>
        <p:nvSpPr>
          <p:cNvPr id="53" name="TextBox 52"/>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54" name="Rectangle 53"/>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56" name="Rectangle 55"/>
          <p:cNvSpPr/>
          <p:nvPr/>
        </p:nvSpPr>
        <p:spPr>
          <a:xfrm>
            <a:off x="244723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253867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Tree>
  </p:cSld>
  <p:clrMapOvr>
    <a:masterClrMapping/>
  </p:clrMapOvr>
  <p:transition spd="med"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03</a:t>
            </a:r>
            <a:r>
              <a:rPr sz="1000" b="0" i="0">
                <a:solidFill>
                  <a:srgbClr val="6B7A8C"/>
                </a:solidFill>
                <a:latin typeface="Source Han Sans SC"/>
                <a:ea typeface="Source Han Sans SC"/>
                <a:cs typeface="Source Han Sans SC"/>
              </a:rPr>
              <a:t>  五项赛务任务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3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25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任务四（体育运动）：闭环对位、收敛统计与距离门闩</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踢球技能在闭环收敛后执行侧踢；未收敛时按接触补偿策略执行，并在结果中单独回报收敛状态。</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10668579" cy="548640"/>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2863"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绿球检测</a:t>
            </a:r>
          </a:p>
        </p:txBody>
      </p:sp>
      <p:sp>
        <p:nvSpPr>
          <p:cNvPr id="12" name="TextBox 11"/>
          <p:cNvSpPr txBox="1"/>
          <p:nvPr/>
        </p:nvSpPr>
        <p:spPr>
          <a:xfrm>
            <a:off x="2436159"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3" name="TextBox 12"/>
          <p:cNvSpPr txBox="1"/>
          <p:nvPr/>
        </p:nvSpPr>
        <p:spPr>
          <a:xfrm>
            <a:off x="2673903"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取横向偏移</a:t>
            </a:r>
          </a:p>
        </p:txBody>
      </p:sp>
      <p:sp>
        <p:nvSpPr>
          <p:cNvPr id="14" name="TextBox 13"/>
          <p:cNvSpPr txBox="1"/>
          <p:nvPr/>
        </p:nvSpPr>
        <p:spPr>
          <a:xfrm>
            <a:off x="4147200"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5" name="TextBox 14"/>
          <p:cNvSpPr txBox="1"/>
          <p:nvPr/>
        </p:nvSpPr>
        <p:spPr>
          <a:xfrm>
            <a:off x="4384944"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多轮偏航闭环</a:t>
            </a:r>
          </a:p>
        </p:txBody>
      </p:sp>
      <p:sp>
        <p:nvSpPr>
          <p:cNvPr id="16" name="TextBox 15"/>
          <p:cNvSpPr txBox="1"/>
          <p:nvPr/>
        </p:nvSpPr>
        <p:spPr>
          <a:xfrm>
            <a:off x="5858240"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7" name="TextBox 16"/>
          <p:cNvSpPr txBox="1"/>
          <p:nvPr/>
        </p:nvSpPr>
        <p:spPr>
          <a:xfrm>
            <a:off x="6095984"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侧踢</a:t>
            </a:r>
          </a:p>
        </p:txBody>
      </p:sp>
      <p:sp>
        <p:nvSpPr>
          <p:cNvPr id="18" name="TextBox 17"/>
          <p:cNvSpPr txBox="1"/>
          <p:nvPr/>
        </p:nvSpPr>
        <p:spPr>
          <a:xfrm>
            <a:off x="7569281"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9" name="TextBox 18"/>
          <p:cNvSpPr txBox="1"/>
          <p:nvPr/>
        </p:nvSpPr>
        <p:spPr>
          <a:xfrm>
            <a:off x="7807025"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按偏移符号选脚</a:t>
            </a:r>
          </a:p>
        </p:txBody>
      </p:sp>
      <p:sp>
        <p:nvSpPr>
          <p:cNvPr id="20" name="TextBox 19"/>
          <p:cNvSpPr txBox="1"/>
          <p:nvPr/>
        </p:nvSpPr>
        <p:spPr>
          <a:xfrm>
            <a:off x="9280321"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21" name="TextBox 20"/>
          <p:cNvSpPr txBox="1"/>
          <p:nvPr/>
        </p:nvSpPr>
        <p:spPr>
          <a:xfrm>
            <a:off x="9518065"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回报收敛状态</a:t>
            </a:r>
          </a:p>
        </p:txBody>
      </p:sp>
      <p:sp>
        <p:nvSpPr>
          <p:cNvPr id="22" name="Rectangle 21"/>
          <p:cNvSpPr/>
          <p:nvPr/>
        </p:nvSpPr>
        <p:spPr>
          <a:xfrm>
            <a:off x="761695"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61695"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81151"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23/24</a:t>
            </a:r>
            <a:r>
              <a:rPr sz="1500" b="0" i="0">
                <a:solidFill>
                  <a:srgbClr val="0A2540"/>
                </a:solidFill>
                <a:latin typeface="Source Han Sans SC Heavy"/>
                <a:ea typeface="Source Han Sans SC Heavy"/>
                <a:cs typeface="Source Han Sans SC Heavy"/>
              </a:rPr>
              <a:t> 绿球检出</a:t>
            </a:r>
          </a:p>
        </p:txBody>
      </p:sp>
      <p:sp>
        <p:nvSpPr>
          <p:cNvPr id="25" name="TextBox 24"/>
          <p:cNvSpPr txBox="1"/>
          <p:nvPr/>
        </p:nvSpPr>
        <p:spPr>
          <a:xfrm>
            <a:off x="981151"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图像在环评测</a:t>
            </a:r>
          </a:p>
        </p:txBody>
      </p:sp>
      <p:sp>
        <p:nvSpPr>
          <p:cNvPr id="26" name="Rectangle 25"/>
          <p:cNvSpPr/>
          <p:nvPr/>
        </p:nvSpPr>
        <p:spPr>
          <a:xfrm>
            <a:off x="4409328"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409328"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628784"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20/24</a:t>
            </a:r>
            <a:r>
              <a:rPr sz="1500" b="0" i="0">
                <a:solidFill>
                  <a:srgbClr val="0A2540"/>
                </a:solidFill>
                <a:latin typeface="Source Han Sans SC Heavy"/>
                <a:ea typeface="Source Han Sans SC Heavy"/>
                <a:cs typeface="Source Han Sans SC Heavy"/>
              </a:rPr>
              <a:t> 推荐参数闭环收敛</a:t>
            </a:r>
          </a:p>
        </p:txBody>
      </p:sp>
      <p:sp>
        <p:nvSpPr>
          <p:cNvPr id="29" name="TextBox 28"/>
          <p:cNvSpPr txBox="1"/>
          <p:nvPr/>
        </p:nvSpPr>
        <p:spPr>
          <a:xfrm>
            <a:off x="4628784"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默认参数 11/24</a:t>
            </a:r>
          </a:p>
        </p:txBody>
      </p:sp>
      <p:sp>
        <p:nvSpPr>
          <p:cNvPr id="30" name="Rectangle 29"/>
          <p:cNvSpPr/>
          <p:nvPr/>
        </p:nvSpPr>
        <p:spPr>
          <a:xfrm>
            <a:off x="8056961"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056961"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76417"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4–40 cm</a:t>
            </a:r>
            <a:r>
              <a:rPr sz="1500" b="0" i="0">
                <a:solidFill>
                  <a:srgbClr val="0A2540"/>
                </a:solidFill>
                <a:latin typeface="Source Han Sans SC Heavy"/>
                <a:ea typeface="Source Han Sans SC Heavy"/>
                <a:cs typeface="Source Han Sans SC Heavy"/>
              </a:rPr>
              <a:t> 动作距离门闩</a:t>
            </a:r>
          </a:p>
        </p:txBody>
      </p:sp>
      <p:sp>
        <p:nvSpPr>
          <p:cNvPr id="33" name="TextBox 32"/>
          <p:cNvSpPr txBox="1"/>
          <p:nvPr/>
        </p:nvSpPr>
        <p:spPr>
          <a:xfrm>
            <a:off x="8276417"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区间外判定失败且不下发动作</a:t>
            </a:r>
          </a:p>
        </p:txBody>
      </p:sp>
      <p:sp>
        <p:nvSpPr>
          <p:cNvPr id="34" name="Rectangle 33"/>
          <p:cNvSpPr/>
          <p:nvPr/>
        </p:nvSpPr>
        <p:spPr>
          <a:xfrm>
            <a:off x="761695" y="3877056"/>
            <a:ext cx="5133121" cy="256032"/>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89711" y="3877056"/>
            <a:ext cx="4877089" cy="256032"/>
          </a:xfrm>
          <a:prstGeom prst="rect">
            <a:avLst/>
          </a:prstGeom>
          <a:noFill/>
        </p:spPr>
        <p:txBody>
          <a:bodyPr wrap="square" lIns="0" rIns="0" tIns="0" bIns="0" anchor="ctr">
            <a:spAutoFit/>
          </a:bodyPr>
          <a:lstStyle/>
          <a:p>
            <a:pPr algn="l"/>
            <a:r>
              <a:rPr sz="950" b="0" i="0">
                <a:solidFill>
                  <a:srgbClr val="FFFFFF"/>
                </a:solidFill>
                <a:latin typeface="Source Han Sans SC Heavy"/>
                <a:ea typeface="Source Han Sans SC Heavy"/>
                <a:cs typeface="Source Han Sans SC Heavy"/>
              </a:rPr>
              <a:t>全链路实现</a:t>
            </a:r>
          </a:p>
        </p:txBody>
      </p:sp>
      <p:sp>
        <p:nvSpPr>
          <p:cNvPr id="36" name="Rectangle 35"/>
          <p:cNvSpPr/>
          <p:nvPr/>
        </p:nvSpPr>
        <p:spPr>
          <a:xfrm>
            <a:off x="6297152" y="3877056"/>
            <a:ext cx="5133121" cy="256032"/>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25168" y="3877056"/>
            <a:ext cx="4877089" cy="256032"/>
          </a:xfrm>
          <a:prstGeom prst="rect">
            <a:avLst/>
          </a:prstGeom>
          <a:noFill/>
        </p:spPr>
        <p:txBody>
          <a:bodyPr wrap="square" lIns="0" rIns="0" tIns="0" bIns="0" anchor="ctr">
            <a:spAutoFit/>
          </a:bodyPr>
          <a:lstStyle/>
          <a:p>
            <a:pPr algn="l"/>
            <a:r>
              <a:rPr sz="950" b="0" i="0">
                <a:solidFill>
                  <a:srgbClr val="FFFFFF"/>
                </a:solidFill>
                <a:latin typeface="Source Han Sans SC Heavy"/>
                <a:ea typeface="Source Han Sans SC Heavy"/>
                <a:cs typeface="Source Han Sans SC Heavy"/>
              </a:rPr>
              <a:t>物理适配与标定计划</a:t>
            </a:r>
          </a:p>
        </p:txBody>
      </p:sp>
      <p:sp>
        <p:nvSpPr>
          <p:cNvPr id="38" name="Rectangle 37"/>
          <p:cNvSpPr/>
          <p:nvPr/>
        </p:nvSpPr>
        <p:spPr>
          <a:xfrm>
            <a:off x="779983" y="4261104"/>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44575" y="4178808"/>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横向伺服为多轮闭环控制律，与搬运任务同构：一套控制核复用于两项赛题。</a:t>
            </a:r>
          </a:p>
        </p:txBody>
      </p:sp>
      <p:sp>
        <p:nvSpPr>
          <p:cNvPr id="40" name="Rectangle 39"/>
          <p:cNvSpPr/>
          <p:nvPr/>
        </p:nvSpPr>
        <p:spPr>
          <a:xfrm>
            <a:off x="779983" y="4594860"/>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44575" y="4512564"/>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距离超出 4–40 cm 区间或缺少横向偏移时判定失败，不以默认值替代。</a:t>
            </a:r>
          </a:p>
        </p:txBody>
      </p:sp>
      <p:sp>
        <p:nvSpPr>
          <p:cNvPr id="42" name="Rectangle 41"/>
          <p:cNvSpPr/>
          <p:nvPr/>
        </p:nvSpPr>
        <p:spPr>
          <a:xfrm>
            <a:off x="779983" y="4928616"/>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44575" y="4846320"/>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结果对象分别回报流程完成与收敛状态，避免把「凑合踢」写成「对准了」。</a:t>
            </a:r>
          </a:p>
        </p:txBody>
      </p:sp>
      <p:sp>
        <p:nvSpPr>
          <p:cNvPr id="44" name="Rectangle 43"/>
          <p:cNvSpPr/>
          <p:nvPr/>
        </p:nvSpPr>
        <p:spPr>
          <a:xfrm>
            <a:off x="779983" y="5262372"/>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44575" y="5180076"/>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按球的横向偏移符号选择左/右脚侧踢，动作库关键帧与 20 轴限位同源。</a:t>
            </a:r>
          </a:p>
        </p:txBody>
      </p:sp>
      <p:sp>
        <p:nvSpPr>
          <p:cNvPr id="46" name="Rectangle 45"/>
          <p:cNvSpPr/>
          <p:nvPr/>
        </p:nvSpPr>
        <p:spPr>
          <a:xfrm>
            <a:off x="6315440" y="4261104"/>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480032" y="4178808"/>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单脚支撑相与踝关节峰值扭矩在样机上做台架实测，据此整定降额与助力参数。</a:t>
            </a:r>
          </a:p>
        </p:txBody>
      </p:sp>
      <p:sp>
        <p:nvSpPr>
          <p:cNvPr id="48" name="Rectangle 47"/>
          <p:cNvSpPr/>
          <p:nvPr/>
        </p:nvSpPr>
        <p:spPr>
          <a:xfrm>
            <a:off x="6315440" y="4594860"/>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80032" y="4512564"/>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实机踢球成功率按不低于 70% 验收；球体位移判据在实机环境中重建基线。</a:t>
            </a:r>
          </a:p>
        </p:txBody>
      </p:sp>
      <p:sp>
        <p:nvSpPr>
          <p:cNvPr id="50" name="Rectangle 49"/>
          <p:cNvSpPr/>
          <p:nvPr/>
        </p:nvSpPr>
        <p:spPr>
          <a:xfrm>
            <a:off x="6315440" y="4928616"/>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480032" y="4846320"/>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光照变化下的阈值自适应在场景集扩充后重新扫描标定。</a:t>
            </a:r>
          </a:p>
        </p:txBody>
      </p:sp>
      <p:sp>
        <p:nvSpPr>
          <p:cNvPr id="52" name="TextBox 51"/>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程序合成图 + 图像在环闭环评测（参数敏感度表）</a:t>
            </a:r>
          </a:p>
        </p:txBody>
      </p:sp>
      <p:sp>
        <p:nvSpPr>
          <p:cNvPr id="53" name="TextBox 52"/>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54" name="Rectangle 53"/>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56" name="Rectangle 55"/>
          <p:cNvSpPr/>
          <p:nvPr/>
        </p:nvSpPr>
        <p:spPr>
          <a:xfrm>
            <a:off x="244723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253867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Tree>
  </p:cSld>
  <p:clrMapOvr>
    <a:masterClrMapping/>
  </p:clrMapOvr>
  <p:transition spd="med"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03</a:t>
            </a:r>
            <a:r>
              <a:rPr sz="1000" b="0" i="0">
                <a:solidFill>
                  <a:srgbClr val="6B7A8C"/>
                </a:solidFill>
                <a:latin typeface="Source Han Sans SC"/>
                <a:ea typeface="Source Han Sans SC"/>
                <a:cs typeface="Source Han Sans SC"/>
              </a:rPr>
              <a:t>  五项赛务任务</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3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26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任务五（娱乐休闲）：关键词门闩、动作库与本地播报</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赛题涵盖舞蹈、音乐播放与语音交互。本方案实现关键词门闩、20 轴动作库与本地语音播报。</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10668579" cy="548640"/>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2863"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关键词 / 任务卡</a:t>
            </a:r>
          </a:p>
        </p:txBody>
      </p:sp>
      <p:sp>
        <p:nvSpPr>
          <p:cNvPr id="12" name="TextBox 11"/>
          <p:cNvSpPr txBox="1"/>
          <p:nvPr/>
        </p:nvSpPr>
        <p:spPr>
          <a:xfrm>
            <a:off x="2436159"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3" name="TextBox 12"/>
          <p:cNvSpPr txBox="1"/>
          <p:nvPr/>
        </p:nvSpPr>
        <p:spPr>
          <a:xfrm>
            <a:off x="2673903"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白名单门闩</a:t>
            </a:r>
          </a:p>
        </p:txBody>
      </p:sp>
      <p:sp>
        <p:nvSpPr>
          <p:cNvPr id="14" name="TextBox 13"/>
          <p:cNvSpPr txBox="1"/>
          <p:nvPr/>
        </p:nvSpPr>
        <p:spPr>
          <a:xfrm>
            <a:off x="4147200"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5" name="TextBox 14"/>
          <p:cNvSpPr txBox="1"/>
          <p:nvPr/>
        </p:nvSpPr>
        <p:spPr>
          <a:xfrm>
            <a:off x="4384944"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20 轴轨迹插补</a:t>
            </a:r>
          </a:p>
        </p:txBody>
      </p:sp>
      <p:sp>
        <p:nvSpPr>
          <p:cNvPr id="16" name="TextBox 15"/>
          <p:cNvSpPr txBox="1"/>
          <p:nvPr/>
        </p:nvSpPr>
        <p:spPr>
          <a:xfrm>
            <a:off x="5858240"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7" name="TextBox 16"/>
          <p:cNvSpPr txBox="1"/>
          <p:nvPr/>
        </p:nvSpPr>
        <p:spPr>
          <a:xfrm>
            <a:off x="6095984"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动作库执行</a:t>
            </a:r>
          </a:p>
        </p:txBody>
      </p:sp>
      <p:sp>
        <p:nvSpPr>
          <p:cNvPr id="18" name="TextBox 17"/>
          <p:cNvSpPr txBox="1"/>
          <p:nvPr/>
        </p:nvSpPr>
        <p:spPr>
          <a:xfrm>
            <a:off x="7569281"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19" name="TextBox 18"/>
          <p:cNvSpPr txBox="1"/>
          <p:nvPr/>
        </p:nvSpPr>
        <p:spPr>
          <a:xfrm>
            <a:off x="7807025"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本地播报</a:t>
            </a:r>
          </a:p>
        </p:txBody>
      </p:sp>
      <p:sp>
        <p:nvSpPr>
          <p:cNvPr id="20" name="TextBox 19"/>
          <p:cNvSpPr txBox="1"/>
          <p:nvPr/>
        </p:nvSpPr>
        <p:spPr>
          <a:xfrm>
            <a:off x="9280321" y="2121408"/>
            <a:ext cx="219456" cy="402336"/>
          </a:xfrm>
          <a:prstGeom prst="rect">
            <a:avLst/>
          </a:prstGeom>
          <a:noFill/>
        </p:spPr>
        <p:txBody>
          <a:bodyPr wrap="square" lIns="0" rIns="0" tIns="0" bIns="0" anchor="ctr">
            <a:spAutoFit/>
          </a:bodyPr>
          <a:lstStyle/>
          <a:p>
            <a:pPr algn="ctr"/>
            <a:r>
              <a:rPr sz="950" b="0" i="0">
                <a:solidFill>
                  <a:srgbClr val="1264A3"/>
                </a:solidFill>
                <a:latin typeface="Source Han Sans SC Heavy"/>
                <a:ea typeface="Source Han Sans SC Heavy"/>
                <a:cs typeface="Source Han Sans SC Heavy"/>
              </a:rPr>
              <a:t>→</a:t>
            </a:r>
          </a:p>
        </p:txBody>
      </p:sp>
      <p:sp>
        <p:nvSpPr>
          <p:cNvPr id="21" name="TextBox 20"/>
          <p:cNvSpPr txBox="1"/>
          <p:nvPr/>
        </p:nvSpPr>
        <p:spPr>
          <a:xfrm>
            <a:off x="9518065" y="2121408"/>
            <a:ext cx="1491584" cy="402336"/>
          </a:xfrm>
          <a:prstGeom prst="rect">
            <a:avLst/>
          </a:prstGeom>
          <a:noFill/>
        </p:spPr>
        <p:txBody>
          <a:bodyPr wrap="square" lIns="0" rIns="0" tIns="0" bIns="0" anchor="ctr">
            <a:spAutoFit/>
          </a:bodyPr>
          <a:lstStyle/>
          <a:p>
            <a:pPr algn="ctr"/>
            <a:r>
              <a:rPr sz="950" b="0" i="0">
                <a:solidFill>
                  <a:srgbClr val="1F2A37"/>
                </a:solidFill>
                <a:latin typeface="Source Han Sans SC Heavy"/>
                <a:ea typeface="Source Han Sans SC Heavy"/>
                <a:cs typeface="Source Han Sans SC Heavy"/>
              </a:rPr>
              <a:t>可选音频</a:t>
            </a:r>
          </a:p>
        </p:txBody>
      </p:sp>
      <p:sp>
        <p:nvSpPr>
          <p:cNvPr id="22" name="Rectangle 21"/>
          <p:cNvSpPr/>
          <p:nvPr/>
        </p:nvSpPr>
        <p:spPr>
          <a:xfrm>
            <a:off x="761695"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61695"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81151"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6/6</a:t>
            </a:r>
            <a:r>
              <a:rPr sz="1500" b="0" i="0">
                <a:solidFill>
                  <a:srgbClr val="0A2540"/>
                </a:solidFill>
                <a:latin typeface="Source Han Sans SC Heavy"/>
                <a:ea typeface="Source Han Sans SC Heavy"/>
                <a:cs typeface="Source Han Sans SC Heavy"/>
              </a:rPr>
              <a:t> 门闩判定</a:t>
            </a:r>
          </a:p>
        </p:txBody>
      </p:sp>
      <p:sp>
        <p:nvSpPr>
          <p:cNvPr id="25" name="TextBox 24"/>
          <p:cNvSpPr txBox="1"/>
          <p:nvPr/>
        </p:nvSpPr>
        <p:spPr>
          <a:xfrm>
            <a:off x="981151"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命中 3/3 · 拒识 3/3</a:t>
            </a:r>
          </a:p>
        </p:txBody>
      </p:sp>
      <p:sp>
        <p:nvSpPr>
          <p:cNvPr id="26" name="Rectangle 25"/>
          <p:cNvSpPr/>
          <p:nvPr/>
        </p:nvSpPr>
        <p:spPr>
          <a:xfrm>
            <a:off x="4409328"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409328"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628784"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≥20 dB 3/3</a:t>
            </a:r>
            <a:r>
              <a:rPr sz="1500" b="0" i="0">
                <a:solidFill>
                  <a:srgbClr val="0A2540"/>
                </a:solidFill>
                <a:latin typeface="Source Han Sans SC Heavy"/>
                <a:ea typeface="Source Han Sans SC Heavy"/>
                <a:cs typeface="Source Han Sans SC Heavy"/>
              </a:rPr>
              <a:t> 离线真解码</a:t>
            </a:r>
          </a:p>
        </p:txBody>
      </p:sp>
      <p:sp>
        <p:nvSpPr>
          <p:cNvPr id="29" name="TextBox 28"/>
          <p:cNvSpPr txBox="1"/>
          <p:nvPr/>
        </p:nvSpPr>
        <p:spPr>
          <a:xfrm>
            <a:off x="4628784"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低信噪比档 10 dB 2/3</a:t>
            </a:r>
          </a:p>
        </p:txBody>
      </p:sp>
      <p:sp>
        <p:nvSpPr>
          <p:cNvPr id="30" name="Rectangle 29"/>
          <p:cNvSpPr/>
          <p:nvPr/>
        </p:nvSpPr>
        <p:spPr>
          <a:xfrm>
            <a:off x="8056961" y="2706624"/>
            <a:ext cx="3373313" cy="10241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056961" y="2706624"/>
            <a:ext cx="41148" cy="10241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76417" y="2834640"/>
            <a:ext cx="3007553" cy="423545"/>
          </a:xfrm>
          <a:prstGeom prst="rect">
            <a:avLst/>
          </a:prstGeom>
          <a:noFill/>
        </p:spPr>
        <p:txBody>
          <a:bodyPr wrap="square" lIns="0" rIns="0" tIns="0" bIns="0" anchor="t">
            <a:spAutoFit/>
          </a:bodyPr>
          <a:lstStyle/>
          <a:p>
            <a:pPr algn="l">
              <a:lnSpc>
                <a:spcPct val="100000"/>
              </a:lnSpc>
            </a:pPr>
            <a:r>
              <a:rPr sz="2300" b="0" i="0">
                <a:solidFill>
                  <a:srgbClr val="0A2540"/>
                </a:solidFill>
                <a:latin typeface="Source Han Sans SC Heavy"/>
                <a:ea typeface="Source Han Sans SC Heavy"/>
                <a:cs typeface="Source Han Sans SC Heavy"/>
              </a:rPr>
              <a:t>20 轴</a:t>
            </a:r>
            <a:r>
              <a:rPr sz="1500" b="0" i="0">
                <a:solidFill>
                  <a:srgbClr val="0A2540"/>
                </a:solidFill>
                <a:latin typeface="Source Han Sans SC Heavy"/>
                <a:ea typeface="Source Han Sans SC Heavy"/>
                <a:cs typeface="Source Han Sans SC Heavy"/>
              </a:rPr>
              <a:t> 动作库规模</a:t>
            </a:r>
          </a:p>
        </p:txBody>
      </p:sp>
      <p:sp>
        <p:nvSpPr>
          <p:cNvPr id="33" name="TextBox 32"/>
          <p:cNvSpPr txBox="1"/>
          <p:nvPr/>
        </p:nvSpPr>
        <p:spPr>
          <a:xfrm>
            <a:off x="8276417" y="3331337"/>
            <a:ext cx="3007553" cy="3262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关节限位与固件配置同源</a:t>
            </a:r>
          </a:p>
        </p:txBody>
      </p:sp>
      <p:sp>
        <p:nvSpPr>
          <p:cNvPr id="34" name="Rectangle 33"/>
          <p:cNvSpPr/>
          <p:nvPr/>
        </p:nvSpPr>
        <p:spPr>
          <a:xfrm>
            <a:off x="761695" y="3877056"/>
            <a:ext cx="5133121" cy="256032"/>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89711" y="3877056"/>
            <a:ext cx="4877089" cy="256032"/>
          </a:xfrm>
          <a:prstGeom prst="rect">
            <a:avLst/>
          </a:prstGeom>
          <a:noFill/>
        </p:spPr>
        <p:txBody>
          <a:bodyPr wrap="square" lIns="0" rIns="0" tIns="0" bIns="0" anchor="ctr">
            <a:spAutoFit/>
          </a:bodyPr>
          <a:lstStyle/>
          <a:p>
            <a:pPr algn="l"/>
            <a:r>
              <a:rPr sz="950" b="0" i="0">
                <a:solidFill>
                  <a:srgbClr val="FFFFFF"/>
                </a:solidFill>
                <a:latin typeface="Source Han Sans SC Heavy"/>
                <a:ea typeface="Source Han Sans SC Heavy"/>
                <a:cs typeface="Source Han Sans SC Heavy"/>
              </a:rPr>
              <a:t>全链路实现</a:t>
            </a:r>
          </a:p>
        </p:txBody>
      </p:sp>
      <p:sp>
        <p:nvSpPr>
          <p:cNvPr id="36" name="Rectangle 35"/>
          <p:cNvSpPr/>
          <p:nvPr/>
        </p:nvSpPr>
        <p:spPr>
          <a:xfrm>
            <a:off x="6297152" y="3877056"/>
            <a:ext cx="5133121" cy="256032"/>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25168" y="3877056"/>
            <a:ext cx="4877089" cy="256032"/>
          </a:xfrm>
          <a:prstGeom prst="rect">
            <a:avLst/>
          </a:prstGeom>
          <a:noFill/>
        </p:spPr>
        <p:txBody>
          <a:bodyPr wrap="square" lIns="0" rIns="0" tIns="0" bIns="0" anchor="ctr">
            <a:spAutoFit/>
          </a:bodyPr>
          <a:lstStyle/>
          <a:p>
            <a:pPr algn="l"/>
            <a:r>
              <a:rPr sz="950" b="0" i="0">
                <a:solidFill>
                  <a:srgbClr val="FFFFFF"/>
                </a:solidFill>
                <a:latin typeface="Source Han Sans SC Heavy"/>
                <a:ea typeface="Source Han Sans SC Heavy"/>
                <a:cs typeface="Source Han Sans SC Heavy"/>
              </a:rPr>
              <a:t>物理适配与标定计划</a:t>
            </a:r>
          </a:p>
        </p:txBody>
      </p:sp>
      <p:sp>
        <p:nvSpPr>
          <p:cNvPr id="38" name="Rectangle 37"/>
          <p:cNvSpPr/>
          <p:nvPr/>
        </p:nvSpPr>
        <p:spPr>
          <a:xfrm>
            <a:off x="779983" y="4261104"/>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44575" y="4178808"/>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离线识别引擎接入后做关键词白名单门控：vosk 0.3.44 + 中文小模型，白名单外的说法不触发动作。</a:t>
            </a:r>
          </a:p>
        </p:txBody>
      </p:sp>
      <p:sp>
        <p:nvSpPr>
          <p:cNvPr id="40" name="Rectangle 39"/>
          <p:cNvSpPr/>
          <p:nvPr/>
        </p:nvSpPr>
        <p:spPr>
          <a:xfrm>
            <a:off x="779983" y="4727448"/>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44575" y="4645152"/>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命中后执行 20 轴短动作序列并本地播报；播放通道不可用时明确标注，不静默跳过。</a:t>
            </a:r>
          </a:p>
        </p:txBody>
      </p:sp>
      <p:sp>
        <p:nvSpPr>
          <p:cNvPr id="42" name="Rectangle 41"/>
          <p:cNvSpPr/>
          <p:nvPr/>
        </p:nvSpPr>
        <p:spPr>
          <a:xfrm>
            <a:off x="779983" y="5061204"/>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44575" y="4978908"/>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真解码验证覆盖 7 档信噪比：20 dB 以上全部正确，10 dB 为 2/3，门限行为可解释。</a:t>
            </a:r>
          </a:p>
        </p:txBody>
      </p:sp>
      <p:sp>
        <p:nvSpPr>
          <p:cNvPr id="44" name="Rectangle 43"/>
          <p:cNvSpPr/>
          <p:nvPr/>
        </p:nvSpPr>
        <p:spPr>
          <a:xfrm>
            <a:off x="779983" y="5527548"/>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44575" y="5445252"/>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缺引擎或缺模型时跳过对应步骤并注明缺失项，判定结果如实反映链路状态。</a:t>
            </a:r>
          </a:p>
        </p:txBody>
      </p:sp>
      <p:sp>
        <p:nvSpPr>
          <p:cNvPr id="46" name="Rectangle 45"/>
          <p:cNvSpPr/>
          <p:nvPr/>
        </p:nvSpPr>
        <p:spPr>
          <a:xfrm>
            <a:off x="6315440" y="4261104"/>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480032" y="4178808"/>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麦克风链路、拾音距离与说话人差异在样机上重测，重建现场识别基线。</a:t>
            </a:r>
          </a:p>
        </p:txBody>
      </p:sp>
      <p:sp>
        <p:nvSpPr>
          <p:cNvPr id="48" name="Rectangle 47"/>
          <p:cNvSpPr/>
          <p:nvPr/>
        </p:nvSpPr>
        <p:spPr>
          <a:xfrm>
            <a:off x="6315440" y="4594860"/>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80032" y="4512564"/>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节拍同步与端点检测列入下一阶段功能扩展，动作库按 20 轴限位重新扫掠。</a:t>
            </a:r>
          </a:p>
        </p:txBody>
      </p:sp>
      <p:sp>
        <p:nvSpPr>
          <p:cNvPr id="50" name="Rectangle 49"/>
          <p:cNvSpPr/>
          <p:nvPr/>
        </p:nvSpPr>
        <p:spPr>
          <a:xfrm>
            <a:off x="6315440" y="4928616"/>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480032" y="4846320"/>
            <a:ext cx="4913665" cy="365760"/>
          </a:xfrm>
          <a:prstGeom prst="rect">
            <a:avLst/>
          </a:prstGeom>
          <a:noFill/>
        </p:spPr>
        <p:txBody>
          <a:bodyPr wrap="square" lIns="0" rIns="0" tIns="0" bIns="0" anchor="t">
            <a:spAutoFit/>
          </a:bodyPr>
          <a:lstStyle/>
          <a:p>
            <a:pPr algn="l">
              <a:lnSpc>
                <a:spcPct val="122000"/>
              </a:lnSpc>
            </a:pPr>
            <a:r>
              <a:rPr sz="850" b="0" i="0">
                <a:solidFill>
                  <a:srgbClr val="1F2A37"/>
                </a:solidFill>
                <a:latin typeface="Source Han Sans SC"/>
                <a:ea typeface="Source Han Sans SC"/>
                <a:cs typeface="Source Han Sans SC"/>
              </a:rPr>
              <a:t>现场噪声条件下的关键词识别率按验收大纲实测回填。</a:t>
            </a:r>
          </a:p>
        </p:txBody>
      </p:sp>
      <p:sp>
        <p:nvSpPr>
          <p:cNvPr id="52" name="TextBox 51"/>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关键词门闩用例 + 合成语音 7 档信噪比真解码扫描</a:t>
            </a:r>
          </a:p>
        </p:txBody>
      </p:sp>
      <p:sp>
        <p:nvSpPr>
          <p:cNvPr id="53" name="TextBox 52"/>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54" name="Rectangle 53"/>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56" name="Rectangle 55"/>
          <p:cNvSpPr/>
          <p:nvPr/>
        </p:nvSpPr>
        <p:spPr>
          <a:xfrm>
            <a:off x="244723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253867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Tree>
  </p:cSld>
  <p:clrMapOvr>
    <a:masterClrMapping/>
  </p:clrMapOvr>
  <p:transition spd="med"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Rectangle 1"/>
          <p:cNvSpPr/>
          <p:nvPr/>
        </p:nvSpPr>
        <p:spPr>
          <a:xfrm>
            <a:off x="0" y="0"/>
            <a:ext cx="12191969"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a:off x="53035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0704"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591055"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121408"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51760"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82111"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712463"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242816"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73168"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303520"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83387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364223"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94575"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424927"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955279"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48563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015984"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546336"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076688"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607040"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137392"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667744"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198096" y="0"/>
            <a:ext cx="0" cy="685800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530352"/>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1060704"/>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1591055"/>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2121408"/>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2651760"/>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3182111"/>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3712463"/>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4242816"/>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4773168"/>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0" y="5303520"/>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0" y="5833872"/>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6364223"/>
            <a:ext cx="12191969" cy="0"/>
          </a:xfrm>
          <a:prstGeom prst="line">
            <a:avLst/>
          </a:prstGeom>
          <a:ln w="6350">
            <a:solidFill>
              <a:srgbClr val="14304F"/>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05840" y="2103120"/>
            <a:ext cx="8229600" cy="1280160"/>
          </a:xfrm>
          <a:prstGeom prst="rect">
            <a:avLst/>
          </a:prstGeom>
          <a:noFill/>
        </p:spPr>
        <p:txBody>
          <a:bodyPr wrap="square" lIns="0" rIns="0" tIns="0" bIns="0" anchor="t">
            <a:spAutoFit/>
          </a:bodyPr>
          <a:lstStyle/>
          <a:p>
            <a:pPr algn="l"/>
            <a:r>
              <a:rPr sz="12000" b="0" i="0">
                <a:solidFill>
                  <a:srgbClr val="1B3A5C"/>
                </a:solidFill>
                <a:latin typeface="Source Han Sans SC Heavy"/>
                <a:ea typeface="Source Han Sans SC Heavy"/>
                <a:cs typeface="Source Han Sans SC Heavy"/>
              </a:rPr>
              <a:t>04</a:t>
            </a:r>
          </a:p>
        </p:txBody>
      </p:sp>
      <p:sp>
        <p:nvSpPr>
          <p:cNvPr id="39" name="Rectangle 38"/>
          <p:cNvSpPr/>
          <p:nvPr/>
        </p:nvSpPr>
        <p:spPr>
          <a:xfrm>
            <a:off x="1042415" y="3584448"/>
            <a:ext cx="731520" cy="4572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005840" y="3877056"/>
            <a:ext cx="8778240" cy="914400"/>
          </a:xfrm>
          <a:prstGeom prst="rect">
            <a:avLst/>
          </a:prstGeom>
          <a:noFill/>
        </p:spPr>
        <p:txBody>
          <a:bodyPr wrap="square" lIns="0" rIns="0" tIns="0" bIns="0" anchor="t">
            <a:spAutoFit/>
          </a:bodyPr>
          <a:lstStyle/>
          <a:p>
            <a:pPr algn="l">
              <a:lnSpc>
                <a:spcPct val="118000"/>
              </a:lnSpc>
            </a:pPr>
            <a:r>
              <a:rPr sz="3200" b="0" i="0">
                <a:solidFill>
                  <a:srgbClr val="FFFFFF"/>
                </a:solidFill>
                <a:latin typeface="Source Han Sans SC Heavy"/>
                <a:ea typeface="Source Han Sans SC Heavy"/>
                <a:cs typeface="Source Han Sans SC Heavy"/>
              </a:rPr>
              <a:t>验证体系与工程路线</a:t>
            </a:r>
          </a:p>
        </p:txBody>
      </p:sp>
      <p:sp>
        <p:nvSpPr>
          <p:cNvPr id="41" name="TextBox 40"/>
          <p:cNvSpPr txBox="1"/>
          <p:nvPr/>
        </p:nvSpPr>
        <p:spPr>
          <a:xfrm>
            <a:off x="1005840" y="4956048"/>
            <a:ext cx="8778240" cy="365760"/>
          </a:xfrm>
          <a:prstGeom prst="rect">
            <a:avLst/>
          </a:prstGeom>
          <a:noFill/>
        </p:spPr>
        <p:txBody>
          <a:bodyPr wrap="square" lIns="0" rIns="0" tIns="0" bIns="0" anchor="t">
            <a:spAutoFit/>
          </a:bodyPr>
          <a:lstStyle/>
          <a:p>
            <a:pPr algn="l"/>
            <a:r>
              <a:rPr sz="1350" b="0" i="0">
                <a:solidFill>
                  <a:srgbClr val="9CC0DC"/>
                </a:solidFill>
                <a:latin typeface="Source Han Sans SC"/>
                <a:ea typeface="Source Han Sans SC"/>
                <a:cs typeface="Source Han Sans SC"/>
              </a:rPr>
              <a:t>仿真与几何验证的判据、验收大纲、V 模型研发路线与指标索引。</a:t>
            </a:r>
          </a:p>
        </p:txBody>
      </p:sp>
      <p:sp>
        <p:nvSpPr>
          <p:cNvPr id="42" name="Oval 41"/>
          <p:cNvSpPr/>
          <p:nvPr/>
        </p:nvSpPr>
        <p:spPr>
          <a:xfrm>
            <a:off x="10835640" y="1417320"/>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3" name="Connector 42"/>
          <p:cNvCxnSpPr/>
          <p:nvPr/>
        </p:nvCxnSpPr>
        <p:spPr>
          <a:xfrm>
            <a:off x="10881360" y="146304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0835640" y="160934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5" name="Connector 44"/>
          <p:cNvCxnSpPr/>
          <p:nvPr/>
        </p:nvCxnSpPr>
        <p:spPr>
          <a:xfrm>
            <a:off x="10881360" y="165506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0835640" y="180136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7" name="Connector 46"/>
          <p:cNvCxnSpPr/>
          <p:nvPr/>
        </p:nvCxnSpPr>
        <p:spPr>
          <a:xfrm>
            <a:off x="10881360" y="184708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10835640" y="199339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9" name="Connector 48"/>
          <p:cNvCxnSpPr/>
          <p:nvPr/>
        </p:nvCxnSpPr>
        <p:spPr>
          <a:xfrm>
            <a:off x="10881360" y="203911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0835640" y="218541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1" name="Connector 50"/>
          <p:cNvCxnSpPr/>
          <p:nvPr/>
        </p:nvCxnSpPr>
        <p:spPr>
          <a:xfrm>
            <a:off x="10881360" y="2231136"/>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10835640" y="2377440"/>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3" name="Connector 52"/>
          <p:cNvCxnSpPr/>
          <p:nvPr/>
        </p:nvCxnSpPr>
        <p:spPr>
          <a:xfrm>
            <a:off x="10881360" y="242316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10835640" y="256946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5" name="Connector 54"/>
          <p:cNvCxnSpPr/>
          <p:nvPr/>
        </p:nvCxnSpPr>
        <p:spPr>
          <a:xfrm>
            <a:off x="10881360" y="261518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10835640" y="276148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7" name="Connector 56"/>
          <p:cNvCxnSpPr/>
          <p:nvPr/>
        </p:nvCxnSpPr>
        <p:spPr>
          <a:xfrm>
            <a:off x="10881360" y="280720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10835640" y="295351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9" name="Connector 58"/>
          <p:cNvCxnSpPr/>
          <p:nvPr/>
        </p:nvCxnSpPr>
        <p:spPr>
          <a:xfrm>
            <a:off x="10881360" y="299923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0835640" y="314553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1" name="Connector 60"/>
          <p:cNvCxnSpPr/>
          <p:nvPr/>
        </p:nvCxnSpPr>
        <p:spPr>
          <a:xfrm>
            <a:off x="10881360" y="3191256"/>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0835640" y="3337560"/>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3" name="Connector 62"/>
          <p:cNvCxnSpPr/>
          <p:nvPr/>
        </p:nvCxnSpPr>
        <p:spPr>
          <a:xfrm>
            <a:off x="10881360" y="338328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0835640" y="352958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5" name="Connector 64"/>
          <p:cNvCxnSpPr/>
          <p:nvPr/>
        </p:nvCxnSpPr>
        <p:spPr>
          <a:xfrm>
            <a:off x="10881360" y="357530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10835640" y="372160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7" name="Connector 66"/>
          <p:cNvCxnSpPr/>
          <p:nvPr/>
        </p:nvCxnSpPr>
        <p:spPr>
          <a:xfrm>
            <a:off x="10881360" y="376732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10835640" y="391363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9" name="Connector 68"/>
          <p:cNvCxnSpPr/>
          <p:nvPr/>
        </p:nvCxnSpPr>
        <p:spPr>
          <a:xfrm>
            <a:off x="10881360" y="395935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0835640" y="410565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1" name="Connector 70"/>
          <p:cNvCxnSpPr/>
          <p:nvPr/>
        </p:nvCxnSpPr>
        <p:spPr>
          <a:xfrm>
            <a:off x="10881360" y="4151376"/>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10835640" y="4297680"/>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3" name="Connector 72"/>
          <p:cNvCxnSpPr/>
          <p:nvPr/>
        </p:nvCxnSpPr>
        <p:spPr>
          <a:xfrm>
            <a:off x="10881360" y="4343400"/>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10835640" y="4489704"/>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5" name="Connector 74"/>
          <p:cNvCxnSpPr/>
          <p:nvPr/>
        </p:nvCxnSpPr>
        <p:spPr>
          <a:xfrm>
            <a:off x="10881360" y="4535424"/>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10835640" y="4681728"/>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7" name="Connector 76"/>
          <p:cNvCxnSpPr/>
          <p:nvPr/>
        </p:nvCxnSpPr>
        <p:spPr>
          <a:xfrm>
            <a:off x="10881360" y="4727448"/>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10835640" y="4873752"/>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9" name="Connector 78"/>
          <p:cNvCxnSpPr/>
          <p:nvPr/>
        </p:nvCxnSpPr>
        <p:spPr>
          <a:xfrm>
            <a:off x="10881360" y="4919472"/>
            <a:ext cx="0" cy="146304"/>
          </a:xfrm>
          <a:prstGeom prst="line">
            <a:avLst/>
          </a:prstGeom>
          <a:ln w="12700">
            <a:solidFill>
              <a:srgbClr val="2E5A82"/>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0835640" y="5065776"/>
            <a:ext cx="91440" cy="91440"/>
          </a:xfrm>
          <a:prstGeom prst="ellipse">
            <a:avLst/>
          </a:prstGeom>
          <a:solidFill>
            <a:srgbClr val="2E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04</a:t>
            </a:r>
            <a:r>
              <a:rPr sz="1000" b="0" i="0">
                <a:solidFill>
                  <a:srgbClr val="6B7A8C"/>
                </a:solidFill>
                <a:latin typeface="Source Han Sans SC"/>
                <a:ea typeface="Source Han Sans SC"/>
                <a:cs typeface="Source Han Sans SC"/>
              </a:rPr>
              <a:t>  验证体系与工程路线</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4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28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仿真验证的判据设计与结论边界</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运动学离线测试共 41 项，判据按三层设计，用于排除「读到指令即判通过」的假阳性。</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66544"/>
            <a:ext cx="10668579" cy="640080"/>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61695" y="2066544"/>
            <a:ext cx="50292" cy="64008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99439" y="2157984"/>
            <a:ext cx="2377440" cy="274320"/>
          </a:xfrm>
          <a:prstGeom prst="rect">
            <a:avLst/>
          </a:prstGeom>
          <a:noFill/>
        </p:spPr>
        <p:txBody>
          <a:bodyPr wrap="square" lIns="0" rIns="0" tIns="0" bIns="0" anchor="t">
            <a:spAutoFit/>
          </a:bodyPr>
          <a:lstStyle/>
          <a:p>
            <a:pPr algn="l"/>
            <a:r>
              <a:rPr sz="1200" b="0" i="0">
                <a:solidFill>
                  <a:srgbClr val="0A2540"/>
                </a:solidFill>
                <a:latin typeface="Source Han Sans SC Heavy"/>
                <a:ea typeface="Source Han Sans SC Heavy"/>
                <a:cs typeface="Source Han Sans SC Heavy"/>
              </a:rPr>
              <a:t>映射全覆盖</a:t>
            </a:r>
          </a:p>
        </p:txBody>
      </p:sp>
      <p:sp>
        <p:nvSpPr>
          <p:cNvPr id="13" name="TextBox 12"/>
          <p:cNvSpPr txBox="1"/>
          <p:nvPr/>
        </p:nvSpPr>
        <p:spPr>
          <a:xfrm>
            <a:off x="999439" y="2432304"/>
            <a:ext cx="10193091" cy="237744"/>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映射键集合必须恰好等于 20 个合法关节名，多一个或少一个即判失败</a:t>
            </a:r>
          </a:p>
        </p:txBody>
      </p:sp>
      <p:sp>
        <p:nvSpPr>
          <p:cNvPr id="14" name="Rectangle 13"/>
          <p:cNvSpPr/>
          <p:nvPr/>
        </p:nvSpPr>
        <p:spPr>
          <a:xfrm>
            <a:off x="761695" y="2779776"/>
            <a:ext cx="10668579" cy="640080"/>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61695" y="2779776"/>
            <a:ext cx="50292" cy="64008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99439" y="2871216"/>
            <a:ext cx="2377440" cy="274320"/>
          </a:xfrm>
          <a:prstGeom prst="rect">
            <a:avLst/>
          </a:prstGeom>
          <a:noFill/>
        </p:spPr>
        <p:txBody>
          <a:bodyPr wrap="square" lIns="0" rIns="0" tIns="0" bIns="0" anchor="t">
            <a:spAutoFit/>
          </a:bodyPr>
          <a:lstStyle/>
          <a:p>
            <a:pPr algn="l"/>
            <a:r>
              <a:rPr sz="1200" b="0" i="0">
                <a:solidFill>
                  <a:srgbClr val="0A2540"/>
                </a:solidFill>
                <a:latin typeface="Source Han Sans SC Heavy"/>
                <a:ea typeface="Source Han Sans SC Heavy"/>
                <a:cs typeface="Source Han Sans SC Heavy"/>
              </a:rPr>
              <a:t>节点绑定完整</a:t>
            </a:r>
          </a:p>
        </p:txBody>
      </p:sp>
      <p:sp>
        <p:nvSpPr>
          <p:cNvPr id="17" name="TextBox 16"/>
          <p:cNvSpPr txBox="1"/>
          <p:nvPr/>
        </p:nvSpPr>
        <p:spPr>
          <a:xfrm>
            <a:off x="999439" y="3145536"/>
            <a:ext cx="10193091" cy="237744"/>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所有非空映射条目必须取得句柄；允许异构模型留空，不允许写成非空而未绑定</a:t>
            </a:r>
          </a:p>
        </p:txBody>
      </p:sp>
      <p:sp>
        <p:nvSpPr>
          <p:cNvPr id="18" name="Rectangle 17"/>
          <p:cNvSpPr/>
          <p:nvPr/>
        </p:nvSpPr>
        <p:spPr>
          <a:xfrm>
            <a:off x="761695" y="3493008"/>
            <a:ext cx="10668579" cy="640080"/>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61695" y="3493008"/>
            <a:ext cx="50292" cy="64008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99439" y="3584448"/>
            <a:ext cx="2377440" cy="274320"/>
          </a:xfrm>
          <a:prstGeom prst="rect">
            <a:avLst/>
          </a:prstGeom>
          <a:noFill/>
        </p:spPr>
        <p:txBody>
          <a:bodyPr wrap="square" lIns="0" rIns="0" tIns="0" bIns="0" anchor="t">
            <a:spAutoFit/>
          </a:bodyPr>
          <a:lstStyle/>
          <a:p>
            <a:pPr algn="l"/>
            <a:r>
              <a:rPr sz="1200" b="0" i="0">
                <a:solidFill>
                  <a:srgbClr val="0A2540"/>
                </a:solidFill>
                <a:latin typeface="Source Han Sans SC Heavy"/>
                <a:ea typeface="Source Han Sans SC Heavy"/>
                <a:cs typeface="Source Han Sans SC Heavy"/>
              </a:rPr>
              <a:t>真实角位移</a:t>
            </a:r>
          </a:p>
        </p:txBody>
      </p:sp>
      <p:sp>
        <p:nvSpPr>
          <p:cNvPr id="21" name="TextBox 20"/>
          <p:cNvSpPr txBox="1"/>
          <p:nvPr/>
        </p:nvSpPr>
        <p:spPr>
          <a:xfrm>
            <a:off x="999439" y="3858768"/>
            <a:ext cx="10193091" cy="237744"/>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仿真单步后至少一个关节转过 &gt;1°，防止只读到指令而世界未运动</a:t>
            </a:r>
          </a:p>
        </p:txBody>
      </p:sp>
      <p:sp>
        <p:nvSpPr>
          <p:cNvPr id="22" name="Rectangle 21"/>
          <p:cNvSpPr/>
          <p:nvPr/>
        </p:nvSpPr>
        <p:spPr>
          <a:xfrm>
            <a:off x="761695" y="4242816"/>
            <a:ext cx="10668579" cy="1444752"/>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81151" y="4370832"/>
            <a:ext cx="10229667" cy="256032"/>
          </a:xfrm>
          <a:prstGeom prst="rect">
            <a:avLst/>
          </a:prstGeom>
          <a:noFill/>
        </p:spPr>
        <p:txBody>
          <a:bodyPr wrap="square" lIns="0" rIns="0" tIns="0" bIns="0" anchor="t">
            <a:spAutoFit/>
          </a:bodyPr>
          <a:lstStyle/>
          <a:p>
            <a:pPr algn="l"/>
            <a:r>
              <a:rPr sz="1200" b="0" i="0">
                <a:solidFill>
                  <a:srgbClr val="0A2540"/>
                </a:solidFill>
                <a:latin typeface="Source Han Sans SC Heavy"/>
                <a:ea typeface="Source Han Sans SC Heavy"/>
                <a:cs typeface="Source Han Sans SC Heavy"/>
              </a:rPr>
              <a:t>两类世界与结论边界</a:t>
            </a:r>
          </a:p>
        </p:txBody>
      </p:sp>
      <p:sp>
        <p:nvSpPr>
          <p:cNvPr id="24" name="Rectangle 23"/>
          <p:cNvSpPr/>
          <p:nvPr/>
        </p:nvSpPr>
        <p:spPr>
          <a:xfrm>
            <a:off x="981151" y="4754880"/>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127455" y="4672584"/>
            <a:ext cx="10083363" cy="219456"/>
          </a:xfrm>
          <a:prstGeom prst="rect">
            <a:avLst/>
          </a:prstGeom>
          <a:noFill/>
        </p:spPr>
        <p:txBody>
          <a:bodyPr wrap="square" lIns="0" rIns="0" tIns="0" bIns="0" anchor="t">
            <a:spAutoFit/>
          </a:bodyPr>
          <a:lstStyle/>
          <a:p>
            <a:pPr algn="l">
              <a:lnSpc>
                <a:spcPct val="124000"/>
              </a:lnSpc>
            </a:pPr>
            <a:r>
              <a:rPr sz="950" b="0" i="0">
                <a:solidFill>
                  <a:srgbClr val="0A2540"/>
                </a:solidFill>
                <a:latin typeface="Source Han Sans SC Heavy"/>
                <a:ea typeface="Source Han Sans SC Heavy"/>
                <a:cs typeface="Source Han Sans SC Heavy"/>
              </a:rPr>
              <a:t>默认世界　</a:t>
            </a:r>
            <a:r>
              <a:rPr sz="950" b="0" i="0">
                <a:solidFill>
                  <a:srgbClr val="1F2A37"/>
                </a:solidFill>
                <a:latin typeface="Source Han Sans SC"/>
                <a:ea typeface="Source Han Sans SC"/>
                <a:cs typeface="Source Han Sans SC"/>
              </a:rPr>
              <a:t>零重力、无地面：用于 20 关节运动学联调与接口映射验证</a:t>
            </a:r>
          </a:p>
        </p:txBody>
      </p:sp>
      <p:sp>
        <p:nvSpPr>
          <p:cNvPr id="26" name="Rectangle 25"/>
          <p:cNvSpPr/>
          <p:nvPr/>
        </p:nvSpPr>
        <p:spPr>
          <a:xfrm>
            <a:off x="981151" y="5010912"/>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127455" y="4928616"/>
            <a:ext cx="10083363" cy="219456"/>
          </a:xfrm>
          <a:prstGeom prst="rect">
            <a:avLst/>
          </a:prstGeom>
          <a:noFill/>
        </p:spPr>
        <p:txBody>
          <a:bodyPr wrap="square" lIns="0" rIns="0" tIns="0" bIns="0" anchor="t">
            <a:spAutoFit/>
          </a:bodyPr>
          <a:lstStyle/>
          <a:p>
            <a:pPr algn="l">
              <a:lnSpc>
                <a:spcPct val="124000"/>
              </a:lnSpc>
            </a:pPr>
            <a:r>
              <a:rPr sz="950" b="0" i="0">
                <a:solidFill>
                  <a:srgbClr val="0A2540"/>
                </a:solidFill>
                <a:latin typeface="Source Han Sans SC Heavy"/>
                <a:ea typeface="Source Han Sans SC Heavy"/>
                <a:cs typeface="Source Han Sans SC Heavy"/>
              </a:rPr>
              <a:t>派生世界　</a:t>
            </a:r>
            <a:r>
              <a:rPr sz="950" b="0" i="0">
                <a:solidFill>
                  <a:srgbClr val="1F2A37"/>
                </a:solidFill>
                <a:latin typeface="Source Han Sans SC"/>
                <a:ea typeface="Source Han Sans SC"/>
                <a:cs typeface="Source Han Sans SC"/>
              </a:rPr>
              <a:t>由脚本生成带重力与电机参数的世界，用于站立与支撑相校核</a:t>
            </a:r>
          </a:p>
        </p:txBody>
      </p:sp>
      <p:sp>
        <p:nvSpPr>
          <p:cNvPr id="28" name="Rectangle 27"/>
          <p:cNvSpPr/>
          <p:nvPr/>
        </p:nvSpPr>
        <p:spPr>
          <a:xfrm>
            <a:off x="981151" y="5266944"/>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127455" y="5184648"/>
            <a:ext cx="10083363" cy="219456"/>
          </a:xfrm>
          <a:prstGeom prst="rect">
            <a:avLst/>
          </a:prstGeom>
          <a:noFill/>
        </p:spPr>
        <p:txBody>
          <a:bodyPr wrap="square" lIns="0" rIns="0" tIns="0" bIns="0" anchor="t">
            <a:spAutoFit/>
          </a:bodyPr>
          <a:lstStyle/>
          <a:p>
            <a:pPr algn="l">
              <a:lnSpc>
                <a:spcPct val="124000"/>
              </a:lnSpc>
            </a:pPr>
            <a:r>
              <a:rPr sz="950" b="0" i="0">
                <a:solidFill>
                  <a:srgbClr val="0A2540"/>
                </a:solidFill>
                <a:latin typeface="Source Han Sans SC Heavy"/>
                <a:ea typeface="Source Han Sans SC Heavy"/>
                <a:cs typeface="Source Han Sans SC Heavy"/>
              </a:rPr>
              <a:t>结论边界　</a:t>
            </a:r>
            <a:r>
              <a:rPr sz="950" b="0" i="0">
                <a:solidFill>
                  <a:srgbClr val="1F2A37"/>
                </a:solidFill>
                <a:latin typeface="Source Han Sans SC"/>
                <a:ea typeface="Source Han Sans SC"/>
                <a:cs typeface="Source Han Sans SC"/>
              </a:rPr>
              <a:t>零重力世界的结果只用于运动学一致性，不作为行走能力的证据</a:t>
            </a:r>
          </a:p>
        </p:txBody>
      </p:sp>
      <p:sp>
        <p:nvSpPr>
          <p:cNvPr id="30" name="TextBox 29"/>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运动学离线测试与带重力派生世界的判据设计</a:t>
            </a:r>
          </a:p>
        </p:txBody>
      </p:sp>
      <p:sp>
        <p:nvSpPr>
          <p:cNvPr id="31" name="TextBox 30"/>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32" name="Rectangle 31"/>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34" name="Rectangle 33"/>
          <p:cNvSpPr/>
          <p:nvPr/>
        </p:nvSpPr>
        <p:spPr>
          <a:xfrm>
            <a:off x="244723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53867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Tree>
  </p:cSld>
  <p:clrMapOvr>
    <a:masterClrMapping/>
  </p:clrMapOvr>
  <p:transition spd="med"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04</a:t>
            </a:r>
            <a:r>
              <a:rPr sz="1000" b="0" i="0">
                <a:solidFill>
                  <a:srgbClr val="6B7A8C"/>
                </a:solidFill>
                <a:latin typeface="Source Han Sans SC"/>
                <a:ea typeface="Source Han Sans SC"/>
                <a:cs typeface="Source Han Sans SC"/>
              </a:rPr>
              <a:t>  验证体系与工程路线</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4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29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装配几何审查：判据分级与统计结果</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装配判据基于 B-rep 实体公共体积求解，按严重程度分级统计，检查覆盖全部同源零件。</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2529984" cy="1261872"/>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61695" y="2048256"/>
            <a:ext cx="41148" cy="1261872"/>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81151" y="2176272"/>
            <a:ext cx="2164224" cy="478789"/>
          </a:xfrm>
          <a:prstGeom prst="rect">
            <a:avLst/>
          </a:prstGeom>
          <a:noFill/>
        </p:spPr>
        <p:txBody>
          <a:bodyPr wrap="square" lIns="0" rIns="0" tIns="0" bIns="0" anchor="t">
            <a:spAutoFit/>
          </a:bodyPr>
          <a:lstStyle/>
          <a:p>
            <a:pPr algn="l">
              <a:lnSpc>
                <a:spcPct val="100000"/>
              </a:lnSpc>
            </a:pPr>
            <a:r>
              <a:rPr sz="2600" b="0" i="0">
                <a:solidFill>
                  <a:srgbClr val="0A2540"/>
                </a:solidFill>
                <a:latin typeface="Source Han Sans SC Heavy"/>
                <a:ea typeface="Source Han Sans SC Heavy"/>
                <a:cs typeface="Source Han Sans SC Heavy"/>
              </a:rPr>
              <a:t>1029</a:t>
            </a:r>
            <a:r>
              <a:rPr sz="1500" b="0" i="0">
                <a:solidFill>
                  <a:srgbClr val="0A2540"/>
                </a:solidFill>
                <a:latin typeface="Source Han Sans SC Heavy"/>
                <a:ea typeface="Source Han Sans SC Heavy"/>
                <a:cs typeface="Source Han Sans SC Heavy"/>
              </a:rPr>
              <a:t> 件</a:t>
            </a:r>
          </a:p>
        </p:txBody>
      </p:sp>
      <p:sp>
        <p:nvSpPr>
          <p:cNvPr id="13" name="TextBox 12"/>
          <p:cNvSpPr txBox="1"/>
          <p:nvPr/>
        </p:nvSpPr>
        <p:spPr>
          <a:xfrm>
            <a:off x="981151" y="2728214"/>
            <a:ext cx="2164224" cy="5087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同源装配快照零件数，几何求解全覆盖</a:t>
            </a:r>
          </a:p>
        </p:txBody>
      </p:sp>
      <p:sp>
        <p:nvSpPr>
          <p:cNvPr id="14" name="Rectangle 13"/>
          <p:cNvSpPr/>
          <p:nvPr/>
        </p:nvSpPr>
        <p:spPr>
          <a:xfrm>
            <a:off x="3474559" y="2048256"/>
            <a:ext cx="2529984" cy="1261872"/>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474559" y="2048256"/>
            <a:ext cx="41148" cy="1261872"/>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94015" y="2176272"/>
            <a:ext cx="2164224" cy="478789"/>
          </a:xfrm>
          <a:prstGeom prst="rect">
            <a:avLst/>
          </a:prstGeom>
          <a:noFill/>
        </p:spPr>
        <p:txBody>
          <a:bodyPr wrap="square" lIns="0" rIns="0" tIns="0" bIns="0" anchor="t">
            <a:spAutoFit/>
          </a:bodyPr>
          <a:lstStyle/>
          <a:p>
            <a:pPr algn="l">
              <a:lnSpc>
                <a:spcPct val="100000"/>
              </a:lnSpc>
            </a:pPr>
            <a:r>
              <a:rPr sz="2600" b="0" i="0">
                <a:solidFill>
                  <a:srgbClr val="0A2540"/>
                </a:solidFill>
                <a:latin typeface="Source Han Sans SC Heavy"/>
                <a:ea typeface="Source Han Sans SC Heavy"/>
                <a:cs typeface="Source Han Sans SC Heavy"/>
              </a:rPr>
              <a:t>648</a:t>
            </a:r>
            <a:r>
              <a:rPr sz="1500" b="0" i="0">
                <a:solidFill>
                  <a:srgbClr val="0A2540"/>
                </a:solidFill>
                <a:latin typeface="Source Han Sans SC Heavy"/>
                <a:ea typeface="Source Han Sans SC Heavy"/>
                <a:cs typeface="Source Han Sans SC Heavy"/>
              </a:rPr>
              <a:t> 对</a:t>
            </a:r>
          </a:p>
        </p:txBody>
      </p:sp>
      <p:sp>
        <p:nvSpPr>
          <p:cNvPr id="17" name="TextBox 16"/>
          <p:cNvSpPr txBox="1"/>
          <p:nvPr/>
        </p:nvSpPr>
        <p:spPr>
          <a:xfrm>
            <a:off x="3694015" y="2728214"/>
            <a:ext cx="2164224" cy="5087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窄相配对全量求解；采购件内部不重复计入</a:t>
            </a:r>
          </a:p>
        </p:txBody>
      </p:sp>
      <p:sp>
        <p:nvSpPr>
          <p:cNvPr id="18" name="Rectangle 17"/>
          <p:cNvSpPr/>
          <p:nvPr/>
        </p:nvSpPr>
        <p:spPr>
          <a:xfrm>
            <a:off x="6187424" y="2048256"/>
            <a:ext cx="2529984" cy="1261872"/>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187424" y="2048256"/>
            <a:ext cx="41148" cy="1261872"/>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6880" y="2176272"/>
            <a:ext cx="2164224" cy="478789"/>
          </a:xfrm>
          <a:prstGeom prst="rect">
            <a:avLst/>
          </a:prstGeom>
          <a:noFill/>
        </p:spPr>
        <p:txBody>
          <a:bodyPr wrap="square" lIns="0" rIns="0" tIns="0" bIns="0" anchor="t">
            <a:spAutoFit/>
          </a:bodyPr>
          <a:lstStyle/>
          <a:p>
            <a:pPr algn="l">
              <a:lnSpc>
                <a:spcPct val="100000"/>
              </a:lnSpc>
            </a:pPr>
            <a:r>
              <a:rPr sz="2600" b="0" i="0">
                <a:solidFill>
                  <a:srgbClr val="E4572E"/>
                </a:solidFill>
                <a:latin typeface="Source Han Sans SC Heavy"/>
                <a:ea typeface="Source Han Sans SC Heavy"/>
                <a:cs typeface="Source Han Sans SC Heavy"/>
              </a:rPr>
              <a:t>0</a:t>
            </a:r>
            <a:r>
              <a:rPr sz="1500" b="0" i="0">
                <a:solidFill>
                  <a:srgbClr val="E4572E"/>
                </a:solidFill>
                <a:latin typeface="Source Han Sans SC Heavy"/>
                <a:ea typeface="Source Han Sans SC Heavy"/>
                <a:cs typeface="Source Han Sans SC Heavy"/>
              </a:rPr>
              <a:t> 相交</a:t>
            </a:r>
          </a:p>
        </p:txBody>
      </p:sp>
      <p:sp>
        <p:nvSpPr>
          <p:cNvPr id="21" name="TextBox 20"/>
          <p:cNvSpPr txBox="1"/>
          <p:nvPr/>
        </p:nvSpPr>
        <p:spPr>
          <a:xfrm>
            <a:off x="6406880" y="2728214"/>
            <a:ext cx="2164224" cy="5087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实体公共体积超过判据阈值的零件对数为零</a:t>
            </a:r>
          </a:p>
        </p:txBody>
      </p:sp>
      <p:sp>
        <p:nvSpPr>
          <p:cNvPr id="22" name="Rectangle 21"/>
          <p:cNvSpPr/>
          <p:nvPr/>
        </p:nvSpPr>
        <p:spPr>
          <a:xfrm>
            <a:off x="8900289" y="2048256"/>
            <a:ext cx="2529984" cy="1261872"/>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900289" y="2048256"/>
            <a:ext cx="41148" cy="1261872"/>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19745" y="2176272"/>
            <a:ext cx="2164224" cy="478789"/>
          </a:xfrm>
          <a:prstGeom prst="rect">
            <a:avLst/>
          </a:prstGeom>
          <a:noFill/>
        </p:spPr>
        <p:txBody>
          <a:bodyPr wrap="square" lIns="0" rIns="0" tIns="0" bIns="0" anchor="t">
            <a:spAutoFit/>
          </a:bodyPr>
          <a:lstStyle/>
          <a:p>
            <a:pPr algn="l">
              <a:lnSpc>
                <a:spcPct val="100000"/>
              </a:lnSpc>
            </a:pPr>
            <a:r>
              <a:rPr sz="2600" b="0" i="0">
                <a:solidFill>
                  <a:srgbClr val="0A2540"/>
                </a:solidFill>
                <a:latin typeface="Source Han Sans SC Heavy"/>
                <a:ea typeface="Source Han Sans SC Heavy"/>
                <a:cs typeface="Source Han Sans SC Heavy"/>
              </a:rPr>
              <a:t>46</a:t>
            </a:r>
            <a:r>
              <a:rPr sz="1500" b="0" i="0">
                <a:solidFill>
                  <a:srgbClr val="0A2540"/>
                </a:solidFill>
                <a:latin typeface="Source Han Sans SC Heavy"/>
                <a:ea typeface="Source Han Sans SC Heavy"/>
                <a:cs typeface="Source Han Sans SC Heavy"/>
              </a:rPr>
              <a:t> 组</a:t>
            </a:r>
          </a:p>
        </p:txBody>
      </p:sp>
      <p:sp>
        <p:nvSpPr>
          <p:cNvPr id="25" name="TextBox 24"/>
          <p:cNvSpPr txBox="1"/>
          <p:nvPr/>
        </p:nvSpPr>
        <p:spPr>
          <a:xfrm>
            <a:off x="9119745" y="2728214"/>
            <a:ext cx="2164224" cy="508762"/>
          </a:xfrm>
          <a:prstGeom prst="rect">
            <a:avLst/>
          </a:prstGeom>
          <a:noFill/>
        </p:spPr>
        <p:txBody>
          <a:bodyPr wrap="square" lIns="0" rIns="0" tIns="0" bIns="0" anchor="t">
            <a:spAutoFit/>
          </a:bodyPr>
          <a:lstStyle/>
          <a:p>
            <a:pPr algn="l">
              <a:lnSpc>
                <a:spcPct val="128000"/>
              </a:lnSpc>
            </a:pPr>
            <a:r>
              <a:rPr sz="850" b="0" i="0">
                <a:solidFill>
                  <a:srgbClr val="6B7A8C"/>
                </a:solidFill>
                <a:latin typeface="Source Han Sans SC"/>
                <a:ea typeface="Source Han Sans SC"/>
                <a:cs typeface="Source Han Sans SC"/>
              </a:rPr>
              <a:t>抽样运动构型扫描，全部通过</a:t>
            </a:r>
          </a:p>
        </p:txBody>
      </p:sp>
      <p:sp>
        <p:nvSpPr>
          <p:cNvPr id="26" name="TextBox 25"/>
          <p:cNvSpPr txBox="1"/>
          <p:nvPr/>
        </p:nvSpPr>
        <p:spPr>
          <a:xfrm>
            <a:off x="761695" y="3474720"/>
            <a:ext cx="10668579" cy="457200"/>
          </a:xfrm>
          <a:prstGeom prst="rect">
            <a:avLst/>
          </a:prstGeom>
          <a:noFill/>
        </p:spPr>
        <p:txBody>
          <a:bodyPr wrap="square" lIns="0" rIns="0" tIns="0" bIns="0" anchor="t">
            <a:spAutoFit/>
          </a:bodyPr>
          <a:lstStyle/>
          <a:p>
            <a:pPr algn="l">
              <a:lnSpc>
                <a:spcPct val="128000"/>
              </a:lnSpc>
            </a:pPr>
            <a:r>
              <a:rPr sz="1050" b="0" i="0">
                <a:solidFill>
                  <a:srgbClr val="0A2540"/>
                </a:solidFill>
                <a:latin typeface="Source Han Sans SC Heavy"/>
                <a:ea typeface="Source Han Sans SC Heavy"/>
                <a:cs typeface="Source Han Sans SC Heavy"/>
              </a:rPr>
              <a:t>判据说明：</a:t>
            </a:r>
            <a:r>
              <a:rPr sz="1000" b="0" i="0">
                <a:solidFill>
                  <a:srgbClr val="1F2A37"/>
                </a:solidFill>
                <a:latin typeface="Source Han Sans SC"/>
                <a:ea typeface="Source Han Sans SC"/>
                <a:cs typeface="Source Han Sans SC"/>
              </a:rPr>
              <a:t>以 B-rep 实体公共体积超过 0.01 mm³ 作为相交判据，面接触不计；因此「零相交」表示没有任何一对零件被判定为占用同一块空间，配合面与贴合面按设计意图保留。</a:t>
            </a:r>
          </a:p>
        </p:txBody>
      </p:sp>
      <p:sp>
        <p:nvSpPr>
          <p:cNvPr id="27" name="Rectangle 26"/>
          <p:cNvSpPr/>
          <p:nvPr/>
        </p:nvSpPr>
        <p:spPr>
          <a:xfrm>
            <a:off x="761695" y="4078224"/>
            <a:ext cx="10668579" cy="16093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81151" y="4206240"/>
            <a:ext cx="10229667" cy="256032"/>
          </a:xfrm>
          <a:prstGeom prst="rect">
            <a:avLst/>
          </a:prstGeom>
          <a:noFill/>
        </p:spPr>
        <p:txBody>
          <a:bodyPr wrap="square" lIns="0" rIns="0" tIns="0" bIns="0" anchor="t">
            <a:spAutoFit/>
          </a:bodyPr>
          <a:lstStyle/>
          <a:p>
            <a:pPr algn="l"/>
            <a:r>
              <a:rPr sz="1200" b="0" i="0">
                <a:solidFill>
                  <a:srgbClr val="0A2540"/>
                </a:solidFill>
                <a:latin typeface="Source Han Sans SC Heavy"/>
                <a:ea typeface="Source Han Sans SC Heavy"/>
                <a:cs typeface="Source Han Sans SC Heavy"/>
              </a:rPr>
              <a:t>判据分级与统计</a:t>
            </a:r>
          </a:p>
        </p:txBody>
      </p:sp>
      <p:sp>
        <p:nvSpPr>
          <p:cNvPr id="29" name="Rectangle 28"/>
          <p:cNvSpPr/>
          <p:nvPr/>
        </p:nvSpPr>
        <p:spPr>
          <a:xfrm>
            <a:off x="981151" y="4462272"/>
            <a:ext cx="5120640" cy="310896"/>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72591" y="4462272"/>
            <a:ext cx="822960" cy="310896"/>
          </a:xfrm>
          <a:prstGeom prst="rect">
            <a:avLst/>
          </a:prstGeom>
          <a:noFill/>
        </p:spPr>
        <p:txBody>
          <a:bodyPr wrap="square" lIns="0" rIns="0" tIns="0" bIns="0" anchor="ctr">
            <a:spAutoFit/>
          </a:bodyPr>
          <a:lstStyle/>
          <a:p>
            <a:pPr algn="l"/>
            <a:r>
              <a:rPr sz="850" b="0" i="0">
                <a:solidFill>
                  <a:srgbClr val="1264A3"/>
                </a:solidFill>
                <a:latin typeface="Source Han Sans SC Heavy"/>
                <a:ea typeface="Source Han Sans SC Heavy"/>
                <a:cs typeface="Source Han Sans SC Heavy"/>
              </a:rPr>
              <a:t>判据</a:t>
            </a:r>
          </a:p>
        </p:txBody>
      </p:sp>
      <p:sp>
        <p:nvSpPr>
          <p:cNvPr id="31" name="TextBox 30"/>
          <p:cNvSpPr txBox="1"/>
          <p:nvPr/>
        </p:nvSpPr>
        <p:spPr>
          <a:xfrm>
            <a:off x="2078431" y="4462272"/>
            <a:ext cx="2194560" cy="310896"/>
          </a:xfrm>
          <a:prstGeom prst="rect">
            <a:avLst/>
          </a:prstGeom>
          <a:noFill/>
        </p:spPr>
        <p:txBody>
          <a:bodyPr wrap="square" lIns="0" rIns="0" tIns="0" bIns="0" anchor="ctr">
            <a:spAutoFit/>
          </a:bodyPr>
          <a:lstStyle/>
          <a:p>
            <a:pPr algn="l"/>
            <a:r>
              <a:rPr sz="850" b="0" i="0">
                <a:solidFill>
                  <a:srgbClr val="1264A3"/>
                </a:solidFill>
                <a:latin typeface="Source Han Sans SC Heavy"/>
                <a:ea typeface="Source Han Sans SC Heavy"/>
                <a:cs typeface="Source Han Sans SC Heavy"/>
              </a:rPr>
              <a:t>阈值</a:t>
            </a:r>
          </a:p>
        </p:txBody>
      </p:sp>
      <p:sp>
        <p:nvSpPr>
          <p:cNvPr id="32" name="TextBox 31"/>
          <p:cNvSpPr txBox="1"/>
          <p:nvPr/>
        </p:nvSpPr>
        <p:spPr>
          <a:xfrm>
            <a:off x="4455871" y="4462272"/>
            <a:ext cx="1554480" cy="310896"/>
          </a:xfrm>
          <a:prstGeom prst="rect">
            <a:avLst/>
          </a:prstGeom>
          <a:noFill/>
        </p:spPr>
        <p:txBody>
          <a:bodyPr wrap="square" lIns="0" rIns="0" tIns="0" bIns="0" anchor="ctr">
            <a:spAutoFit/>
          </a:bodyPr>
          <a:lstStyle/>
          <a:p>
            <a:pPr algn="l"/>
            <a:r>
              <a:rPr sz="850" b="0" i="0">
                <a:solidFill>
                  <a:srgbClr val="1264A3"/>
                </a:solidFill>
                <a:latin typeface="Source Han Sans SC Heavy"/>
                <a:ea typeface="Source Han Sans SC Heavy"/>
                <a:cs typeface="Source Han Sans SC Heavy"/>
              </a:rPr>
              <a:t>结果</a:t>
            </a:r>
          </a:p>
        </p:txBody>
      </p:sp>
      <p:sp>
        <p:nvSpPr>
          <p:cNvPr id="33" name="TextBox 32"/>
          <p:cNvSpPr txBox="1"/>
          <p:nvPr/>
        </p:nvSpPr>
        <p:spPr>
          <a:xfrm>
            <a:off x="1072591" y="4773168"/>
            <a:ext cx="822960" cy="292608"/>
          </a:xfrm>
          <a:prstGeom prst="rect">
            <a:avLst/>
          </a:prstGeom>
          <a:noFill/>
        </p:spPr>
        <p:txBody>
          <a:bodyPr wrap="square" lIns="0" rIns="0" tIns="0" bIns="0" anchor="ctr">
            <a:spAutoFit/>
          </a:bodyPr>
          <a:lstStyle/>
          <a:p>
            <a:pPr algn="l"/>
            <a:r>
              <a:rPr sz="850" b="0" i="0">
                <a:solidFill>
                  <a:srgbClr val="1F2A37"/>
                </a:solidFill>
                <a:latin typeface="Source Han Sans SC"/>
                <a:ea typeface="Source Han Sans SC"/>
                <a:cs typeface="Source Han Sans SC"/>
              </a:rPr>
              <a:t>面接触</a:t>
            </a:r>
          </a:p>
        </p:txBody>
      </p:sp>
      <p:sp>
        <p:nvSpPr>
          <p:cNvPr id="34" name="TextBox 33"/>
          <p:cNvSpPr txBox="1"/>
          <p:nvPr/>
        </p:nvSpPr>
        <p:spPr>
          <a:xfrm>
            <a:off x="2078431" y="4773168"/>
            <a:ext cx="2194560" cy="292608"/>
          </a:xfrm>
          <a:prstGeom prst="rect">
            <a:avLst/>
          </a:prstGeom>
          <a:noFill/>
        </p:spPr>
        <p:txBody>
          <a:bodyPr wrap="square" lIns="0" rIns="0" tIns="0" bIns="0" anchor="ctr">
            <a:spAutoFit/>
          </a:bodyPr>
          <a:lstStyle/>
          <a:p>
            <a:pPr algn="l"/>
            <a:r>
              <a:rPr sz="850" b="0" i="0">
                <a:solidFill>
                  <a:srgbClr val="1F2A37"/>
                </a:solidFill>
                <a:latin typeface="Source Han Sans SC"/>
                <a:ea typeface="Source Han Sans SC"/>
                <a:cs typeface="Source Han Sans SC"/>
              </a:rPr>
              <a:t>公共体积 ≤ 0.01 mm³</a:t>
            </a:r>
          </a:p>
        </p:txBody>
      </p:sp>
      <p:sp>
        <p:nvSpPr>
          <p:cNvPr id="35" name="TextBox 34"/>
          <p:cNvSpPr txBox="1"/>
          <p:nvPr/>
        </p:nvSpPr>
        <p:spPr>
          <a:xfrm>
            <a:off x="4455871" y="4773168"/>
            <a:ext cx="1554480" cy="292608"/>
          </a:xfrm>
          <a:prstGeom prst="rect">
            <a:avLst/>
          </a:prstGeom>
          <a:noFill/>
        </p:spPr>
        <p:txBody>
          <a:bodyPr wrap="square" lIns="0" rIns="0" tIns="0" bIns="0" anchor="ctr">
            <a:spAutoFit/>
          </a:bodyPr>
          <a:lstStyle/>
          <a:p>
            <a:pPr algn="l"/>
            <a:r>
              <a:rPr sz="850" b="0" i="0">
                <a:solidFill>
                  <a:srgbClr val="1F2A37"/>
                </a:solidFill>
                <a:latin typeface="Source Han Sans SC"/>
                <a:ea typeface="Source Han Sans SC"/>
                <a:cs typeface="Source Han Sans SC"/>
              </a:rPr>
              <a:t>不计为相交</a:t>
            </a:r>
          </a:p>
        </p:txBody>
      </p:sp>
      <p:cxnSp>
        <p:nvCxnSpPr>
          <p:cNvPr id="36" name="Connector 35"/>
          <p:cNvCxnSpPr/>
          <p:nvPr/>
        </p:nvCxnSpPr>
        <p:spPr>
          <a:xfrm>
            <a:off x="981151" y="5065776"/>
            <a:ext cx="5120640"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72591" y="5065776"/>
            <a:ext cx="822960" cy="292608"/>
          </a:xfrm>
          <a:prstGeom prst="rect">
            <a:avLst/>
          </a:prstGeom>
          <a:noFill/>
        </p:spPr>
        <p:txBody>
          <a:bodyPr wrap="square" lIns="0" rIns="0" tIns="0" bIns="0" anchor="ctr">
            <a:spAutoFit/>
          </a:bodyPr>
          <a:lstStyle/>
          <a:p>
            <a:pPr algn="l"/>
            <a:r>
              <a:rPr sz="850" b="0" i="0">
                <a:solidFill>
                  <a:srgbClr val="1F2A37"/>
                </a:solidFill>
                <a:latin typeface="Source Han Sans SC"/>
                <a:ea typeface="Source Han Sans SC"/>
                <a:cs typeface="Source Han Sans SC"/>
              </a:rPr>
              <a:t>实体相交</a:t>
            </a:r>
          </a:p>
        </p:txBody>
      </p:sp>
      <p:sp>
        <p:nvSpPr>
          <p:cNvPr id="38" name="TextBox 37"/>
          <p:cNvSpPr txBox="1"/>
          <p:nvPr/>
        </p:nvSpPr>
        <p:spPr>
          <a:xfrm>
            <a:off x="2078431" y="5065776"/>
            <a:ext cx="2194560" cy="292608"/>
          </a:xfrm>
          <a:prstGeom prst="rect">
            <a:avLst/>
          </a:prstGeom>
          <a:noFill/>
        </p:spPr>
        <p:txBody>
          <a:bodyPr wrap="square" lIns="0" rIns="0" tIns="0" bIns="0" anchor="ctr">
            <a:spAutoFit/>
          </a:bodyPr>
          <a:lstStyle/>
          <a:p>
            <a:pPr algn="l"/>
            <a:r>
              <a:rPr sz="850" b="0" i="0">
                <a:solidFill>
                  <a:srgbClr val="1F2A37"/>
                </a:solidFill>
                <a:latin typeface="Source Han Sans SC"/>
                <a:ea typeface="Source Han Sans SC"/>
                <a:cs typeface="Source Han Sans SC"/>
              </a:rPr>
              <a:t>公共体积 &gt; 0.01 mm³</a:t>
            </a:r>
          </a:p>
        </p:txBody>
      </p:sp>
      <p:sp>
        <p:nvSpPr>
          <p:cNvPr id="39" name="TextBox 38"/>
          <p:cNvSpPr txBox="1"/>
          <p:nvPr/>
        </p:nvSpPr>
        <p:spPr>
          <a:xfrm>
            <a:off x="4455871" y="5065776"/>
            <a:ext cx="1554480" cy="292608"/>
          </a:xfrm>
          <a:prstGeom prst="rect">
            <a:avLst/>
          </a:prstGeom>
          <a:noFill/>
        </p:spPr>
        <p:txBody>
          <a:bodyPr wrap="square" lIns="0" rIns="0" tIns="0" bIns="0" anchor="ctr">
            <a:spAutoFit/>
          </a:bodyPr>
          <a:lstStyle/>
          <a:p>
            <a:pPr algn="l"/>
            <a:r>
              <a:rPr sz="850" b="0" i="0">
                <a:solidFill>
                  <a:srgbClr val="1F2A37"/>
                </a:solidFill>
                <a:latin typeface="Source Han Sans SC"/>
                <a:ea typeface="Source Han Sans SC"/>
                <a:cs typeface="Source Han Sans SC"/>
              </a:rPr>
              <a:t>0 对</a:t>
            </a:r>
          </a:p>
        </p:txBody>
      </p:sp>
      <p:cxnSp>
        <p:nvCxnSpPr>
          <p:cNvPr id="40" name="Connector 39"/>
          <p:cNvCxnSpPr/>
          <p:nvPr/>
        </p:nvCxnSpPr>
        <p:spPr>
          <a:xfrm>
            <a:off x="981151" y="5358384"/>
            <a:ext cx="5120640"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72591" y="5358384"/>
            <a:ext cx="822960" cy="292608"/>
          </a:xfrm>
          <a:prstGeom prst="rect">
            <a:avLst/>
          </a:prstGeom>
          <a:noFill/>
        </p:spPr>
        <p:txBody>
          <a:bodyPr wrap="square" lIns="0" rIns="0" tIns="0" bIns="0" anchor="ctr">
            <a:spAutoFit/>
          </a:bodyPr>
          <a:lstStyle/>
          <a:p>
            <a:pPr algn="l"/>
            <a:r>
              <a:rPr sz="850" b="0" i="0">
                <a:solidFill>
                  <a:srgbClr val="1F2A37"/>
                </a:solidFill>
                <a:latin typeface="Source Han Sans SC"/>
                <a:ea typeface="Source Han Sans SC"/>
                <a:cs typeface="Source Han Sans SC"/>
              </a:rPr>
              <a:t>运动构型</a:t>
            </a:r>
          </a:p>
        </p:txBody>
      </p:sp>
      <p:sp>
        <p:nvSpPr>
          <p:cNvPr id="42" name="TextBox 41"/>
          <p:cNvSpPr txBox="1"/>
          <p:nvPr/>
        </p:nvSpPr>
        <p:spPr>
          <a:xfrm>
            <a:off x="2078431" y="5358384"/>
            <a:ext cx="2194560" cy="292608"/>
          </a:xfrm>
          <a:prstGeom prst="rect">
            <a:avLst/>
          </a:prstGeom>
          <a:noFill/>
        </p:spPr>
        <p:txBody>
          <a:bodyPr wrap="square" lIns="0" rIns="0" tIns="0" bIns="0" anchor="ctr">
            <a:spAutoFit/>
          </a:bodyPr>
          <a:lstStyle/>
          <a:p>
            <a:pPr algn="l"/>
            <a:r>
              <a:rPr sz="850" b="0" i="0">
                <a:solidFill>
                  <a:srgbClr val="1F2A37"/>
                </a:solidFill>
                <a:latin typeface="Source Han Sans SC"/>
                <a:ea typeface="Source Han Sans SC"/>
                <a:cs typeface="Source Han Sans SC"/>
              </a:rPr>
              <a:t>抽样 46 组零位外构型</a:t>
            </a:r>
          </a:p>
        </p:txBody>
      </p:sp>
      <p:sp>
        <p:nvSpPr>
          <p:cNvPr id="43" name="TextBox 42"/>
          <p:cNvSpPr txBox="1"/>
          <p:nvPr/>
        </p:nvSpPr>
        <p:spPr>
          <a:xfrm>
            <a:off x="4455871" y="5358384"/>
            <a:ext cx="1554480" cy="292608"/>
          </a:xfrm>
          <a:prstGeom prst="rect">
            <a:avLst/>
          </a:prstGeom>
          <a:noFill/>
        </p:spPr>
        <p:txBody>
          <a:bodyPr wrap="square" lIns="0" rIns="0" tIns="0" bIns="0" anchor="ctr">
            <a:spAutoFit/>
          </a:bodyPr>
          <a:lstStyle/>
          <a:p>
            <a:pPr algn="l"/>
            <a:r>
              <a:rPr sz="850" b="0" i="0">
                <a:solidFill>
                  <a:srgbClr val="1F2A37"/>
                </a:solidFill>
                <a:latin typeface="Source Han Sans SC"/>
                <a:ea typeface="Source Han Sans SC"/>
                <a:cs typeface="Source Han Sans SC"/>
              </a:rPr>
              <a:t>全部通过</a:t>
            </a:r>
          </a:p>
        </p:txBody>
      </p:sp>
      <p:cxnSp>
        <p:nvCxnSpPr>
          <p:cNvPr id="44" name="Connector 43"/>
          <p:cNvCxnSpPr/>
          <p:nvPr/>
        </p:nvCxnSpPr>
        <p:spPr>
          <a:xfrm>
            <a:off x="981151" y="5650992"/>
            <a:ext cx="5120640"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6430975" y="4517136"/>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577279" y="4434840"/>
            <a:ext cx="4633539"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骨盆　</a:t>
            </a:r>
            <a:r>
              <a:rPr sz="900" b="0" i="0">
                <a:solidFill>
                  <a:srgbClr val="1F2A37"/>
                </a:solidFill>
                <a:latin typeface="Source Han Sans SC"/>
                <a:ea typeface="Source Han Sans SC"/>
                <a:cs typeface="Source Han Sans SC"/>
              </a:rPr>
              <a:t>由整块大板改为开放框架 + 局部角铝转接</a:t>
            </a:r>
          </a:p>
        </p:txBody>
      </p:sp>
      <p:sp>
        <p:nvSpPr>
          <p:cNvPr id="47" name="Rectangle 46"/>
          <p:cNvSpPr/>
          <p:nvPr/>
        </p:nvSpPr>
        <p:spPr>
          <a:xfrm>
            <a:off x="6430975" y="4791456"/>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577279" y="4709160"/>
            <a:ext cx="4633539"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髋腰　</a:t>
            </a:r>
            <a:r>
              <a:rPr sz="900" b="0" i="0">
                <a:solidFill>
                  <a:srgbClr val="1F2A37"/>
                </a:solidFill>
                <a:latin typeface="Source Han Sans SC"/>
                <a:ea typeface="Source Han Sans SC"/>
                <a:cs typeface="Source Han Sans SC"/>
              </a:rPr>
              <a:t>侧摆关节改为前后双侧支承，受力路径连续</a:t>
            </a:r>
          </a:p>
        </p:txBody>
      </p:sp>
      <p:sp>
        <p:nvSpPr>
          <p:cNvPr id="49" name="Rectangle 48"/>
          <p:cNvSpPr/>
          <p:nvPr/>
        </p:nvSpPr>
        <p:spPr>
          <a:xfrm>
            <a:off x="6430975" y="5065776"/>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577279" y="4983480"/>
            <a:ext cx="4633539"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腿部　</a:t>
            </a:r>
            <a:r>
              <a:rPr sz="900" b="0" i="0">
                <a:solidFill>
                  <a:srgbClr val="1F2A37"/>
                </a:solidFill>
                <a:latin typeface="Source Han Sans SC"/>
                <a:ea typeface="Source Han Sans SC"/>
                <a:cs typeface="Source Han Sans SC"/>
              </a:rPr>
              <a:t>大腿后板连续斜撑避开髋部凸起，足板开窗减重</a:t>
            </a:r>
          </a:p>
        </p:txBody>
      </p:sp>
      <p:sp>
        <p:nvSpPr>
          <p:cNvPr id="51" name="Rectangle 50"/>
          <p:cNvSpPr/>
          <p:nvPr/>
        </p:nvSpPr>
        <p:spPr>
          <a:xfrm>
            <a:off x="6430975" y="5340096"/>
            <a:ext cx="41148" cy="4114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577279" y="5257800"/>
            <a:ext cx="4633539" cy="219456"/>
          </a:xfrm>
          <a:prstGeom prst="rect">
            <a:avLst/>
          </a:prstGeom>
          <a:noFill/>
        </p:spPr>
        <p:txBody>
          <a:bodyPr wrap="square" lIns="0" rIns="0" tIns="0" bIns="0" anchor="t">
            <a:spAutoFit/>
          </a:bodyPr>
          <a:lstStyle/>
          <a:p>
            <a:pPr algn="l">
              <a:lnSpc>
                <a:spcPct val="124000"/>
              </a:lnSpc>
            </a:pPr>
            <a:r>
              <a:rPr sz="900" b="0" i="0">
                <a:solidFill>
                  <a:srgbClr val="0A2540"/>
                </a:solidFill>
                <a:latin typeface="Source Han Sans SC Heavy"/>
                <a:ea typeface="Source Han Sans SC Heavy"/>
                <a:cs typeface="Source Han Sans SC Heavy"/>
              </a:rPr>
              <a:t>门禁　</a:t>
            </a:r>
            <a:r>
              <a:rPr sz="900" b="0" i="0">
                <a:solidFill>
                  <a:srgbClr val="1F2A37"/>
                </a:solidFill>
                <a:latin typeface="Source Han Sans SC"/>
                <a:ea typeface="Source Han Sans SC"/>
                <a:cs typeface="Source Han Sans SC"/>
              </a:rPr>
              <a:t>包络、髋距、头顶高度与零位间隙逐项自动校验</a:t>
            </a:r>
          </a:p>
        </p:txBody>
      </p:sp>
      <p:sp>
        <p:nvSpPr>
          <p:cNvPr id="53" name="TextBox 52"/>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同源装配体的 B-rep 干涉求解与抽样构型扫描</a:t>
            </a:r>
          </a:p>
        </p:txBody>
      </p:sp>
      <p:sp>
        <p:nvSpPr>
          <p:cNvPr id="54" name="TextBox 53"/>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55" name="Rectangle 54"/>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Tree>
  </p:cSld>
  <p:clrMapOvr>
    <a:masterClrMapping/>
  </p:clrMapOvr>
  <p:transition spd="med"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04</a:t>
            </a:r>
            <a:r>
              <a:rPr sz="1000" b="0" i="0">
                <a:solidFill>
                  <a:srgbClr val="6B7A8C"/>
                </a:solidFill>
                <a:latin typeface="Source Han Sans SC"/>
                <a:ea typeface="Source Han Sans SC"/>
                <a:cs typeface="Source Han Sans SC"/>
              </a:rPr>
              <a:t>  验证体系与工程路线</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研发路线</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30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研发里程碑与工程落地路线</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按系统工程规范推进：需求与验收准则先行，设计与验证逐级对应，从数字样机稳步走向物理样机。</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29968"/>
            <a:ext cx="10668579" cy="1152144"/>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61695" y="2029968"/>
            <a:ext cx="50292" cy="1152144"/>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17727" y="2121408"/>
            <a:ext cx="5669280" cy="274320"/>
          </a:xfrm>
          <a:prstGeom prst="rect">
            <a:avLst/>
          </a:prstGeom>
          <a:noFill/>
        </p:spPr>
        <p:txBody>
          <a:bodyPr wrap="square" lIns="0" rIns="0" tIns="0" bIns="0" anchor="t">
            <a:spAutoFit/>
          </a:bodyPr>
          <a:lstStyle/>
          <a:p>
            <a:pPr algn="l"/>
            <a:r>
              <a:rPr sz="1100" b="0" i="0">
                <a:solidFill>
                  <a:srgbClr val="1264A3"/>
                </a:solidFill>
                <a:latin typeface="Source Han Sans SC Heavy"/>
                <a:ea typeface="Source Han Sans SC Heavy"/>
                <a:cs typeface="Source Han Sans SC Heavy"/>
              </a:rPr>
              <a:t>阶段一</a:t>
            </a:r>
            <a:r>
              <a:rPr sz="1200" b="0" i="0">
                <a:solidFill>
                  <a:srgbClr val="0A2540"/>
                </a:solidFill>
                <a:latin typeface="Source Han Sans SC Heavy"/>
                <a:ea typeface="Source Han Sans SC Heavy"/>
                <a:cs typeface="Source Han Sans SC Heavy"/>
              </a:rPr>
              <a:t>　数字化设计与算法验证</a:t>
            </a:r>
          </a:p>
        </p:txBody>
      </p:sp>
      <p:sp>
        <p:nvSpPr>
          <p:cNvPr id="13" name="Rectangle 12"/>
          <p:cNvSpPr/>
          <p:nvPr/>
        </p:nvSpPr>
        <p:spPr>
          <a:xfrm>
            <a:off x="10241554" y="2157984"/>
            <a:ext cx="969264" cy="237744"/>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241554" y="2157984"/>
            <a:ext cx="969264" cy="237744"/>
          </a:xfrm>
          <a:prstGeom prst="rect">
            <a:avLst/>
          </a:prstGeom>
          <a:noFill/>
        </p:spPr>
        <p:txBody>
          <a:bodyPr wrap="square" lIns="0" rIns="0" tIns="0" bIns="0" anchor="ctr">
            <a:spAutoFit/>
          </a:bodyPr>
          <a:lstStyle/>
          <a:p>
            <a:pPr algn="ctr"/>
            <a:r>
              <a:rPr sz="950" b="0" i="0">
                <a:solidFill>
                  <a:srgbClr val="FFFFFF"/>
                </a:solidFill>
                <a:latin typeface="Source Han Sans SC Heavy"/>
                <a:ea typeface="Source Han Sans SC Heavy"/>
                <a:cs typeface="Source Han Sans SC Heavy"/>
              </a:rPr>
              <a:t>已达成</a:t>
            </a:r>
          </a:p>
        </p:txBody>
      </p:sp>
      <p:sp>
        <p:nvSpPr>
          <p:cNvPr id="15" name="Rectangle 14"/>
          <p:cNvSpPr/>
          <p:nvPr/>
        </p:nvSpPr>
        <p:spPr>
          <a:xfrm>
            <a:off x="1036015" y="2523744"/>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200607" y="2450592"/>
            <a:ext cx="9882195" cy="237744"/>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完成 20 自由度仿人整机参数化 CAD 建模，1029 件同源装配体几何零相交</a:t>
            </a:r>
          </a:p>
        </p:txBody>
      </p:sp>
      <p:sp>
        <p:nvSpPr>
          <p:cNvPr id="17" name="Rectangle 16"/>
          <p:cNvSpPr/>
          <p:nvPr/>
        </p:nvSpPr>
        <p:spPr>
          <a:xfrm>
            <a:off x="1036015" y="2743200"/>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200607" y="2670048"/>
            <a:ext cx="9882195" cy="237744"/>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全离线端侧算法栈开发完成：699 项软件单元测试 + 41 项运动学离线测试通过</a:t>
            </a:r>
          </a:p>
        </p:txBody>
      </p:sp>
      <p:sp>
        <p:nvSpPr>
          <p:cNvPr id="19" name="Rectangle 18"/>
          <p:cNvSpPr/>
          <p:nvPr/>
        </p:nvSpPr>
        <p:spPr>
          <a:xfrm>
            <a:off x="1036015" y="2962656"/>
            <a:ext cx="45720" cy="45720"/>
          </a:xfrm>
          <a:prstGeom prst="rect">
            <a:avLst/>
          </a:prstGeom>
          <a:solidFill>
            <a:srgbClr val="2E9E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200607" y="2889504"/>
            <a:ext cx="9882195" cy="237744"/>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建立《整机研发指标与测试验收大纲》，覆盖几何、承载、电气与任务四类准则</a:t>
            </a:r>
          </a:p>
        </p:txBody>
      </p:sp>
      <p:sp>
        <p:nvSpPr>
          <p:cNvPr id="21" name="Rectangle 20"/>
          <p:cNvSpPr/>
          <p:nvPr/>
        </p:nvSpPr>
        <p:spPr>
          <a:xfrm>
            <a:off x="761695" y="3291840"/>
            <a:ext cx="10668579" cy="1152144"/>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61695" y="3291840"/>
            <a:ext cx="50292" cy="115214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17727" y="3383280"/>
            <a:ext cx="5669280" cy="274320"/>
          </a:xfrm>
          <a:prstGeom prst="rect">
            <a:avLst/>
          </a:prstGeom>
          <a:noFill/>
        </p:spPr>
        <p:txBody>
          <a:bodyPr wrap="square" lIns="0" rIns="0" tIns="0" bIns="0" anchor="t">
            <a:spAutoFit/>
          </a:bodyPr>
          <a:lstStyle/>
          <a:p>
            <a:pPr algn="l"/>
            <a:r>
              <a:rPr sz="1100" b="0" i="0">
                <a:solidFill>
                  <a:srgbClr val="1264A3"/>
                </a:solidFill>
                <a:latin typeface="Source Han Sans SC Heavy"/>
                <a:ea typeface="Source Han Sans SC Heavy"/>
                <a:cs typeface="Source Han Sans SC Heavy"/>
              </a:rPr>
              <a:t>阶段二</a:t>
            </a:r>
            <a:r>
              <a:rPr sz="1200" b="0" i="0">
                <a:solidFill>
                  <a:srgbClr val="0A2540"/>
                </a:solidFill>
                <a:latin typeface="Source Han Sans SC Heavy"/>
                <a:ea typeface="Source Han Sans SC Heavy"/>
                <a:cs typeface="Source Han Sans SC Heavy"/>
              </a:rPr>
              <a:t>　物理样机试制与联合调试</a:t>
            </a:r>
          </a:p>
        </p:txBody>
      </p:sp>
      <p:sp>
        <p:nvSpPr>
          <p:cNvPr id="24" name="Rectangle 23"/>
          <p:cNvSpPr/>
          <p:nvPr/>
        </p:nvSpPr>
        <p:spPr>
          <a:xfrm>
            <a:off x="10241554" y="3419856"/>
            <a:ext cx="969264" cy="23774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241554" y="3419856"/>
            <a:ext cx="969264" cy="237744"/>
          </a:xfrm>
          <a:prstGeom prst="rect">
            <a:avLst/>
          </a:prstGeom>
          <a:noFill/>
        </p:spPr>
        <p:txBody>
          <a:bodyPr wrap="square" lIns="0" rIns="0" tIns="0" bIns="0" anchor="ctr">
            <a:spAutoFit/>
          </a:bodyPr>
          <a:lstStyle/>
          <a:p>
            <a:pPr algn="ctr"/>
            <a:r>
              <a:rPr sz="950" b="0" i="0">
                <a:solidFill>
                  <a:srgbClr val="FFFFFF"/>
                </a:solidFill>
                <a:latin typeface="Source Han Sans SC Heavy"/>
                <a:ea typeface="Source Han Sans SC Heavy"/>
                <a:cs typeface="Source Han Sans SC Heavy"/>
              </a:rPr>
              <a:t>进行中</a:t>
            </a:r>
          </a:p>
        </p:txBody>
      </p:sp>
      <p:sp>
        <p:nvSpPr>
          <p:cNvPr id="26" name="Rectangle 25"/>
          <p:cNvSpPr/>
          <p:nvPr/>
        </p:nvSpPr>
        <p:spPr>
          <a:xfrm>
            <a:off x="1036015" y="3785615"/>
            <a:ext cx="45720" cy="4572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200607" y="3712464"/>
            <a:ext cx="9882195" cy="237744"/>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铝件激光下料与 PETG 定向打印备料，高精度总成装配与走线</a:t>
            </a:r>
          </a:p>
        </p:txBody>
      </p:sp>
      <p:sp>
        <p:nvSpPr>
          <p:cNvPr id="28" name="Rectangle 27"/>
          <p:cNvSpPr/>
          <p:nvPr/>
        </p:nvSpPr>
        <p:spPr>
          <a:xfrm>
            <a:off x="1036015" y="4005072"/>
            <a:ext cx="45720" cy="4572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200607" y="3931920"/>
            <a:ext cx="9882195" cy="237744"/>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建立执行器测试台架，实测连续扭矩、温升与堵转曲线</a:t>
            </a:r>
          </a:p>
        </p:txBody>
      </p:sp>
      <p:sp>
        <p:nvSpPr>
          <p:cNvPr id="30" name="Rectangle 29"/>
          <p:cNvSpPr/>
          <p:nvPr/>
        </p:nvSpPr>
        <p:spPr>
          <a:xfrm>
            <a:off x="1036015" y="4224528"/>
            <a:ext cx="45720" cy="4572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200607" y="4151376"/>
            <a:ext cx="9882195" cy="237744"/>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标定相机内参、夹爪容差与关节零位/方向，打通端侧半双工总线</a:t>
            </a:r>
          </a:p>
        </p:txBody>
      </p:sp>
      <p:sp>
        <p:nvSpPr>
          <p:cNvPr id="32" name="Rectangle 31"/>
          <p:cNvSpPr/>
          <p:nvPr/>
        </p:nvSpPr>
        <p:spPr>
          <a:xfrm>
            <a:off x="761695" y="4553712"/>
            <a:ext cx="10668579" cy="93268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761695" y="4553712"/>
            <a:ext cx="50292" cy="932688"/>
          </a:xfrm>
          <a:prstGeom prst="rect">
            <a:avLst/>
          </a:prstGeom>
          <a:solidFill>
            <a:srgbClr val="6B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017727" y="4645152"/>
            <a:ext cx="5669280" cy="274320"/>
          </a:xfrm>
          <a:prstGeom prst="rect">
            <a:avLst/>
          </a:prstGeom>
          <a:noFill/>
        </p:spPr>
        <p:txBody>
          <a:bodyPr wrap="square" lIns="0" rIns="0" tIns="0" bIns="0" anchor="t">
            <a:spAutoFit/>
          </a:bodyPr>
          <a:lstStyle/>
          <a:p>
            <a:pPr algn="l"/>
            <a:r>
              <a:rPr sz="1100" b="0" i="0">
                <a:solidFill>
                  <a:srgbClr val="1264A3"/>
                </a:solidFill>
                <a:latin typeface="Source Han Sans SC Heavy"/>
                <a:ea typeface="Source Han Sans SC Heavy"/>
                <a:cs typeface="Source Han Sans SC Heavy"/>
              </a:rPr>
              <a:t>阶段三</a:t>
            </a:r>
            <a:r>
              <a:rPr sz="1200" b="0" i="0">
                <a:solidFill>
                  <a:srgbClr val="0A2540"/>
                </a:solidFill>
                <a:latin typeface="Source Han Sans SC Heavy"/>
                <a:ea typeface="Source Han Sans SC Heavy"/>
                <a:cs typeface="Source Han Sans SC Heavy"/>
              </a:rPr>
              <a:t>　赛务场景实测与性能闭环</a:t>
            </a:r>
          </a:p>
        </p:txBody>
      </p:sp>
      <p:sp>
        <p:nvSpPr>
          <p:cNvPr id="35" name="Rectangle 34"/>
          <p:cNvSpPr/>
          <p:nvPr/>
        </p:nvSpPr>
        <p:spPr>
          <a:xfrm>
            <a:off x="10241554" y="4681728"/>
            <a:ext cx="969264" cy="237744"/>
          </a:xfrm>
          <a:prstGeom prst="rect">
            <a:avLst/>
          </a:prstGeom>
          <a:solidFill>
            <a:srgbClr val="6B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241554" y="4681728"/>
            <a:ext cx="969264" cy="237744"/>
          </a:xfrm>
          <a:prstGeom prst="rect">
            <a:avLst/>
          </a:prstGeom>
          <a:noFill/>
        </p:spPr>
        <p:txBody>
          <a:bodyPr wrap="square" lIns="0" rIns="0" tIns="0" bIns="0" anchor="ctr">
            <a:spAutoFit/>
          </a:bodyPr>
          <a:lstStyle/>
          <a:p>
            <a:pPr algn="ctr"/>
            <a:r>
              <a:rPr sz="950" b="0" i="0">
                <a:solidFill>
                  <a:srgbClr val="FFFFFF"/>
                </a:solidFill>
                <a:latin typeface="Source Han Sans SC Heavy"/>
                <a:ea typeface="Source Han Sans SC Heavy"/>
                <a:cs typeface="Source Han Sans SC Heavy"/>
              </a:rPr>
              <a:t>规划中</a:t>
            </a:r>
          </a:p>
        </p:txBody>
      </p:sp>
      <p:sp>
        <p:nvSpPr>
          <p:cNvPr id="37" name="Rectangle 36"/>
          <p:cNvSpPr/>
          <p:nvPr/>
        </p:nvSpPr>
        <p:spPr>
          <a:xfrm>
            <a:off x="1036015" y="5047488"/>
            <a:ext cx="45720" cy="45720"/>
          </a:xfrm>
          <a:prstGeom prst="rect">
            <a:avLst/>
          </a:prstGeom>
          <a:solidFill>
            <a:srgbClr val="6B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200607" y="4974336"/>
            <a:ext cx="9882195" cy="237744"/>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现场光照条件下重跑感知评测，实机闭环验证搬运、踢球与动态步态</a:t>
            </a:r>
          </a:p>
        </p:txBody>
      </p:sp>
      <p:sp>
        <p:nvSpPr>
          <p:cNvPr id="39" name="Rectangle 38"/>
          <p:cNvSpPr/>
          <p:nvPr/>
        </p:nvSpPr>
        <p:spPr>
          <a:xfrm>
            <a:off x="1036015" y="5266944"/>
            <a:ext cx="45720" cy="45720"/>
          </a:xfrm>
          <a:prstGeom prst="rect">
            <a:avLst/>
          </a:prstGeom>
          <a:solidFill>
            <a:srgbClr val="6B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200607" y="5193792"/>
            <a:ext cx="9882195" cy="237744"/>
          </a:xfrm>
          <a:prstGeom prst="rect">
            <a:avLst/>
          </a:prstGeom>
          <a:noFill/>
        </p:spPr>
        <p:txBody>
          <a:bodyPr wrap="square" lIns="0" rIns="0" tIns="0" bIns="0" anchor="t">
            <a:spAutoFit/>
          </a:bodyPr>
          <a:lstStyle/>
          <a:p>
            <a:pPr algn="l"/>
            <a:r>
              <a:rPr sz="950" b="0" i="0">
                <a:solidFill>
                  <a:srgbClr val="1F2A37"/>
                </a:solidFill>
                <a:latin typeface="Source Han Sans SC"/>
                <a:ea typeface="Source Han Sans SC"/>
                <a:cs typeface="Source Han Sans SC"/>
              </a:rPr>
              <a:t>优化电源与充放电策略，达成持续巡航作业目标</a:t>
            </a:r>
          </a:p>
        </p:txBody>
      </p:sp>
      <p:sp>
        <p:nvSpPr>
          <p:cNvPr id="41" name="TextBox 40"/>
          <p:cNvSpPr txBox="1"/>
          <p:nvPr/>
        </p:nvSpPr>
        <p:spPr>
          <a:xfrm>
            <a:off x="761695" y="5614416"/>
            <a:ext cx="10668579" cy="219456"/>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阶段划分与验收准则一一对应：每一项能力都先写清判据与测量方法，再进入实现，避免「先做出演示、再补指标」的常见倒置。</a:t>
            </a:r>
          </a:p>
        </p:txBody>
      </p:sp>
      <p:sp>
        <p:nvSpPr>
          <p:cNvPr id="42" name="TextBox 41"/>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43" name="Rectangle 42"/>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45" name="Rectangle 44"/>
          <p:cNvSpPr/>
          <p:nvPr/>
        </p:nvSpPr>
        <p:spPr>
          <a:xfrm>
            <a:off x="244723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53867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
        <p:nvSpPr>
          <p:cNvPr id="47" name="Rectangle 46"/>
          <p:cNvSpPr/>
          <p:nvPr/>
        </p:nvSpPr>
        <p:spPr>
          <a:xfrm>
            <a:off x="3364687"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456127" y="6016752"/>
            <a:ext cx="624840" cy="237744"/>
          </a:xfrm>
          <a:prstGeom prst="rect">
            <a:avLst/>
          </a:prstGeom>
          <a:noFill/>
        </p:spPr>
        <p:txBody>
          <a:bodyPr wrap="square" lIns="0" rIns="0" tIns="0" bIns="0" anchor="ctr">
            <a:spAutoFit/>
          </a:bodyPr>
          <a:lstStyle/>
          <a:p>
            <a:pPr algn="l"/>
            <a:r>
              <a:rPr sz="1050" b="0" i="0">
                <a:solidFill>
                  <a:srgbClr val="6B7A8C"/>
                </a:solidFill>
                <a:latin typeface="Source Han Sans SC Heavy"/>
                <a:ea typeface="Source Han Sans SC Heavy"/>
                <a:cs typeface="Source Han Sans SC Heavy"/>
              </a:rPr>
              <a:t>○</a:t>
            </a:r>
            <a:r>
              <a:rPr sz="1050" b="0" i="0">
                <a:solidFill>
                  <a:srgbClr val="6B7A8C"/>
                </a:solidFill>
                <a:latin typeface="Source Han Sans SC"/>
                <a:ea typeface="Source Han Sans SC"/>
                <a:cs typeface="Source Han Sans SC"/>
              </a:rPr>
              <a:t> 规划中</a:t>
            </a:r>
          </a:p>
        </p:txBody>
      </p:sp>
    </p:spTree>
  </p:cSld>
  <p:clrMapOvr>
    <a:masterClrMapping/>
  </p:clrMapOvr>
  <p:transition spd="med"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04</a:t>
            </a:r>
            <a:r>
              <a:rPr sz="1000" b="0" i="0">
                <a:solidFill>
                  <a:srgbClr val="6B7A8C"/>
                </a:solidFill>
                <a:latin typeface="Source Han Sans SC"/>
                <a:ea typeface="Source Han Sans SC"/>
                <a:cs typeface="Source Han Sans SC"/>
              </a:rPr>
              <a:t>  验证体系与工程路线</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4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31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整机研发指标与测试验收大纲</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验收大纲覆盖几何、承载、电气与任务四类准则，每条准则都给出判据与测量方法。</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2529984" cy="29260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89711" y="2048256"/>
            <a:ext cx="2273952" cy="292608"/>
          </a:xfrm>
          <a:prstGeom prst="rect">
            <a:avLst/>
          </a:prstGeom>
          <a:noFill/>
        </p:spPr>
        <p:txBody>
          <a:bodyPr wrap="square" lIns="0" rIns="0" tIns="0" bIns="0" anchor="ctr">
            <a:spAutoFit/>
          </a:bodyPr>
          <a:lstStyle/>
          <a:p>
            <a:pPr algn="l"/>
            <a:r>
              <a:rPr sz="1050" b="0" i="0">
                <a:solidFill>
                  <a:srgbClr val="FFFFFF"/>
                </a:solidFill>
                <a:latin typeface="Source Han Sans SC Heavy"/>
                <a:ea typeface="Source Han Sans SC Heavy"/>
                <a:cs typeface="Source Han Sans SC Heavy"/>
              </a:rPr>
              <a:t>几何与合规</a:t>
            </a:r>
          </a:p>
        </p:txBody>
      </p:sp>
      <p:sp>
        <p:nvSpPr>
          <p:cNvPr id="12" name="Rectangle 11"/>
          <p:cNvSpPr/>
          <p:nvPr/>
        </p:nvSpPr>
        <p:spPr>
          <a:xfrm>
            <a:off x="779983" y="2523744"/>
            <a:ext cx="45720" cy="4572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26287" y="2441448"/>
            <a:ext cx="2310528" cy="822960"/>
          </a:xfrm>
          <a:prstGeom prst="rect">
            <a:avLst/>
          </a:prstGeom>
          <a:noFill/>
        </p:spPr>
        <p:txBody>
          <a:bodyPr wrap="square" lIns="0" rIns="0" tIns="0" bIns="0" anchor="t">
            <a:spAutoFit/>
          </a:bodyPr>
          <a:lstStyle/>
          <a:p>
            <a:pPr algn="l">
              <a:lnSpc>
                <a:spcPct val="126000"/>
              </a:lnSpc>
            </a:pPr>
            <a:r>
              <a:rPr sz="900" b="0" i="0">
                <a:solidFill>
                  <a:srgbClr val="1F2A37"/>
                </a:solidFill>
                <a:latin typeface="Source Han Sans SC"/>
                <a:ea typeface="Source Han Sans SC"/>
                <a:cs typeface="Source Han Sans SC"/>
              </a:rPr>
              <a:t>整机包络 ≤600×300×300 mm；自由度总数 ≥18、单腿 ≥4、上肢+躯干 ≥10</a:t>
            </a:r>
          </a:p>
        </p:txBody>
      </p:sp>
      <p:sp>
        <p:nvSpPr>
          <p:cNvPr id="14" name="Rectangle 13"/>
          <p:cNvSpPr/>
          <p:nvPr/>
        </p:nvSpPr>
        <p:spPr>
          <a:xfrm>
            <a:off x="779983" y="3493008"/>
            <a:ext cx="45720" cy="4572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26287" y="3410712"/>
            <a:ext cx="2310528" cy="822960"/>
          </a:xfrm>
          <a:prstGeom prst="rect">
            <a:avLst/>
          </a:prstGeom>
          <a:noFill/>
        </p:spPr>
        <p:txBody>
          <a:bodyPr wrap="square" lIns="0" rIns="0" tIns="0" bIns="0" anchor="t">
            <a:spAutoFit/>
          </a:bodyPr>
          <a:lstStyle/>
          <a:p>
            <a:pPr algn="l">
              <a:lnSpc>
                <a:spcPct val="126000"/>
              </a:lnSpc>
            </a:pPr>
            <a:r>
              <a:rPr sz="900" b="0" i="0">
                <a:solidFill>
                  <a:srgbClr val="1F2A37"/>
                </a:solidFill>
                <a:latin typeface="Source Han Sans SC"/>
                <a:ea typeface="Source Han Sans SC"/>
                <a:cs typeface="Source Han Sans SC"/>
              </a:rPr>
              <a:t>供电电压 ≥7.4 V；关节限位与固件配置同源，越界输入一律拒绝</a:t>
            </a:r>
          </a:p>
        </p:txBody>
      </p:sp>
      <p:sp>
        <p:nvSpPr>
          <p:cNvPr id="16" name="Rectangle 15"/>
          <p:cNvSpPr/>
          <p:nvPr/>
        </p:nvSpPr>
        <p:spPr>
          <a:xfrm>
            <a:off x="3474559" y="2048256"/>
            <a:ext cx="2529984" cy="29260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602575" y="2048256"/>
            <a:ext cx="2273952" cy="292608"/>
          </a:xfrm>
          <a:prstGeom prst="rect">
            <a:avLst/>
          </a:prstGeom>
          <a:noFill/>
        </p:spPr>
        <p:txBody>
          <a:bodyPr wrap="square" lIns="0" rIns="0" tIns="0" bIns="0" anchor="ctr">
            <a:spAutoFit/>
          </a:bodyPr>
          <a:lstStyle/>
          <a:p>
            <a:pPr algn="l"/>
            <a:r>
              <a:rPr sz="1050" b="0" i="0">
                <a:solidFill>
                  <a:srgbClr val="FFFFFF"/>
                </a:solidFill>
                <a:latin typeface="Source Han Sans SC Heavy"/>
                <a:ea typeface="Source Han Sans SC Heavy"/>
                <a:cs typeface="Source Han Sans SC Heavy"/>
              </a:rPr>
              <a:t>结构承载</a:t>
            </a:r>
          </a:p>
        </p:txBody>
      </p:sp>
      <p:sp>
        <p:nvSpPr>
          <p:cNvPr id="18" name="Rectangle 17"/>
          <p:cNvSpPr/>
          <p:nvPr/>
        </p:nvSpPr>
        <p:spPr>
          <a:xfrm>
            <a:off x="3492847" y="2523744"/>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39151" y="2441448"/>
            <a:ext cx="2310528" cy="822960"/>
          </a:xfrm>
          <a:prstGeom prst="rect">
            <a:avLst/>
          </a:prstGeom>
          <a:noFill/>
        </p:spPr>
        <p:txBody>
          <a:bodyPr wrap="square" lIns="0" rIns="0" tIns="0" bIns="0" anchor="t">
            <a:spAutoFit/>
          </a:bodyPr>
          <a:lstStyle/>
          <a:p>
            <a:pPr algn="l">
              <a:lnSpc>
                <a:spcPct val="126000"/>
              </a:lnSpc>
            </a:pPr>
            <a:r>
              <a:rPr sz="900" b="0" i="0">
                <a:solidFill>
                  <a:srgbClr val="1F2A37"/>
                </a:solidFill>
                <a:latin typeface="Source Han Sans SC"/>
                <a:ea typeface="Source Han Sans SC"/>
                <a:cs typeface="Source Han Sans SC"/>
              </a:rPr>
              <a:t>行走工况关节利用率 ≤85%；极限保持工况经降额与助力后不超连续额定</a:t>
            </a:r>
          </a:p>
        </p:txBody>
      </p:sp>
      <p:sp>
        <p:nvSpPr>
          <p:cNvPr id="20" name="Rectangle 19"/>
          <p:cNvSpPr/>
          <p:nvPr/>
        </p:nvSpPr>
        <p:spPr>
          <a:xfrm>
            <a:off x="3492847" y="3493008"/>
            <a:ext cx="45720" cy="45720"/>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39151" y="3410712"/>
            <a:ext cx="2310528" cy="822960"/>
          </a:xfrm>
          <a:prstGeom prst="rect">
            <a:avLst/>
          </a:prstGeom>
          <a:noFill/>
        </p:spPr>
        <p:txBody>
          <a:bodyPr wrap="square" lIns="0" rIns="0" tIns="0" bIns="0" anchor="t">
            <a:spAutoFit/>
          </a:bodyPr>
          <a:lstStyle/>
          <a:p>
            <a:pPr algn="l">
              <a:lnSpc>
                <a:spcPct val="126000"/>
              </a:lnSpc>
            </a:pPr>
            <a:r>
              <a:rPr sz="900" b="0" i="0">
                <a:solidFill>
                  <a:srgbClr val="1F2A37"/>
                </a:solidFill>
                <a:latin typeface="Source Han Sans SC"/>
                <a:ea typeface="Source Han Sans SC"/>
                <a:cs typeface="Source Han Sans SC"/>
              </a:rPr>
              <a:t>臂载 100 g 峰值 ≤70% 额定；夹具滑移与蠕变经台架验证</a:t>
            </a:r>
          </a:p>
        </p:txBody>
      </p:sp>
      <p:sp>
        <p:nvSpPr>
          <p:cNvPr id="22" name="Rectangle 21"/>
          <p:cNvSpPr/>
          <p:nvPr/>
        </p:nvSpPr>
        <p:spPr>
          <a:xfrm>
            <a:off x="6187424" y="2048256"/>
            <a:ext cx="2529984" cy="292608"/>
          </a:xfrm>
          <a:prstGeom prst="rect">
            <a:avLst/>
          </a:prstGeom>
          <a:solidFill>
            <a:srgbClr val="2E6E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15440" y="2048256"/>
            <a:ext cx="2273952" cy="292608"/>
          </a:xfrm>
          <a:prstGeom prst="rect">
            <a:avLst/>
          </a:prstGeom>
          <a:noFill/>
        </p:spPr>
        <p:txBody>
          <a:bodyPr wrap="square" lIns="0" rIns="0" tIns="0" bIns="0" anchor="ctr">
            <a:spAutoFit/>
          </a:bodyPr>
          <a:lstStyle/>
          <a:p>
            <a:pPr algn="l"/>
            <a:r>
              <a:rPr sz="1050" b="0" i="0">
                <a:solidFill>
                  <a:srgbClr val="FFFFFF"/>
                </a:solidFill>
                <a:latin typeface="Source Han Sans SC Heavy"/>
                <a:ea typeface="Source Han Sans SC Heavy"/>
                <a:cs typeface="Source Han Sans SC Heavy"/>
              </a:rPr>
              <a:t>电气与热</a:t>
            </a:r>
          </a:p>
        </p:txBody>
      </p:sp>
      <p:sp>
        <p:nvSpPr>
          <p:cNvPr id="24" name="Rectangle 23"/>
          <p:cNvSpPr/>
          <p:nvPr/>
        </p:nvSpPr>
        <p:spPr>
          <a:xfrm>
            <a:off x="6205712" y="2523744"/>
            <a:ext cx="45720" cy="45720"/>
          </a:xfrm>
          <a:prstGeom prst="rect">
            <a:avLst/>
          </a:prstGeom>
          <a:solidFill>
            <a:srgbClr val="2E6E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352016" y="2441448"/>
            <a:ext cx="2310528" cy="822960"/>
          </a:xfrm>
          <a:prstGeom prst="rect">
            <a:avLst/>
          </a:prstGeom>
          <a:noFill/>
        </p:spPr>
        <p:txBody>
          <a:bodyPr wrap="square" lIns="0" rIns="0" tIns="0" bIns="0" anchor="t">
            <a:spAutoFit/>
          </a:bodyPr>
          <a:lstStyle/>
          <a:p>
            <a:pPr algn="l">
              <a:lnSpc>
                <a:spcPct val="126000"/>
              </a:lnSpc>
            </a:pPr>
            <a:r>
              <a:rPr sz="900" b="0" i="0">
                <a:solidFill>
                  <a:srgbClr val="1F2A37"/>
                </a:solidFill>
                <a:latin typeface="Source Han Sans SC"/>
                <a:ea typeface="Source Han Sans SC"/>
                <a:cs typeface="Source Han Sans SC"/>
              </a:rPr>
              <a:t>执行器在 0.8 / 1.0 / 1.2 N·m 循环 30 min，壳温 ≤65 ℃</a:t>
            </a:r>
          </a:p>
        </p:txBody>
      </p:sp>
      <p:sp>
        <p:nvSpPr>
          <p:cNvPr id="26" name="Rectangle 25"/>
          <p:cNvSpPr/>
          <p:nvPr/>
        </p:nvSpPr>
        <p:spPr>
          <a:xfrm>
            <a:off x="6205712" y="3493008"/>
            <a:ext cx="45720" cy="45720"/>
          </a:xfrm>
          <a:prstGeom prst="rect">
            <a:avLst/>
          </a:prstGeom>
          <a:solidFill>
            <a:srgbClr val="2E6E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2016" y="3410712"/>
            <a:ext cx="2310528" cy="822960"/>
          </a:xfrm>
          <a:prstGeom prst="rect">
            <a:avLst/>
          </a:prstGeom>
          <a:noFill/>
        </p:spPr>
        <p:txBody>
          <a:bodyPr wrap="square" lIns="0" rIns="0" tIns="0" bIns="0" anchor="t">
            <a:spAutoFit/>
          </a:bodyPr>
          <a:lstStyle/>
          <a:p>
            <a:pPr algn="l">
              <a:lnSpc>
                <a:spcPct val="126000"/>
              </a:lnSpc>
            </a:pPr>
            <a:r>
              <a:rPr sz="900" b="0" i="0">
                <a:solidFill>
                  <a:srgbClr val="1F2A37"/>
                </a:solidFill>
                <a:latin typeface="Source Han Sans SC"/>
                <a:ea typeface="Source Han Sans SC"/>
                <a:cs typeface="Source Han Sans SC"/>
              </a:rPr>
              <a:t>总线同步写冲击、线束温升与保护阈值逐项实测</a:t>
            </a:r>
          </a:p>
        </p:txBody>
      </p:sp>
      <p:sp>
        <p:nvSpPr>
          <p:cNvPr id="28" name="Rectangle 27"/>
          <p:cNvSpPr/>
          <p:nvPr/>
        </p:nvSpPr>
        <p:spPr>
          <a:xfrm>
            <a:off x="8900289" y="2048256"/>
            <a:ext cx="2529984" cy="292608"/>
          </a:xfrm>
          <a:prstGeom prst="rect">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028305" y="2048256"/>
            <a:ext cx="2273952" cy="292608"/>
          </a:xfrm>
          <a:prstGeom prst="rect">
            <a:avLst/>
          </a:prstGeom>
          <a:noFill/>
        </p:spPr>
        <p:txBody>
          <a:bodyPr wrap="square" lIns="0" rIns="0" tIns="0" bIns="0" anchor="ctr">
            <a:spAutoFit/>
          </a:bodyPr>
          <a:lstStyle/>
          <a:p>
            <a:pPr algn="l"/>
            <a:r>
              <a:rPr sz="1050" b="0" i="0">
                <a:solidFill>
                  <a:srgbClr val="FFFFFF"/>
                </a:solidFill>
                <a:latin typeface="Source Han Sans SC Heavy"/>
                <a:ea typeface="Source Han Sans SC Heavy"/>
                <a:cs typeface="Source Han Sans SC Heavy"/>
              </a:rPr>
              <a:t>软件与任务</a:t>
            </a:r>
          </a:p>
        </p:txBody>
      </p:sp>
      <p:sp>
        <p:nvSpPr>
          <p:cNvPr id="30" name="Rectangle 29"/>
          <p:cNvSpPr/>
          <p:nvPr/>
        </p:nvSpPr>
        <p:spPr>
          <a:xfrm>
            <a:off x="8918577" y="2523744"/>
            <a:ext cx="45720" cy="45720"/>
          </a:xfrm>
          <a:prstGeom prst="rect">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064881" y="2441448"/>
            <a:ext cx="2310528" cy="822960"/>
          </a:xfrm>
          <a:prstGeom prst="rect">
            <a:avLst/>
          </a:prstGeom>
          <a:noFill/>
        </p:spPr>
        <p:txBody>
          <a:bodyPr wrap="square" lIns="0" rIns="0" tIns="0" bIns="0" anchor="t">
            <a:spAutoFit/>
          </a:bodyPr>
          <a:lstStyle/>
          <a:p>
            <a:pPr algn="l">
              <a:lnSpc>
                <a:spcPct val="126000"/>
              </a:lnSpc>
            </a:pPr>
            <a:r>
              <a:rPr sz="900" b="0" i="0">
                <a:solidFill>
                  <a:srgbClr val="1F2A37"/>
                </a:solidFill>
                <a:latin typeface="Source Han Sans SC"/>
                <a:ea typeface="Source Han Sans SC"/>
                <a:cs typeface="Source Han Sans SC"/>
              </a:rPr>
              <a:t>单元测试全通过；任务卡 5/5 闭环；拒识与失败熔断按契约生效</a:t>
            </a:r>
          </a:p>
        </p:txBody>
      </p:sp>
      <p:sp>
        <p:nvSpPr>
          <p:cNvPr id="32" name="Rectangle 31"/>
          <p:cNvSpPr/>
          <p:nvPr/>
        </p:nvSpPr>
        <p:spPr>
          <a:xfrm>
            <a:off x="8918577" y="3493008"/>
            <a:ext cx="45720" cy="45720"/>
          </a:xfrm>
          <a:prstGeom prst="rect">
            <a:avLst/>
          </a:prstGeom>
          <a:solidFill>
            <a:srgbClr val="3D7E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064881" y="3410712"/>
            <a:ext cx="2310528" cy="822960"/>
          </a:xfrm>
          <a:prstGeom prst="rect">
            <a:avLst/>
          </a:prstGeom>
          <a:noFill/>
        </p:spPr>
        <p:txBody>
          <a:bodyPr wrap="square" lIns="0" rIns="0" tIns="0" bIns="0" anchor="t">
            <a:spAutoFit/>
          </a:bodyPr>
          <a:lstStyle/>
          <a:p>
            <a:pPr algn="l">
              <a:lnSpc>
                <a:spcPct val="126000"/>
              </a:lnSpc>
            </a:pPr>
            <a:r>
              <a:rPr sz="900" b="0" i="0">
                <a:solidFill>
                  <a:srgbClr val="1F2A37"/>
                </a:solidFill>
                <a:latin typeface="Source Han Sans SC"/>
                <a:ea typeface="Source Han Sans SC"/>
                <a:cs typeface="Source Han Sans SC"/>
              </a:rPr>
              <a:t>实机抓取成功率 ≥80%、踢球成功率 ≥70%；单次满电离线运行 ≥30 min</a:t>
            </a:r>
          </a:p>
        </p:txBody>
      </p:sp>
      <p:sp>
        <p:nvSpPr>
          <p:cNvPr id="34" name="Rectangle 33"/>
          <p:cNvSpPr/>
          <p:nvPr/>
        </p:nvSpPr>
        <p:spPr>
          <a:xfrm>
            <a:off x="761695" y="4443984"/>
            <a:ext cx="10668579" cy="1097280"/>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81151" y="4572000"/>
            <a:ext cx="10229667" cy="256032"/>
          </a:xfrm>
          <a:prstGeom prst="rect">
            <a:avLst/>
          </a:prstGeom>
          <a:noFill/>
        </p:spPr>
        <p:txBody>
          <a:bodyPr wrap="square" lIns="0" rIns="0" tIns="0" bIns="0" anchor="t">
            <a:spAutoFit/>
          </a:bodyPr>
          <a:lstStyle/>
          <a:p>
            <a:pPr algn="l"/>
            <a:r>
              <a:rPr sz="1150" b="0" i="0">
                <a:solidFill>
                  <a:srgbClr val="0A2540"/>
                </a:solidFill>
                <a:latin typeface="Source Han Sans SC Heavy"/>
                <a:ea typeface="Source Han Sans SC Heavy"/>
                <a:cs typeface="Source Han Sans SC Heavy"/>
              </a:rPr>
              <a:t>大纲的作用</a:t>
            </a:r>
          </a:p>
        </p:txBody>
      </p:sp>
      <p:sp>
        <p:nvSpPr>
          <p:cNvPr id="36" name="TextBox 35"/>
          <p:cNvSpPr txBox="1"/>
          <p:nvPr/>
        </p:nvSpPr>
        <p:spPr>
          <a:xfrm>
            <a:off x="981151" y="4864608"/>
            <a:ext cx="10229667" cy="566928"/>
          </a:xfrm>
          <a:prstGeom prst="rect">
            <a:avLst/>
          </a:prstGeom>
          <a:noFill/>
        </p:spPr>
        <p:txBody>
          <a:bodyPr wrap="square" lIns="0" rIns="0" tIns="0" bIns="0" anchor="t">
            <a:spAutoFit/>
          </a:bodyPr>
          <a:lstStyle/>
          <a:p>
            <a:pPr algn="l">
              <a:lnSpc>
                <a:spcPct val="130000"/>
              </a:lnSpc>
            </a:pPr>
            <a:r>
              <a:rPr sz="950" b="0" i="0">
                <a:solidFill>
                  <a:srgbClr val="1F2A37"/>
                </a:solidFill>
                <a:latin typeface="Source Han Sans SC"/>
                <a:ea typeface="Source Han Sans SC"/>
                <a:cs typeface="Source Han Sans SC"/>
              </a:rPr>
              <a:t>把「能做到什么程度」变成一份可勾选的清单：设计阶段逐条对应判据，样机到位后按同一份清单逐项闭合，任何一项的结论都能追溯到测量方法与数据来源。评审现场可以按这份大纲追问任意一条的实现状态。</a:t>
            </a:r>
          </a:p>
        </p:txBody>
      </p:sp>
      <p:sp>
        <p:nvSpPr>
          <p:cNvPr id="37" name="TextBox 36"/>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验收准则与判据引自整机研发指标与测试验收大纲</a:t>
            </a:r>
          </a:p>
        </p:txBody>
      </p:sp>
      <p:sp>
        <p:nvSpPr>
          <p:cNvPr id="38" name="TextBox 37"/>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39" name="Rectangle 38"/>
          <p:cNvSpPr/>
          <p:nvPr/>
        </p:nvSpPr>
        <p:spPr>
          <a:xfrm>
            <a:off x="1529791" y="6016752"/>
            <a:ext cx="90449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621231" y="6016752"/>
            <a:ext cx="758190" cy="237744"/>
          </a:xfrm>
          <a:prstGeom prst="rect">
            <a:avLst/>
          </a:prstGeom>
          <a:noFill/>
        </p:spPr>
        <p:txBody>
          <a:bodyPr wrap="square" lIns="0" rIns="0" tIns="0" bIns="0" anchor="ctr">
            <a:spAutoFit/>
          </a:bodyPr>
          <a:lstStyle/>
          <a:p>
            <a:pPr algn="l"/>
            <a:r>
              <a:rPr sz="1050" b="0" i="0">
                <a:solidFill>
                  <a:srgbClr val="1264A3"/>
                </a:solidFill>
                <a:latin typeface="Source Han Sans SC Heavy"/>
                <a:ea typeface="Source Han Sans SC Heavy"/>
                <a:cs typeface="Source Han Sans SC Heavy"/>
              </a:rPr>
              <a:t>◇</a:t>
            </a:r>
            <a:r>
              <a:rPr sz="1050" b="0" i="0">
                <a:solidFill>
                  <a:srgbClr val="1264A3"/>
                </a:solidFill>
                <a:latin typeface="Source Han Sans SC"/>
                <a:ea typeface="Source Han Sans SC"/>
                <a:cs typeface="Source Han Sans SC"/>
              </a:rPr>
              <a:t> 设计目标</a:t>
            </a:r>
          </a:p>
        </p:txBody>
      </p:sp>
      <p:sp>
        <p:nvSpPr>
          <p:cNvPr id="41" name="Rectangle 40"/>
          <p:cNvSpPr/>
          <p:nvPr/>
        </p:nvSpPr>
        <p:spPr>
          <a:xfrm>
            <a:off x="258058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267202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Tree>
  </p:cSld>
  <p:clrMapOvr>
    <a:masterClrMapping/>
  </p:clrMapOvr>
  <p:transition spd="med"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04</a:t>
            </a:r>
            <a:r>
              <a:rPr sz="1000" b="0" i="0">
                <a:solidFill>
                  <a:srgbClr val="6B7A8C"/>
                </a:solidFill>
                <a:latin typeface="Source Han Sans SC"/>
                <a:ea typeface="Source Han Sans SC"/>
                <a:cs typeface="Source Han Sans SC"/>
              </a:rPr>
              <a:t>  验证体系与工程路线</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4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32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样机阶段的标定与实测工作计划</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计划按前置依赖排序：执行器台架与样机装配是其余全部实体指标的前置条件。</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10668579" cy="310896"/>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3135" y="2048256"/>
            <a:ext cx="27432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序</a:t>
            </a:r>
          </a:p>
        </p:txBody>
      </p:sp>
      <p:sp>
        <p:nvSpPr>
          <p:cNvPr id="12" name="TextBox 11"/>
          <p:cNvSpPr txBox="1"/>
          <p:nvPr/>
        </p:nvSpPr>
        <p:spPr>
          <a:xfrm>
            <a:off x="1310335" y="2048256"/>
            <a:ext cx="2011679"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工作项</a:t>
            </a:r>
          </a:p>
        </p:txBody>
      </p:sp>
      <p:sp>
        <p:nvSpPr>
          <p:cNvPr id="13" name="TextBox 12"/>
          <p:cNvSpPr txBox="1"/>
          <p:nvPr/>
        </p:nvSpPr>
        <p:spPr>
          <a:xfrm>
            <a:off x="3504895" y="2048256"/>
            <a:ext cx="3063239"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内容</a:t>
            </a:r>
          </a:p>
        </p:txBody>
      </p:sp>
      <p:sp>
        <p:nvSpPr>
          <p:cNvPr id="14" name="TextBox 13"/>
          <p:cNvSpPr txBox="1"/>
          <p:nvPr/>
        </p:nvSpPr>
        <p:spPr>
          <a:xfrm>
            <a:off x="6751015" y="2048256"/>
            <a:ext cx="3127248"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对应指标</a:t>
            </a:r>
          </a:p>
        </p:txBody>
      </p:sp>
      <p:sp>
        <p:nvSpPr>
          <p:cNvPr id="15" name="TextBox 14"/>
          <p:cNvSpPr txBox="1"/>
          <p:nvPr/>
        </p:nvSpPr>
        <p:spPr>
          <a:xfrm>
            <a:off x="10061143" y="2048256"/>
            <a:ext cx="128016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前置条件</a:t>
            </a:r>
          </a:p>
        </p:txBody>
      </p:sp>
      <p:sp>
        <p:nvSpPr>
          <p:cNvPr id="16" name="TextBox 15"/>
          <p:cNvSpPr txBox="1"/>
          <p:nvPr/>
        </p:nvSpPr>
        <p:spPr>
          <a:xfrm>
            <a:off x="853135" y="2359152"/>
            <a:ext cx="274320"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1</a:t>
            </a:r>
          </a:p>
        </p:txBody>
      </p:sp>
      <p:sp>
        <p:nvSpPr>
          <p:cNvPr id="17" name="TextBox 16"/>
          <p:cNvSpPr txBox="1"/>
          <p:nvPr/>
        </p:nvSpPr>
        <p:spPr>
          <a:xfrm>
            <a:off x="1310335" y="2359152"/>
            <a:ext cx="2011679"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执行器台架实测</a:t>
            </a:r>
          </a:p>
        </p:txBody>
      </p:sp>
      <p:sp>
        <p:nvSpPr>
          <p:cNvPr id="18" name="TextBox 17"/>
          <p:cNvSpPr txBox="1"/>
          <p:nvPr/>
        </p:nvSpPr>
        <p:spPr>
          <a:xfrm>
            <a:off x="3504895" y="2359152"/>
            <a:ext cx="3063239"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建立测力与温升台架，实测连续扭矩与堵转曲线</a:t>
            </a:r>
          </a:p>
        </p:txBody>
      </p:sp>
      <p:sp>
        <p:nvSpPr>
          <p:cNvPr id="19" name="TextBox 18"/>
          <p:cNvSpPr txBox="1"/>
          <p:nvPr/>
        </p:nvSpPr>
        <p:spPr>
          <a:xfrm>
            <a:off x="6751015" y="2359152"/>
            <a:ext cx="3127248"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关节利用率与降额参数</a:t>
            </a:r>
          </a:p>
        </p:txBody>
      </p:sp>
      <p:sp>
        <p:nvSpPr>
          <p:cNvPr id="20" name="TextBox 19"/>
          <p:cNvSpPr txBox="1"/>
          <p:nvPr/>
        </p:nvSpPr>
        <p:spPr>
          <a:xfrm>
            <a:off x="10061143" y="2359152"/>
            <a:ext cx="1280160"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可立即启动</a:t>
            </a:r>
          </a:p>
        </p:txBody>
      </p:sp>
      <p:cxnSp>
        <p:nvCxnSpPr>
          <p:cNvPr id="21" name="Connector 20"/>
          <p:cNvCxnSpPr/>
          <p:nvPr/>
        </p:nvCxnSpPr>
        <p:spPr>
          <a:xfrm>
            <a:off x="761695" y="2852928"/>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53135" y="2852928"/>
            <a:ext cx="274320"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2</a:t>
            </a:r>
          </a:p>
        </p:txBody>
      </p:sp>
      <p:sp>
        <p:nvSpPr>
          <p:cNvPr id="23" name="TextBox 22"/>
          <p:cNvSpPr txBox="1"/>
          <p:nvPr/>
        </p:nvSpPr>
        <p:spPr>
          <a:xfrm>
            <a:off x="1310335" y="2852928"/>
            <a:ext cx="2011679"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结构件试制与装配</a:t>
            </a:r>
          </a:p>
        </p:txBody>
      </p:sp>
      <p:sp>
        <p:nvSpPr>
          <p:cNvPr id="24" name="TextBox 23"/>
          <p:cNvSpPr txBox="1"/>
          <p:nvPr/>
        </p:nvSpPr>
        <p:spPr>
          <a:xfrm>
            <a:off x="3504895" y="2852928"/>
            <a:ext cx="3063239"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铝件下料、PETG 打印、总成装配与走线</a:t>
            </a:r>
          </a:p>
        </p:txBody>
      </p:sp>
      <p:sp>
        <p:nvSpPr>
          <p:cNvPr id="25" name="TextBox 24"/>
          <p:cNvSpPr txBox="1"/>
          <p:nvPr/>
        </p:nvSpPr>
        <p:spPr>
          <a:xfrm>
            <a:off x="6751015" y="2852928"/>
            <a:ext cx="3127248"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整机质量与装配精度</a:t>
            </a:r>
          </a:p>
        </p:txBody>
      </p:sp>
      <p:sp>
        <p:nvSpPr>
          <p:cNvPr id="26" name="TextBox 25"/>
          <p:cNvSpPr txBox="1"/>
          <p:nvPr/>
        </p:nvSpPr>
        <p:spPr>
          <a:xfrm>
            <a:off x="10061143" y="2852928"/>
            <a:ext cx="1280160"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依赖零件备料</a:t>
            </a:r>
          </a:p>
        </p:txBody>
      </p:sp>
      <p:cxnSp>
        <p:nvCxnSpPr>
          <p:cNvPr id="27" name="Connector 26"/>
          <p:cNvCxnSpPr/>
          <p:nvPr/>
        </p:nvCxnSpPr>
        <p:spPr>
          <a:xfrm>
            <a:off x="761695" y="3346704"/>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53135" y="3346704"/>
            <a:ext cx="274320"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3</a:t>
            </a:r>
          </a:p>
        </p:txBody>
      </p:sp>
      <p:sp>
        <p:nvSpPr>
          <p:cNvPr id="29" name="TextBox 28"/>
          <p:cNvSpPr txBox="1"/>
          <p:nvPr/>
        </p:nvSpPr>
        <p:spPr>
          <a:xfrm>
            <a:off x="1310335" y="3346704"/>
            <a:ext cx="2011679"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相机内参与夹爪标定</a:t>
            </a:r>
          </a:p>
        </p:txBody>
      </p:sp>
      <p:sp>
        <p:nvSpPr>
          <p:cNvPr id="30" name="TextBox 29"/>
          <p:cNvSpPr txBox="1"/>
          <p:nvPr/>
        </p:nvSpPr>
        <p:spPr>
          <a:xfrm>
            <a:off x="3504895" y="3346704"/>
            <a:ext cx="3063239"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棋盘格标定并回填配置，标定夹爪容差</a:t>
            </a:r>
          </a:p>
        </p:txBody>
      </p:sp>
      <p:sp>
        <p:nvSpPr>
          <p:cNvPr id="31" name="TextBox 30"/>
          <p:cNvSpPr txBox="1"/>
          <p:nvPr/>
        </p:nvSpPr>
        <p:spPr>
          <a:xfrm>
            <a:off x="6751015" y="3346704"/>
            <a:ext cx="3127248"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搬运步长增益与像素换算</a:t>
            </a:r>
          </a:p>
        </p:txBody>
      </p:sp>
      <p:sp>
        <p:nvSpPr>
          <p:cNvPr id="32" name="TextBox 31"/>
          <p:cNvSpPr txBox="1"/>
          <p:nvPr/>
        </p:nvSpPr>
        <p:spPr>
          <a:xfrm>
            <a:off x="10061143" y="3346704"/>
            <a:ext cx="1280160"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依赖样机相机</a:t>
            </a:r>
          </a:p>
        </p:txBody>
      </p:sp>
      <p:cxnSp>
        <p:nvCxnSpPr>
          <p:cNvPr id="33" name="Connector 32"/>
          <p:cNvCxnSpPr/>
          <p:nvPr/>
        </p:nvCxnSpPr>
        <p:spPr>
          <a:xfrm>
            <a:off x="761695" y="3840480"/>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53135" y="3840480"/>
            <a:ext cx="274320"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4</a:t>
            </a:r>
          </a:p>
        </p:txBody>
      </p:sp>
      <p:sp>
        <p:nvSpPr>
          <p:cNvPr id="35" name="TextBox 34"/>
          <p:cNvSpPr txBox="1"/>
          <p:nvPr/>
        </p:nvSpPr>
        <p:spPr>
          <a:xfrm>
            <a:off x="1310335" y="3840480"/>
            <a:ext cx="2011679"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总线联调与零位标定</a:t>
            </a:r>
          </a:p>
        </p:txBody>
      </p:sp>
      <p:sp>
        <p:nvSpPr>
          <p:cNvPr id="36" name="TextBox 35"/>
          <p:cNvSpPr txBox="1"/>
          <p:nvPr/>
        </p:nvSpPr>
        <p:spPr>
          <a:xfrm>
            <a:off x="3504895" y="3840480"/>
            <a:ext cx="3063239"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半双工总线驱动、关节零位与方向标定</a:t>
            </a:r>
          </a:p>
        </p:txBody>
      </p:sp>
      <p:sp>
        <p:nvSpPr>
          <p:cNvPr id="37" name="TextBox 36"/>
          <p:cNvSpPr txBox="1"/>
          <p:nvPr/>
        </p:nvSpPr>
        <p:spPr>
          <a:xfrm>
            <a:off x="6751015" y="3840480"/>
            <a:ext cx="3127248"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真机运动数据一致性</a:t>
            </a:r>
          </a:p>
        </p:txBody>
      </p:sp>
      <p:sp>
        <p:nvSpPr>
          <p:cNvPr id="38" name="TextBox 37"/>
          <p:cNvSpPr txBox="1"/>
          <p:nvPr/>
        </p:nvSpPr>
        <p:spPr>
          <a:xfrm>
            <a:off x="10061143" y="3840480"/>
            <a:ext cx="1280160"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依赖样机电气</a:t>
            </a:r>
          </a:p>
        </p:txBody>
      </p:sp>
      <p:cxnSp>
        <p:nvCxnSpPr>
          <p:cNvPr id="39" name="Connector 38"/>
          <p:cNvCxnSpPr/>
          <p:nvPr/>
        </p:nvCxnSpPr>
        <p:spPr>
          <a:xfrm>
            <a:off x="761695" y="4334256"/>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53135" y="4334256"/>
            <a:ext cx="274320"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5</a:t>
            </a:r>
          </a:p>
        </p:txBody>
      </p:sp>
      <p:sp>
        <p:nvSpPr>
          <p:cNvPr id="41" name="TextBox 40"/>
          <p:cNvSpPr txBox="1"/>
          <p:nvPr/>
        </p:nvSpPr>
        <p:spPr>
          <a:xfrm>
            <a:off x="1310335" y="4334256"/>
            <a:ext cx="2011679"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电源与续航验证</a:t>
            </a:r>
          </a:p>
        </p:txBody>
      </p:sp>
      <p:sp>
        <p:nvSpPr>
          <p:cNvPr id="42" name="TextBox 41"/>
          <p:cNvSpPr txBox="1"/>
          <p:nvPr/>
        </p:nvSpPr>
        <p:spPr>
          <a:xfrm>
            <a:off x="3504895" y="4334256"/>
            <a:ext cx="3063239"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扩展电源选型、充放电与任务循环实测</a:t>
            </a:r>
          </a:p>
        </p:txBody>
      </p:sp>
      <p:sp>
        <p:nvSpPr>
          <p:cNvPr id="43" name="TextBox 42"/>
          <p:cNvSpPr txBox="1"/>
          <p:nvPr/>
        </p:nvSpPr>
        <p:spPr>
          <a:xfrm>
            <a:off x="6751015" y="4334256"/>
            <a:ext cx="3127248"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连续作业时长与热负荷</a:t>
            </a:r>
          </a:p>
        </p:txBody>
      </p:sp>
      <p:sp>
        <p:nvSpPr>
          <p:cNvPr id="44" name="TextBox 43"/>
          <p:cNvSpPr txBox="1"/>
          <p:nvPr/>
        </p:nvSpPr>
        <p:spPr>
          <a:xfrm>
            <a:off x="10061143" y="4334256"/>
            <a:ext cx="1280160"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依赖功率实测</a:t>
            </a:r>
          </a:p>
        </p:txBody>
      </p:sp>
      <p:cxnSp>
        <p:nvCxnSpPr>
          <p:cNvPr id="45" name="Connector 44"/>
          <p:cNvCxnSpPr/>
          <p:nvPr/>
        </p:nvCxnSpPr>
        <p:spPr>
          <a:xfrm>
            <a:off x="761695" y="4828032"/>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53135" y="4828032"/>
            <a:ext cx="274320"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6</a:t>
            </a:r>
          </a:p>
        </p:txBody>
      </p:sp>
      <p:sp>
        <p:nvSpPr>
          <p:cNvPr id="47" name="TextBox 46"/>
          <p:cNvSpPr txBox="1"/>
          <p:nvPr/>
        </p:nvSpPr>
        <p:spPr>
          <a:xfrm>
            <a:off x="1310335" y="4828032"/>
            <a:ext cx="2011679"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现场条件评测</a:t>
            </a:r>
          </a:p>
        </p:txBody>
      </p:sp>
      <p:sp>
        <p:nvSpPr>
          <p:cNvPr id="48" name="TextBox 47"/>
          <p:cNvSpPr txBox="1"/>
          <p:nvPr/>
        </p:nvSpPr>
        <p:spPr>
          <a:xfrm>
            <a:off x="3504895" y="4828032"/>
            <a:ext cx="3063239"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真实相机、光照与噪声环境下重跑评测脚本</a:t>
            </a:r>
          </a:p>
        </p:txBody>
      </p:sp>
      <p:sp>
        <p:nvSpPr>
          <p:cNvPr id="49" name="TextBox 48"/>
          <p:cNvSpPr txBox="1"/>
          <p:nvPr/>
        </p:nvSpPr>
        <p:spPr>
          <a:xfrm>
            <a:off x="6751015" y="4828032"/>
            <a:ext cx="3127248"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感知类指标的现场基线</a:t>
            </a:r>
          </a:p>
        </p:txBody>
      </p:sp>
      <p:sp>
        <p:nvSpPr>
          <p:cNvPr id="50" name="TextBox 49"/>
          <p:cNvSpPr txBox="1"/>
          <p:nvPr/>
        </p:nvSpPr>
        <p:spPr>
          <a:xfrm>
            <a:off x="10061143" y="4828032"/>
            <a:ext cx="1280160" cy="493776"/>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依赖样机与场地</a:t>
            </a:r>
          </a:p>
        </p:txBody>
      </p:sp>
      <p:cxnSp>
        <p:nvCxnSpPr>
          <p:cNvPr id="51" name="Connector 50"/>
          <p:cNvCxnSpPr/>
          <p:nvPr/>
        </p:nvCxnSpPr>
        <p:spPr>
          <a:xfrm>
            <a:off x="761695" y="5321808"/>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61695" y="5449824"/>
            <a:ext cx="10668579" cy="256032"/>
          </a:xfrm>
          <a:prstGeom prst="rect">
            <a:avLst/>
          </a:prstGeom>
          <a:noFill/>
        </p:spPr>
        <p:txBody>
          <a:bodyPr wrap="square" lIns="0" rIns="0" tIns="0" bIns="0" anchor="t">
            <a:spAutoFit/>
          </a:bodyPr>
          <a:lstStyle/>
          <a:p>
            <a:pPr algn="l"/>
            <a:r>
              <a:rPr sz="950" b="0" i="0">
                <a:solidFill>
                  <a:srgbClr val="0A2540"/>
                </a:solidFill>
                <a:latin typeface="Source Han Sans SC Heavy"/>
                <a:ea typeface="Source Han Sans SC Heavy"/>
                <a:cs typeface="Source Han Sans SC Heavy"/>
              </a:rPr>
              <a:t>说明：</a:t>
            </a:r>
            <a:r>
              <a:rPr sz="950" b="0" i="0">
                <a:solidFill>
                  <a:srgbClr val="1F2A37"/>
                </a:solidFill>
                <a:latin typeface="Source Han Sans SC"/>
                <a:ea typeface="Source Han Sans SC"/>
                <a:cs typeface="Source Han Sans SC"/>
              </a:rPr>
              <a:t>上述工作项按依赖排序，前置条件满足后即可逐项闭合；每一项的测量方法与判定阈值已在验收大纲中预先定义。</a:t>
            </a:r>
          </a:p>
        </p:txBody>
      </p:sp>
      <p:sp>
        <p:nvSpPr>
          <p:cNvPr id="53" name="TextBox 52"/>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54" name="Rectangle 53"/>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
        <p:nvSpPr>
          <p:cNvPr id="56" name="Rectangle 55"/>
          <p:cNvSpPr/>
          <p:nvPr/>
        </p:nvSpPr>
        <p:spPr>
          <a:xfrm>
            <a:off x="244723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2538679" y="6016752"/>
            <a:ext cx="624840" cy="237744"/>
          </a:xfrm>
          <a:prstGeom prst="rect">
            <a:avLst/>
          </a:prstGeom>
          <a:noFill/>
        </p:spPr>
        <p:txBody>
          <a:bodyPr wrap="square" lIns="0" rIns="0" tIns="0" bIns="0" anchor="ctr">
            <a:spAutoFit/>
          </a:bodyPr>
          <a:lstStyle/>
          <a:p>
            <a:pPr algn="l"/>
            <a:r>
              <a:rPr sz="1050" b="0" i="0">
                <a:solidFill>
                  <a:srgbClr val="6B7A8C"/>
                </a:solidFill>
                <a:latin typeface="Source Han Sans SC Heavy"/>
                <a:ea typeface="Source Han Sans SC Heavy"/>
                <a:cs typeface="Source Han Sans SC Heavy"/>
              </a:rPr>
              <a:t>○</a:t>
            </a:r>
            <a:r>
              <a:rPr sz="1050" b="0" i="0">
                <a:solidFill>
                  <a:srgbClr val="6B7A8C"/>
                </a:solidFill>
                <a:latin typeface="Source Han Sans SC"/>
                <a:ea typeface="Source Han Sans SC"/>
                <a:cs typeface="Source Han Sans SC"/>
              </a:rPr>
              <a:t> 规划中</a:t>
            </a:r>
          </a:p>
        </p:txBody>
      </p:sp>
    </p:spTree>
  </p:cSld>
  <p:clrMapOvr>
    <a:masterClrMapping/>
  </p:clrMapOvr>
  <p:transition spd="med"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04</a:t>
            </a:r>
            <a:r>
              <a:rPr sz="1000" b="0" i="0">
                <a:solidFill>
                  <a:srgbClr val="6B7A8C"/>
                </a:solidFill>
                <a:latin typeface="Source Han Sans SC"/>
                <a:ea typeface="Source Han Sans SC"/>
                <a:cs typeface="Source Han Sans SC"/>
              </a:rPr>
              <a:t>  验证体系与工程路线</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第 4 章</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33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指标汇总与数据来源索引</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下表汇总对外引用的主要指标、数值与口径，便于逐项核验。</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48256"/>
            <a:ext cx="10668579" cy="310896"/>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3135" y="2048256"/>
            <a:ext cx="114300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指标</a:t>
            </a:r>
          </a:p>
        </p:txBody>
      </p:sp>
      <p:sp>
        <p:nvSpPr>
          <p:cNvPr id="12" name="TextBox 11"/>
          <p:cNvSpPr txBox="1"/>
          <p:nvPr/>
        </p:nvSpPr>
        <p:spPr>
          <a:xfrm>
            <a:off x="2179015" y="2048256"/>
            <a:ext cx="2468879"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数值</a:t>
            </a:r>
          </a:p>
        </p:txBody>
      </p:sp>
      <p:sp>
        <p:nvSpPr>
          <p:cNvPr id="13" name="TextBox 12"/>
          <p:cNvSpPr txBox="1"/>
          <p:nvPr/>
        </p:nvSpPr>
        <p:spPr>
          <a:xfrm>
            <a:off x="4830775" y="2048256"/>
            <a:ext cx="1737360"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口径</a:t>
            </a:r>
          </a:p>
        </p:txBody>
      </p:sp>
      <p:sp>
        <p:nvSpPr>
          <p:cNvPr id="14" name="TextBox 13"/>
          <p:cNvSpPr txBox="1"/>
          <p:nvPr/>
        </p:nvSpPr>
        <p:spPr>
          <a:xfrm>
            <a:off x="6751015" y="2048256"/>
            <a:ext cx="4590288" cy="310896"/>
          </a:xfrm>
          <a:prstGeom prst="rect">
            <a:avLst/>
          </a:prstGeom>
          <a:noFill/>
        </p:spPr>
        <p:txBody>
          <a:bodyPr wrap="square" lIns="0" rIns="0" tIns="0" bIns="0" anchor="ctr">
            <a:spAutoFit/>
          </a:bodyPr>
          <a:lstStyle/>
          <a:p>
            <a:pPr algn="l"/>
            <a:r>
              <a:rPr sz="950" b="0" i="0">
                <a:solidFill>
                  <a:srgbClr val="1264A3"/>
                </a:solidFill>
                <a:latin typeface="Source Han Sans SC Heavy"/>
                <a:ea typeface="Source Han Sans SC Heavy"/>
                <a:cs typeface="Source Han Sans SC Heavy"/>
              </a:rPr>
              <a:t>来源</a:t>
            </a:r>
          </a:p>
        </p:txBody>
      </p:sp>
      <p:sp>
        <p:nvSpPr>
          <p:cNvPr id="15" name="TextBox 14"/>
          <p:cNvSpPr txBox="1"/>
          <p:nvPr/>
        </p:nvSpPr>
        <p:spPr>
          <a:xfrm>
            <a:off x="853135" y="2359152"/>
            <a:ext cx="114300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整机包络</a:t>
            </a:r>
          </a:p>
        </p:txBody>
      </p:sp>
      <p:sp>
        <p:nvSpPr>
          <p:cNvPr id="16" name="TextBox 15"/>
          <p:cNvSpPr txBox="1"/>
          <p:nvPr/>
        </p:nvSpPr>
        <p:spPr>
          <a:xfrm>
            <a:off x="2179015" y="2359152"/>
            <a:ext cx="2468879"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466.5 × 188 × 295 mm</a:t>
            </a:r>
          </a:p>
        </p:txBody>
      </p:sp>
      <p:sp>
        <p:nvSpPr>
          <p:cNvPr id="17" name="TextBox 16"/>
          <p:cNvSpPr txBox="1"/>
          <p:nvPr/>
        </p:nvSpPr>
        <p:spPr>
          <a:xfrm>
            <a:off x="4830775" y="2359152"/>
            <a:ext cx="173736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CAD 实算</a:t>
            </a:r>
          </a:p>
        </p:txBody>
      </p:sp>
      <p:sp>
        <p:nvSpPr>
          <p:cNvPr id="18" name="TextBox 17"/>
          <p:cNvSpPr txBox="1"/>
          <p:nvPr/>
        </p:nvSpPr>
        <p:spPr>
          <a:xfrm>
            <a:off x="6751015" y="2359152"/>
            <a:ext cx="4590288"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同源装配体轴对齐包围盒</a:t>
            </a:r>
          </a:p>
        </p:txBody>
      </p:sp>
      <p:cxnSp>
        <p:nvCxnSpPr>
          <p:cNvPr id="19" name="Connector 18"/>
          <p:cNvCxnSpPr/>
          <p:nvPr/>
        </p:nvCxnSpPr>
        <p:spPr>
          <a:xfrm>
            <a:off x="761695" y="2633472"/>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53135" y="2633472"/>
            <a:ext cx="114300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自由度</a:t>
            </a:r>
          </a:p>
        </p:txBody>
      </p:sp>
      <p:sp>
        <p:nvSpPr>
          <p:cNvPr id="21" name="TextBox 20"/>
          <p:cNvSpPr txBox="1"/>
          <p:nvPr/>
        </p:nvSpPr>
        <p:spPr>
          <a:xfrm>
            <a:off x="2179015" y="2633472"/>
            <a:ext cx="2468879"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20（头 2 · 躯干 2 · 双臂 8 · 双腿 8）</a:t>
            </a:r>
          </a:p>
        </p:txBody>
      </p:sp>
      <p:sp>
        <p:nvSpPr>
          <p:cNvPr id="22" name="TextBox 21"/>
          <p:cNvSpPr txBox="1"/>
          <p:nvPr/>
        </p:nvSpPr>
        <p:spPr>
          <a:xfrm>
            <a:off x="4830775" y="2633472"/>
            <a:ext cx="173736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设计值</a:t>
            </a:r>
          </a:p>
        </p:txBody>
      </p:sp>
      <p:sp>
        <p:nvSpPr>
          <p:cNvPr id="23" name="TextBox 22"/>
          <p:cNvSpPr txBox="1"/>
          <p:nvPr/>
        </p:nvSpPr>
        <p:spPr>
          <a:xfrm>
            <a:off x="6751015" y="2633472"/>
            <a:ext cx="4590288"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关节表与固件配置同源</a:t>
            </a:r>
          </a:p>
        </p:txBody>
      </p:sp>
      <p:cxnSp>
        <p:nvCxnSpPr>
          <p:cNvPr id="24" name="Connector 23"/>
          <p:cNvCxnSpPr/>
          <p:nvPr/>
        </p:nvCxnSpPr>
        <p:spPr>
          <a:xfrm>
            <a:off x="761695" y="2907791"/>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53135" y="2907791"/>
            <a:ext cx="114300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装配体规模</a:t>
            </a:r>
          </a:p>
        </p:txBody>
      </p:sp>
      <p:sp>
        <p:nvSpPr>
          <p:cNvPr id="26" name="TextBox 25"/>
          <p:cNvSpPr txBox="1"/>
          <p:nvPr/>
        </p:nvSpPr>
        <p:spPr>
          <a:xfrm>
            <a:off x="2179015" y="2907791"/>
            <a:ext cx="2468879"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1029 件，几何零相交</a:t>
            </a:r>
          </a:p>
        </p:txBody>
      </p:sp>
      <p:sp>
        <p:nvSpPr>
          <p:cNvPr id="27" name="TextBox 26"/>
          <p:cNvSpPr txBox="1"/>
          <p:nvPr/>
        </p:nvSpPr>
        <p:spPr>
          <a:xfrm>
            <a:off x="4830775" y="2907791"/>
            <a:ext cx="173736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CAD 实算</a:t>
            </a:r>
          </a:p>
        </p:txBody>
      </p:sp>
      <p:sp>
        <p:nvSpPr>
          <p:cNvPr id="28" name="TextBox 27"/>
          <p:cNvSpPr txBox="1"/>
          <p:nvPr/>
        </p:nvSpPr>
        <p:spPr>
          <a:xfrm>
            <a:off x="6751015" y="2907791"/>
            <a:ext cx="4590288"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B-rep 干涉求解</a:t>
            </a:r>
          </a:p>
        </p:txBody>
      </p:sp>
      <p:cxnSp>
        <p:nvCxnSpPr>
          <p:cNvPr id="29" name="Connector 28"/>
          <p:cNvCxnSpPr/>
          <p:nvPr/>
        </p:nvCxnSpPr>
        <p:spPr>
          <a:xfrm>
            <a:off x="761695" y="3182111"/>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3135" y="3182111"/>
            <a:ext cx="114300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质量账</a:t>
            </a:r>
          </a:p>
        </p:txBody>
      </p:sp>
      <p:sp>
        <p:nvSpPr>
          <p:cNvPr id="31" name="TextBox 30"/>
          <p:cNvSpPr txBox="1"/>
          <p:nvPr/>
        </p:nvSpPr>
        <p:spPr>
          <a:xfrm>
            <a:off x="2179015" y="3182111"/>
            <a:ext cx="2468879"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已计 2469 g / 目标 2300 g</a:t>
            </a:r>
          </a:p>
        </p:txBody>
      </p:sp>
      <p:sp>
        <p:nvSpPr>
          <p:cNvPr id="32" name="TextBox 31"/>
          <p:cNvSpPr txBox="1"/>
          <p:nvPr/>
        </p:nvSpPr>
        <p:spPr>
          <a:xfrm>
            <a:off x="4830775" y="3182111"/>
            <a:ext cx="173736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逐项建账</a:t>
            </a:r>
          </a:p>
        </p:txBody>
      </p:sp>
      <p:sp>
        <p:nvSpPr>
          <p:cNvPr id="33" name="TextBox 32"/>
          <p:cNvSpPr txBox="1"/>
          <p:nvPr/>
        </p:nvSpPr>
        <p:spPr>
          <a:xfrm>
            <a:off x="6751015" y="3182111"/>
            <a:ext cx="4590288"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材料密度与采购件标称质量</a:t>
            </a:r>
          </a:p>
        </p:txBody>
      </p:sp>
      <p:cxnSp>
        <p:nvCxnSpPr>
          <p:cNvPr id="34" name="Connector 33"/>
          <p:cNvCxnSpPr/>
          <p:nvPr/>
        </p:nvCxnSpPr>
        <p:spPr>
          <a:xfrm>
            <a:off x="761695" y="3456431"/>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53135" y="3456431"/>
            <a:ext cx="114300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关节载荷</a:t>
            </a:r>
          </a:p>
        </p:txBody>
      </p:sp>
      <p:sp>
        <p:nvSpPr>
          <p:cNvPr id="36" name="TextBox 35"/>
          <p:cNvSpPr txBox="1"/>
          <p:nvPr/>
        </p:nvSpPr>
        <p:spPr>
          <a:xfrm>
            <a:off x="2179015" y="3456431"/>
            <a:ext cx="2468879"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行走 77.6% · 极限保持 110.8%</a:t>
            </a:r>
          </a:p>
        </p:txBody>
      </p:sp>
      <p:sp>
        <p:nvSpPr>
          <p:cNvPr id="37" name="TextBox 36"/>
          <p:cNvSpPr txBox="1"/>
          <p:nvPr/>
        </p:nvSpPr>
        <p:spPr>
          <a:xfrm>
            <a:off x="4830775" y="3456431"/>
            <a:ext cx="173736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设计校核</a:t>
            </a:r>
          </a:p>
        </p:txBody>
      </p:sp>
      <p:sp>
        <p:nvSpPr>
          <p:cNvPr id="38" name="TextBox 37"/>
          <p:cNvSpPr txBox="1"/>
          <p:nvPr/>
        </p:nvSpPr>
        <p:spPr>
          <a:xfrm>
            <a:off x="6751015" y="3456431"/>
            <a:ext cx="4590288"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静力学扫掠 + 动载系数</a:t>
            </a:r>
          </a:p>
        </p:txBody>
      </p:sp>
      <p:cxnSp>
        <p:nvCxnSpPr>
          <p:cNvPr id="39" name="Connector 38"/>
          <p:cNvCxnSpPr/>
          <p:nvPr/>
        </p:nvCxnSpPr>
        <p:spPr>
          <a:xfrm>
            <a:off x="761695" y="3730751"/>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53135" y="3730751"/>
            <a:ext cx="114300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电源配置</a:t>
            </a:r>
          </a:p>
        </p:txBody>
      </p:sp>
      <p:sp>
        <p:nvSpPr>
          <p:cNvPr id="41" name="TextBox 40"/>
          <p:cNvSpPr txBox="1"/>
          <p:nvPr/>
        </p:nvSpPr>
        <p:spPr>
          <a:xfrm>
            <a:off x="2179015" y="3730751"/>
            <a:ext cx="2468879"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单包 3S 2200 mAh / 24.4 Wh / 169 g</a:t>
            </a:r>
          </a:p>
        </p:txBody>
      </p:sp>
      <p:sp>
        <p:nvSpPr>
          <p:cNvPr id="42" name="TextBox 41"/>
          <p:cNvSpPr txBox="1"/>
          <p:nvPr/>
        </p:nvSpPr>
        <p:spPr>
          <a:xfrm>
            <a:off x="4830775" y="3730751"/>
            <a:ext cx="173736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采购件</a:t>
            </a:r>
          </a:p>
        </p:txBody>
      </p:sp>
      <p:sp>
        <p:nvSpPr>
          <p:cNvPr id="43" name="TextBox 42"/>
          <p:cNvSpPr txBox="1"/>
          <p:nvPr/>
        </p:nvSpPr>
        <p:spPr>
          <a:xfrm>
            <a:off x="6751015" y="3730751"/>
            <a:ext cx="4590288"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厂家规格与包络</a:t>
            </a:r>
          </a:p>
        </p:txBody>
      </p:sp>
      <p:cxnSp>
        <p:nvCxnSpPr>
          <p:cNvPr id="44" name="Connector 43"/>
          <p:cNvCxnSpPr/>
          <p:nvPr/>
        </p:nvCxnSpPr>
        <p:spPr>
          <a:xfrm>
            <a:off x="761695" y="4005071"/>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53135" y="4005071"/>
            <a:ext cx="114300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成本</a:t>
            </a:r>
          </a:p>
        </p:txBody>
      </p:sp>
      <p:sp>
        <p:nvSpPr>
          <p:cNvPr id="46" name="TextBox 45"/>
          <p:cNvSpPr txBox="1"/>
          <p:nvPr/>
        </p:nvSpPr>
        <p:spPr>
          <a:xfrm>
            <a:off x="2179015" y="4005071"/>
            <a:ext cx="2468879"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全口径 ¥3137–3961</a:t>
            </a:r>
          </a:p>
        </p:txBody>
      </p:sp>
      <p:sp>
        <p:nvSpPr>
          <p:cNvPr id="47" name="TextBox 46"/>
          <p:cNvSpPr txBox="1"/>
          <p:nvPr/>
        </p:nvSpPr>
        <p:spPr>
          <a:xfrm>
            <a:off x="4830775" y="4005071"/>
            <a:ext cx="173736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BOM 询价</a:t>
            </a:r>
          </a:p>
        </p:txBody>
      </p:sp>
      <p:sp>
        <p:nvSpPr>
          <p:cNvPr id="48" name="TextBox 47"/>
          <p:cNvSpPr txBox="1"/>
          <p:nvPr/>
        </p:nvSpPr>
        <p:spPr>
          <a:xfrm>
            <a:off x="6751015" y="4005071"/>
            <a:ext cx="4590288"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逐项询价区间</a:t>
            </a:r>
          </a:p>
        </p:txBody>
      </p:sp>
      <p:cxnSp>
        <p:nvCxnSpPr>
          <p:cNvPr id="49" name="Connector 48"/>
          <p:cNvCxnSpPr/>
          <p:nvPr/>
        </p:nvCxnSpPr>
        <p:spPr>
          <a:xfrm>
            <a:off x="761695" y="4279391"/>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53135" y="4279391"/>
            <a:ext cx="114300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离线测试</a:t>
            </a:r>
          </a:p>
        </p:txBody>
      </p:sp>
      <p:sp>
        <p:nvSpPr>
          <p:cNvPr id="51" name="TextBox 50"/>
          <p:cNvSpPr txBox="1"/>
          <p:nvPr/>
        </p:nvSpPr>
        <p:spPr>
          <a:xfrm>
            <a:off x="2179015" y="4279391"/>
            <a:ext cx="2468879"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699 + 41 + 95 项</a:t>
            </a:r>
          </a:p>
        </p:txBody>
      </p:sp>
      <p:sp>
        <p:nvSpPr>
          <p:cNvPr id="52" name="TextBox 51"/>
          <p:cNvSpPr txBox="1"/>
          <p:nvPr/>
        </p:nvSpPr>
        <p:spPr>
          <a:xfrm>
            <a:off x="4830775" y="4279391"/>
            <a:ext cx="173736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本机复跑</a:t>
            </a:r>
          </a:p>
        </p:txBody>
      </p:sp>
      <p:sp>
        <p:nvSpPr>
          <p:cNvPr id="53" name="TextBox 52"/>
          <p:cNvSpPr txBox="1"/>
          <p:nvPr/>
        </p:nvSpPr>
        <p:spPr>
          <a:xfrm>
            <a:off x="6751015" y="4279391"/>
            <a:ext cx="4590288"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单元测试离线执行</a:t>
            </a:r>
          </a:p>
        </p:txBody>
      </p:sp>
      <p:cxnSp>
        <p:nvCxnSpPr>
          <p:cNvPr id="54" name="Connector 53"/>
          <p:cNvCxnSpPr/>
          <p:nvPr/>
        </p:nvCxnSpPr>
        <p:spPr>
          <a:xfrm>
            <a:off x="761695" y="4553711"/>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53135" y="4553711"/>
            <a:ext cx="114300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人脸识别</a:t>
            </a:r>
          </a:p>
        </p:txBody>
      </p:sp>
      <p:sp>
        <p:nvSpPr>
          <p:cNvPr id="56" name="TextBox 55"/>
          <p:cNvSpPr txBox="1"/>
          <p:nvPr/>
        </p:nvSpPr>
        <p:spPr>
          <a:xfrm>
            <a:off x="2179015" y="4553711"/>
            <a:ext cx="2468879"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rank-1 98.6%（50 人）</a:t>
            </a:r>
          </a:p>
        </p:txBody>
      </p:sp>
      <p:sp>
        <p:nvSpPr>
          <p:cNvPr id="57" name="TextBox 56"/>
          <p:cNvSpPr txBox="1"/>
          <p:nvPr/>
        </p:nvSpPr>
        <p:spPr>
          <a:xfrm>
            <a:off x="4830775" y="4553711"/>
            <a:ext cx="173736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公开基准集</a:t>
            </a:r>
          </a:p>
        </p:txBody>
      </p:sp>
      <p:sp>
        <p:nvSpPr>
          <p:cNvPr id="58" name="TextBox 57"/>
          <p:cNvSpPr txBox="1"/>
          <p:nvPr/>
        </p:nvSpPr>
        <p:spPr>
          <a:xfrm>
            <a:off x="6751015" y="4553711"/>
            <a:ext cx="4590288"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困难协议闭集辨识</a:t>
            </a:r>
          </a:p>
        </p:txBody>
      </p:sp>
      <p:cxnSp>
        <p:nvCxnSpPr>
          <p:cNvPr id="59" name="Connector 58"/>
          <p:cNvCxnSpPr/>
          <p:nvPr/>
        </p:nvCxnSpPr>
        <p:spPr>
          <a:xfrm>
            <a:off x="761695" y="4828031"/>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853135" y="4828031"/>
            <a:ext cx="114300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二维码解码</a:t>
            </a:r>
          </a:p>
        </p:txBody>
      </p:sp>
      <p:sp>
        <p:nvSpPr>
          <p:cNvPr id="61" name="TextBox 60"/>
          <p:cNvSpPr txBox="1"/>
          <p:nvPr/>
        </p:nvSpPr>
        <p:spPr>
          <a:xfrm>
            <a:off x="2179015" y="4828031"/>
            <a:ext cx="2468879"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主用解码器 100%</a:t>
            </a:r>
          </a:p>
        </p:txBody>
      </p:sp>
      <p:sp>
        <p:nvSpPr>
          <p:cNvPr id="62" name="TextBox 61"/>
          <p:cNvSpPr txBox="1"/>
          <p:nvPr/>
        </p:nvSpPr>
        <p:spPr>
          <a:xfrm>
            <a:off x="4830775" y="4828031"/>
            <a:ext cx="173736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合成场景集</a:t>
            </a:r>
          </a:p>
        </p:txBody>
      </p:sp>
      <p:sp>
        <p:nvSpPr>
          <p:cNvPr id="63" name="TextBox 62"/>
          <p:cNvSpPr txBox="1"/>
          <p:nvPr/>
        </p:nvSpPr>
        <p:spPr>
          <a:xfrm>
            <a:off x="6751015" y="4828031"/>
            <a:ext cx="4590288"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27 组畸变场景 × 3 解码器</a:t>
            </a:r>
          </a:p>
        </p:txBody>
      </p:sp>
      <p:cxnSp>
        <p:nvCxnSpPr>
          <p:cNvPr id="64" name="Connector 63"/>
          <p:cNvCxnSpPr/>
          <p:nvPr/>
        </p:nvCxnSpPr>
        <p:spPr>
          <a:xfrm>
            <a:off x="761695" y="5102351"/>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853135" y="5102351"/>
            <a:ext cx="114300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搬运与踢球</a:t>
            </a:r>
          </a:p>
        </p:txBody>
      </p:sp>
      <p:sp>
        <p:nvSpPr>
          <p:cNvPr id="66" name="TextBox 65"/>
          <p:cNvSpPr txBox="1"/>
          <p:nvPr/>
        </p:nvSpPr>
        <p:spPr>
          <a:xfrm>
            <a:off x="2179015" y="5102351"/>
            <a:ext cx="2468879"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20/20 / 20/24</a:t>
            </a:r>
          </a:p>
        </p:txBody>
      </p:sp>
      <p:sp>
        <p:nvSpPr>
          <p:cNvPr id="67" name="TextBox 66"/>
          <p:cNvSpPr txBox="1"/>
          <p:nvPr/>
        </p:nvSpPr>
        <p:spPr>
          <a:xfrm>
            <a:off x="4830775" y="5102351"/>
            <a:ext cx="1737360"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合成图与几何在环</a:t>
            </a:r>
          </a:p>
        </p:txBody>
      </p:sp>
      <p:sp>
        <p:nvSpPr>
          <p:cNvPr id="68" name="TextBox 67"/>
          <p:cNvSpPr txBox="1"/>
          <p:nvPr/>
        </p:nvSpPr>
        <p:spPr>
          <a:xfrm>
            <a:off x="6751015" y="5102351"/>
            <a:ext cx="4590288" cy="274320"/>
          </a:xfrm>
          <a:prstGeom prst="rect">
            <a:avLst/>
          </a:prstGeom>
          <a:noFill/>
        </p:spPr>
        <p:txBody>
          <a:bodyPr wrap="square" lIns="0" rIns="0" tIns="0" bIns="0" anchor="ctr">
            <a:spAutoFit/>
          </a:bodyPr>
          <a:lstStyle/>
          <a:p>
            <a:pPr algn="l"/>
            <a:r>
              <a:rPr sz="900" b="0" i="0">
                <a:solidFill>
                  <a:srgbClr val="1F2A37"/>
                </a:solidFill>
                <a:latin typeface="Source Han Sans SC"/>
                <a:ea typeface="Source Han Sans SC"/>
                <a:cs typeface="Source Han Sans SC"/>
              </a:rPr>
              <a:t>参数敏感度表</a:t>
            </a:r>
          </a:p>
        </p:txBody>
      </p:sp>
      <p:cxnSp>
        <p:nvCxnSpPr>
          <p:cNvPr id="69" name="Connector 68"/>
          <p:cNvCxnSpPr/>
          <p:nvPr/>
        </p:nvCxnSpPr>
        <p:spPr>
          <a:xfrm>
            <a:off x="761695" y="5376671"/>
            <a:ext cx="10668579" cy="0"/>
          </a:xfrm>
          <a:prstGeom prst="line">
            <a:avLst/>
          </a:prstGeom>
          <a:ln w="6350">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61695" y="5724144"/>
            <a:ext cx="10668579" cy="237744"/>
          </a:xfrm>
          <a:prstGeom prst="rect">
            <a:avLst/>
          </a:prstGeom>
          <a:noFill/>
        </p:spPr>
        <p:txBody>
          <a:bodyPr wrap="square" lIns="0" rIns="0" tIns="0" bIns="0" anchor="t">
            <a:spAutoFit/>
          </a:bodyPr>
          <a:lstStyle/>
          <a:p>
            <a:pPr algn="l"/>
            <a:r>
              <a:rPr sz="850" b="0" i="0">
                <a:solidFill>
                  <a:srgbClr val="1264A3"/>
                </a:solidFill>
                <a:latin typeface="Source Han Sans SC Heavy"/>
                <a:ea typeface="Source Han Sans SC Heavy"/>
                <a:cs typeface="Source Han Sans SC Heavy"/>
              </a:rPr>
              <a:t>数据来源：</a:t>
            </a:r>
            <a:r>
              <a:rPr sz="850" b="0" i="0">
                <a:solidFill>
                  <a:srgbClr val="6B7A8C"/>
                </a:solidFill>
                <a:latin typeface="Source Han Sans SC"/>
                <a:ea typeface="Source Han Sans SC"/>
                <a:cs typeface="Source Han Sans SC"/>
              </a:rPr>
              <a:t>完整口径与边界见答辩材料口径说明；所有数值均标注方法来源</a:t>
            </a:r>
          </a:p>
        </p:txBody>
      </p:sp>
      <p:sp>
        <p:nvSpPr>
          <p:cNvPr id="71" name="TextBox 70"/>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72" name="Rectangle 71"/>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74" name="Rectangle 73"/>
          <p:cNvSpPr/>
          <p:nvPr/>
        </p:nvSpPr>
        <p:spPr>
          <a:xfrm>
            <a:off x="244723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253867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Tree>
  </p:cSld>
  <p:clrMapOvr>
    <a:masterClrMapping/>
  </p:clrMapOvr>
  <p:transition spd="med"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9CC0DC"/>
                </a:solidFill>
                <a:latin typeface="Source Han Sans SC Heavy"/>
                <a:ea typeface="Source Han Sans SC Heavy"/>
                <a:cs typeface="Source Han Sans SC Heavy"/>
              </a:rPr>
              <a:t>04</a:t>
            </a:r>
            <a:r>
              <a:rPr sz="1000" b="0" i="0">
                <a:solidFill>
                  <a:srgbClr val="9CC0DC"/>
                </a:solidFill>
                <a:latin typeface="Source Han Sans SC"/>
                <a:ea typeface="Source Han Sans SC"/>
                <a:cs typeface="Source Han Sans SC"/>
              </a:rPr>
              <a:t>  验证体系与工程路线</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9CC0DC"/>
                </a:solidFill>
                <a:latin typeface="Source Han Sans SC"/>
                <a:ea typeface="Source Han Sans SC"/>
                <a:cs typeface="Source Han Sans SC"/>
              </a:rPr>
              <a:t>结论</a:t>
            </a:r>
          </a:p>
        </p:txBody>
      </p:sp>
      <p:cxnSp>
        <p:nvCxnSpPr>
          <p:cNvPr id="4" name="Connector 3"/>
          <p:cNvCxnSpPr/>
          <p:nvPr/>
        </p:nvCxnSpPr>
        <p:spPr>
          <a:xfrm>
            <a:off x="761695" y="6217920"/>
            <a:ext cx="10668579" cy="0"/>
          </a:xfrm>
          <a:prstGeom prst="line">
            <a:avLst/>
          </a:prstGeom>
          <a:ln w="9525">
            <a:solidFill>
              <a:srgbClr val="9CC0D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9CC0D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9CC0DC"/>
                </a:solidFill>
                <a:latin typeface="Source Han Sans SC"/>
                <a:ea typeface="Source Han Sans SC"/>
                <a:cs typeface="Source Han Sans SC"/>
              </a:rPr>
              <a:t>34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FFFFFF"/>
                </a:solidFill>
                <a:latin typeface="Source Han Sans SC Heavy"/>
                <a:ea typeface="Source Han Sans SC Heavy"/>
                <a:cs typeface="Source Han Sans SC Heavy"/>
              </a:rPr>
              <a:t>结论与展望</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9CC0DC"/>
                </a:solidFill>
                <a:latin typeface="Source Han Sans SC"/>
                <a:ea typeface="Source Han Sans SC"/>
                <a:cs typeface="Source Han Sans SC"/>
              </a:rPr>
              <a:t>项目以数字化样机完成了构型、结构与全离线算法栈的闭环设计，并建立了覆盖四类准则的验收大纲。</a:t>
            </a:r>
          </a:p>
        </p:txBody>
      </p:sp>
      <p:cxnSp>
        <p:nvCxnSpPr>
          <p:cNvPr id="9" name="Connector 8"/>
          <p:cNvCxnSpPr/>
          <p:nvPr/>
        </p:nvCxnSpPr>
        <p:spPr>
          <a:xfrm>
            <a:off x="761695" y="1847088"/>
            <a:ext cx="10668579" cy="0"/>
          </a:xfrm>
          <a:prstGeom prst="line">
            <a:avLst/>
          </a:prstGeom>
          <a:ln w="9525">
            <a:solidFill>
              <a:srgbClr val="9CC0D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194560"/>
            <a:ext cx="3419033" cy="1371600"/>
          </a:xfrm>
          <a:prstGeom prst="rect">
            <a:avLst/>
          </a:prstGeom>
          <a:solidFill>
            <a:srgbClr val="143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61695" y="2194560"/>
            <a:ext cx="3419033" cy="4114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81151" y="2414016"/>
            <a:ext cx="2980121" cy="292608"/>
          </a:xfrm>
          <a:prstGeom prst="rect">
            <a:avLst/>
          </a:prstGeom>
          <a:noFill/>
        </p:spPr>
        <p:txBody>
          <a:bodyPr wrap="square" lIns="0" rIns="0" tIns="0" bIns="0" anchor="t">
            <a:spAutoFit/>
          </a:bodyPr>
          <a:lstStyle/>
          <a:p>
            <a:pPr algn="l"/>
            <a:r>
              <a:rPr sz="1250" b="0" i="0">
                <a:solidFill>
                  <a:srgbClr val="FFFFFF"/>
                </a:solidFill>
                <a:latin typeface="Source Han Sans SC Heavy"/>
                <a:ea typeface="Source Han Sans SC Heavy"/>
                <a:cs typeface="Source Han Sans SC Heavy"/>
              </a:rPr>
              <a:t>高紧凑构型已定型</a:t>
            </a:r>
          </a:p>
        </p:txBody>
      </p:sp>
      <p:sp>
        <p:nvSpPr>
          <p:cNvPr id="13" name="TextBox 12"/>
          <p:cNvSpPr txBox="1"/>
          <p:nvPr/>
        </p:nvSpPr>
        <p:spPr>
          <a:xfrm>
            <a:off x="981151" y="2798064"/>
            <a:ext cx="2980121" cy="658368"/>
          </a:xfrm>
          <a:prstGeom prst="rect">
            <a:avLst/>
          </a:prstGeom>
          <a:noFill/>
        </p:spPr>
        <p:txBody>
          <a:bodyPr wrap="square" lIns="0" rIns="0" tIns="0" bIns="0" anchor="t">
            <a:spAutoFit/>
          </a:bodyPr>
          <a:lstStyle/>
          <a:p>
            <a:pPr algn="l">
              <a:lnSpc>
                <a:spcPct val="130000"/>
              </a:lnSpc>
            </a:pPr>
            <a:r>
              <a:rPr sz="950" b="0" i="0">
                <a:solidFill>
                  <a:srgbClr val="9CC0DC"/>
                </a:solidFill>
                <a:latin typeface="Source Han Sans SC"/>
                <a:ea typeface="Source Han Sans SC"/>
                <a:cs typeface="Source Han Sans SC"/>
              </a:rPr>
              <a:t>20 自由度仿人拓扑，包络 466.5 × 188 × 295 mm，铝夹层承力与双侧支承方案完成几何审查。</a:t>
            </a:r>
          </a:p>
        </p:txBody>
      </p:sp>
      <p:sp>
        <p:nvSpPr>
          <p:cNvPr id="14" name="Rectangle 13"/>
          <p:cNvSpPr/>
          <p:nvPr/>
        </p:nvSpPr>
        <p:spPr>
          <a:xfrm>
            <a:off x="4386468" y="2194560"/>
            <a:ext cx="3419033" cy="1371600"/>
          </a:xfrm>
          <a:prstGeom prst="rect">
            <a:avLst/>
          </a:prstGeom>
          <a:solidFill>
            <a:srgbClr val="143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86468" y="2194560"/>
            <a:ext cx="3419033" cy="4114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05924" y="2414016"/>
            <a:ext cx="2980121" cy="292608"/>
          </a:xfrm>
          <a:prstGeom prst="rect">
            <a:avLst/>
          </a:prstGeom>
          <a:noFill/>
        </p:spPr>
        <p:txBody>
          <a:bodyPr wrap="square" lIns="0" rIns="0" tIns="0" bIns="0" anchor="t">
            <a:spAutoFit/>
          </a:bodyPr>
          <a:lstStyle/>
          <a:p>
            <a:pPr algn="l"/>
            <a:r>
              <a:rPr sz="1250" b="0" i="0">
                <a:solidFill>
                  <a:srgbClr val="FFFFFF"/>
                </a:solidFill>
                <a:latin typeface="Source Han Sans SC Heavy"/>
                <a:ea typeface="Source Han Sans SC Heavy"/>
                <a:cs typeface="Source Han Sans SC Heavy"/>
              </a:rPr>
              <a:t>全离线任务栈已闭环</a:t>
            </a:r>
          </a:p>
        </p:txBody>
      </p:sp>
      <p:sp>
        <p:nvSpPr>
          <p:cNvPr id="17" name="TextBox 16"/>
          <p:cNvSpPr txBox="1"/>
          <p:nvPr/>
        </p:nvSpPr>
        <p:spPr>
          <a:xfrm>
            <a:off x="4605924" y="2798064"/>
            <a:ext cx="2980121" cy="658368"/>
          </a:xfrm>
          <a:prstGeom prst="rect">
            <a:avLst/>
          </a:prstGeom>
          <a:noFill/>
        </p:spPr>
        <p:txBody>
          <a:bodyPr wrap="square" lIns="0" rIns="0" tIns="0" bIns="0" anchor="t">
            <a:spAutoFit/>
          </a:bodyPr>
          <a:lstStyle/>
          <a:p>
            <a:pPr algn="l">
              <a:lnSpc>
                <a:spcPct val="130000"/>
              </a:lnSpc>
            </a:pPr>
            <a:r>
              <a:rPr sz="950" b="0" i="0">
                <a:solidFill>
                  <a:srgbClr val="9CC0DC"/>
                </a:solidFill>
                <a:latin typeface="Source Han Sans SC"/>
                <a:ea typeface="Source Han Sans SC"/>
                <a:cs typeface="Source Han Sans SC"/>
              </a:rPr>
              <a:t>五项赛务任务在同一套任务卡与状态机上实现，699 项软件测试与 41 项运动学测试离线复跑通过。</a:t>
            </a:r>
          </a:p>
        </p:txBody>
      </p:sp>
      <p:sp>
        <p:nvSpPr>
          <p:cNvPr id="18" name="Rectangle 17"/>
          <p:cNvSpPr/>
          <p:nvPr/>
        </p:nvSpPr>
        <p:spPr>
          <a:xfrm>
            <a:off x="8011241" y="2194560"/>
            <a:ext cx="3419033" cy="1371600"/>
          </a:xfrm>
          <a:prstGeom prst="rect">
            <a:avLst/>
          </a:prstGeom>
          <a:solidFill>
            <a:srgbClr val="143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1241" y="2194560"/>
            <a:ext cx="3419033" cy="4114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30697" y="2414016"/>
            <a:ext cx="2980121" cy="292608"/>
          </a:xfrm>
          <a:prstGeom prst="rect">
            <a:avLst/>
          </a:prstGeom>
          <a:noFill/>
        </p:spPr>
        <p:txBody>
          <a:bodyPr wrap="square" lIns="0" rIns="0" tIns="0" bIns="0" anchor="t">
            <a:spAutoFit/>
          </a:bodyPr>
          <a:lstStyle/>
          <a:p>
            <a:pPr algn="l"/>
            <a:r>
              <a:rPr sz="1250" b="0" i="0">
                <a:solidFill>
                  <a:srgbClr val="FFFFFF"/>
                </a:solidFill>
                <a:latin typeface="Source Han Sans SC Heavy"/>
                <a:ea typeface="Source Han Sans SC Heavy"/>
                <a:cs typeface="Source Han Sans SC Heavy"/>
              </a:rPr>
              <a:t>算法具备可核查的定量结果</a:t>
            </a:r>
          </a:p>
        </p:txBody>
      </p:sp>
      <p:sp>
        <p:nvSpPr>
          <p:cNvPr id="21" name="TextBox 20"/>
          <p:cNvSpPr txBox="1"/>
          <p:nvPr/>
        </p:nvSpPr>
        <p:spPr>
          <a:xfrm>
            <a:off x="8230697" y="2798064"/>
            <a:ext cx="2980121" cy="658368"/>
          </a:xfrm>
          <a:prstGeom prst="rect">
            <a:avLst/>
          </a:prstGeom>
          <a:noFill/>
        </p:spPr>
        <p:txBody>
          <a:bodyPr wrap="square" lIns="0" rIns="0" tIns="0" bIns="0" anchor="t">
            <a:spAutoFit/>
          </a:bodyPr>
          <a:lstStyle/>
          <a:p>
            <a:pPr algn="l">
              <a:lnSpc>
                <a:spcPct val="130000"/>
              </a:lnSpc>
            </a:pPr>
            <a:r>
              <a:rPr sz="950" b="0" i="0">
                <a:solidFill>
                  <a:srgbClr val="9CC0DC"/>
                </a:solidFill>
                <a:latin typeface="Source Han Sans SC"/>
                <a:ea typeface="Source Han Sans SC"/>
                <a:cs typeface="Source Han Sans SC"/>
              </a:rPr>
              <a:t>人脸识别、二维码解码、视觉伺服与离线语音各自给出数据集或合成场景下的评测结果与参数敏感度表。</a:t>
            </a:r>
          </a:p>
        </p:txBody>
      </p:sp>
      <p:sp>
        <p:nvSpPr>
          <p:cNvPr id="22" name="Rectangle 21"/>
          <p:cNvSpPr/>
          <p:nvPr/>
        </p:nvSpPr>
        <p:spPr>
          <a:xfrm>
            <a:off x="761695" y="3749040"/>
            <a:ext cx="3419033" cy="1371600"/>
          </a:xfrm>
          <a:prstGeom prst="rect">
            <a:avLst/>
          </a:prstGeom>
          <a:solidFill>
            <a:srgbClr val="143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61695" y="3749040"/>
            <a:ext cx="3419033" cy="4114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81151" y="3968496"/>
            <a:ext cx="2980121" cy="292608"/>
          </a:xfrm>
          <a:prstGeom prst="rect">
            <a:avLst/>
          </a:prstGeom>
          <a:noFill/>
        </p:spPr>
        <p:txBody>
          <a:bodyPr wrap="square" lIns="0" rIns="0" tIns="0" bIns="0" anchor="t">
            <a:spAutoFit/>
          </a:bodyPr>
          <a:lstStyle/>
          <a:p>
            <a:pPr algn="l"/>
            <a:r>
              <a:rPr sz="1250" b="0" i="0">
                <a:solidFill>
                  <a:srgbClr val="FFFFFF"/>
                </a:solidFill>
                <a:latin typeface="Source Han Sans SC Heavy"/>
                <a:ea typeface="Source Han Sans SC Heavy"/>
                <a:cs typeface="Source Han Sans SC Heavy"/>
              </a:rPr>
              <a:t>工程路线清晰</a:t>
            </a:r>
          </a:p>
        </p:txBody>
      </p:sp>
      <p:sp>
        <p:nvSpPr>
          <p:cNvPr id="25" name="TextBox 24"/>
          <p:cNvSpPr txBox="1"/>
          <p:nvPr/>
        </p:nvSpPr>
        <p:spPr>
          <a:xfrm>
            <a:off x="981151" y="4352544"/>
            <a:ext cx="2980121" cy="658368"/>
          </a:xfrm>
          <a:prstGeom prst="rect">
            <a:avLst/>
          </a:prstGeom>
          <a:noFill/>
        </p:spPr>
        <p:txBody>
          <a:bodyPr wrap="square" lIns="0" rIns="0" tIns="0" bIns="0" anchor="t">
            <a:spAutoFit/>
          </a:bodyPr>
          <a:lstStyle/>
          <a:p>
            <a:pPr algn="l">
              <a:lnSpc>
                <a:spcPct val="130000"/>
              </a:lnSpc>
            </a:pPr>
            <a:r>
              <a:rPr sz="950" b="0" i="0">
                <a:solidFill>
                  <a:srgbClr val="9CC0DC"/>
                </a:solidFill>
                <a:latin typeface="Source Han Sans SC"/>
                <a:ea typeface="Source Han Sans SC"/>
                <a:cs typeface="Source Han Sans SC"/>
              </a:rPr>
              <a:t>执行器台架、样机试制、相机与总线标定、现场条件评测按依赖排序推进，验收准则已先行定义。</a:t>
            </a:r>
          </a:p>
        </p:txBody>
      </p:sp>
      <p:sp>
        <p:nvSpPr>
          <p:cNvPr id="26" name="Rectangle 25"/>
          <p:cNvSpPr/>
          <p:nvPr/>
        </p:nvSpPr>
        <p:spPr>
          <a:xfrm>
            <a:off x="4386468" y="3749040"/>
            <a:ext cx="3419033" cy="1371600"/>
          </a:xfrm>
          <a:prstGeom prst="rect">
            <a:avLst/>
          </a:prstGeom>
          <a:solidFill>
            <a:srgbClr val="143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386468" y="3749040"/>
            <a:ext cx="3419033" cy="4114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605924" y="3968496"/>
            <a:ext cx="2980121" cy="292608"/>
          </a:xfrm>
          <a:prstGeom prst="rect">
            <a:avLst/>
          </a:prstGeom>
          <a:noFill/>
        </p:spPr>
        <p:txBody>
          <a:bodyPr wrap="square" lIns="0" rIns="0" tIns="0" bIns="0" anchor="t">
            <a:spAutoFit/>
          </a:bodyPr>
          <a:lstStyle/>
          <a:p>
            <a:pPr algn="l"/>
            <a:r>
              <a:rPr sz="1250" b="0" i="0">
                <a:solidFill>
                  <a:srgbClr val="FFFFFF"/>
                </a:solidFill>
                <a:latin typeface="Source Han Sans SC Heavy"/>
                <a:ea typeface="Source Han Sans SC Heavy"/>
                <a:cs typeface="Source Han Sans SC Heavy"/>
              </a:rPr>
              <a:t>教学与产业价值明确</a:t>
            </a:r>
          </a:p>
        </p:txBody>
      </p:sp>
      <p:sp>
        <p:nvSpPr>
          <p:cNvPr id="29" name="TextBox 28"/>
          <p:cNvSpPr txBox="1"/>
          <p:nvPr/>
        </p:nvSpPr>
        <p:spPr>
          <a:xfrm>
            <a:off x="4605924" y="4352544"/>
            <a:ext cx="2980121" cy="658368"/>
          </a:xfrm>
          <a:prstGeom prst="rect">
            <a:avLst/>
          </a:prstGeom>
          <a:noFill/>
        </p:spPr>
        <p:txBody>
          <a:bodyPr wrap="square" lIns="0" rIns="0" tIns="0" bIns="0" anchor="t">
            <a:spAutoFit/>
          </a:bodyPr>
          <a:lstStyle/>
          <a:p>
            <a:pPr algn="l">
              <a:lnSpc>
                <a:spcPct val="130000"/>
              </a:lnSpc>
            </a:pPr>
            <a:r>
              <a:rPr sz="950" b="0" i="0">
                <a:solidFill>
                  <a:srgbClr val="9CC0DC"/>
                </a:solidFill>
                <a:latin typeface="Source Han Sans SC"/>
                <a:ea typeface="Source Han Sans SC"/>
                <a:cs typeface="Source Han Sans SC"/>
              </a:rPr>
              <a:t>按 20 台规模，班级投入约为同级平台的三分之一，使每名学生可以独立完成从构型到任务调度的全流程实践。</a:t>
            </a:r>
          </a:p>
        </p:txBody>
      </p:sp>
      <p:sp>
        <p:nvSpPr>
          <p:cNvPr id="30" name="TextBox 29"/>
          <p:cNvSpPr txBox="1"/>
          <p:nvPr/>
        </p:nvSpPr>
        <p:spPr>
          <a:xfrm>
            <a:off x="761695" y="5266944"/>
            <a:ext cx="10668579" cy="274320"/>
          </a:xfrm>
          <a:prstGeom prst="rect">
            <a:avLst/>
          </a:prstGeom>
          <a:noFill/>
        </p:spPr>
        <p:txBody>
          <a:bodyPr wrap="square" lIns="0" rIns="0" tIns="0" bIns="0" anchor="t">
            <a:spAutoFit/>
          </a:bodyPr>
          <a:lstStyle/>
          <a:p>
            <a:pPr algn="l"/>
            <a:r>
              <a:rPr sz="1050" b="0" i="0">
                <a:solidFill>
                  <a:srgbClr val="FFFFFF"/>
                </a:solidFill>
                <a:latin typeface="Source Han Sans SC Heavy"/>
                <a:ea typeface="Source Han Sans SC Heavy"/>
                <a:cs typeface="Source Han Sans SC Heavy"/>
              </a:rPr>
              <a:t>下一步：</a:t>
            </a:r>
            <a:r>
              <a:rPr sz="1050" b="0" i="0">
                <a:solidFill>
                  <a:srgbClr val="9CC0DC"/>
                </a:solidFill>
                <a:latin typeface="Source Han Sans SC"/>
                <a:ea typeface="Source Han Sans SC"/>
                <a:cs typeface="Source Han Sans SC"/>
              </a:rPr>
              <a:t>完成样机试制与标定，把设计口径的指标逐项转化为实测结果。</a:t>
            </a:r>
          </a:p>
        </p:txBody>
      </p:sp>
      <p:sp>
        <p:nvSpPr>
          <p:cNvPr id="31" name="TextBox 30"/>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9CC0DC"/>
                </a:solidFill>
                <a:latin typeface="Source Han Sans SC"/>
                <a:ea typeface="Source Han Sans SC"/>
                <a:cs typeface="Source Han Sans SC"/>
              </a:rPr>
              <a:t>本页状态</a:t>
            </a:r>
          </a:p>
        </p:txBody>
      </p:sp>
      <p:sp>
        <p:nvSpPr>
          <p:cNvPr id="32" name="Rectangle 31"/>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
        <p:nvSpPr>
          <p:cNvPr id="34" name="Rectangle 33"/>
          <p:cNvSpPr/>
          <p:nvPr/>
        </p:nvSpPr>
        <p:spPr>
          <a:xfrm>
            <a:off x="2447239"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538679" y="6016752"/>
            <a:ext cx="624840" cy="237744"/>
          </a:xfrm>
          <a:prstGeom prst="rect">
            <a:avLst/>
          </a:prstGeom>
          <a:noFill/>
        </p:spPr>
        <p:txBody>
          <a:bodyPr wrap="square" lIns="0" rIns="0" tIns="0" bIns="0" anchor="ctr">
            <a:spAutoFit/>
          </a:bodyPr>
          <a:lstStyle/>
          <a:p>
            <a:pPr algn="l"/>
            <a:r>
              <a:rPr sz="1050" b="0" i="0">
                <a:solidFill>
                  <a:srgbClr val="E4572E"/>
                </a:solidFill>
                <a:latin typeface="Source Han Sans SC Heavy"/>
                <a:ea typeface="Source Han Sans SC Heavy"/>
                <a:cs typeface="Source Han Sans SC Heavy"/>
              </a:rPr>
              <a:t>◐</a:t>
            </a:r>
            <a:r>
              <a:rPr sz="1050" b="0" i="0">
                <a:solidFill>
                  <a:srgbClr val="E4572E"/>
                </a:solidFill>
                <a:latin typeface="Source Han Sans SC"/>
                <a:ea typeface="Source Han Sans SC"/>
                <a:cs typeface="Source Han Sans SC"/>
              </a:rPr>
              <a:t> 进行中</a:t>
            </a:r>
          </a:p>
        </p:txBody>
      </p:sp>
      <p:sp>
        <p:nvSpPr>
          <p:cNvPr id="36" name="Rectangle 35"/>
          <p:cNvSpPr/>
          <p:nvPr/>
        </p:nvSpPr>
        <p:spPr>
          <a:xfrm>
            <a:off x="3364687"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456127" y="6016752"/>
            <a:ext cx="624840" cy="237744"/>
          </a:xfrm>
          <a:prstGeom prst="rect">
            <a:avLst/>
          </a:prstGeom>
          <a:noFill/>
        </p:spPr>
        <p:txBody>
          <a:bodyPr wrap="square" lIns="0" rIns="0" tIns="0" bIns="0" anchor="ctr">
            <a:spAutoFit/>
          </a:bodyPr>
          <a:lstStyle/>
          <a:p>
            <a:pPr algn="l"/>
            <a:r>
              <a:rPr sz="1050" b="0" i="0">
                <a:solidFill>
                  <a:srgbClr val="6B7A8C"/>
                </a:solidFill>
                <a:latin typeface="Source Han Sans SC Heavy"/>
                <a:ea typeface="Source Han Sans SC Heavy"/>
                <a:cs typeface="Source Han Sans SC Heavy"/>
              </a:rPr>
              <a:t>○</a:t>
            </a:r>
            <a:r>
              <a:rPr sz="1050" b="0" i="0">
                <a:solidFill>
                  <a:srgbClr val="6B7A8C"/>
                </a:solidFill>
                <a:latin typeface="Source Han Sans SC"/>
                <a:ea typeface="Source Han Sans SC"/>
                <a:cs typeface="Source Han Sans SC"/>
              </a:rPr>
              <a:t> 规划中</a:t>
            </a:r>
          </a:p>
        </p:txBody>
      </p:sp>
    </p:spTree>
  </p:cSld>
  <p:clrMapOvr>
    <a:masterClrMapping/>
  </p:clrMapOvr>
  <p:transition spd="med"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761695" y="365760"/>
            <a:ext cx="5486400" cy="219456"/>
          </a:xfrm>
          <a:prstGeom prst="rect">
            <a:avLst/>
          </a:prstGeom>
          <a:noFill/>
        </p:spPr>
        <p:txBody>
          <a:bodyPr wrap="square" lIns="0" rIns="0" tIns="0" bIns="0" anchor="t">
            <a:spAutoFit/>
          </a:bodyPr>
          <a:lstStyle/>
          <a:p>
            <a:pPr algn="l"/>
            <a:r>
              <a:rPr sz="1000" b="0" i="0">
                <a:solidFill>
                  <a:srgbClr val="1264A3"/>
                </a:solidFill>
                <a:latin typeface="Source Han Sans SC Heavy"/>
                <a:ea typeface="Source Han Sans SC Heavy"/>
                <a:cs typeface="Source Han Sans SC Heavy"/>
              </a:rPr>
              <a:t>04</a:t>
            </a:r>
            <a:r>
              <a:rPr sz="1000" b="0" i="0">
                <a:solidFill>
                  <a:srgbClr val="6B7A8C"/>
                </a:solidFill>
                <a:latin typeface="Source Han Sans SC"/>
                <a:ea typeface="Source Han Sans SC"/>
                <a:cs typeface="Source Han Sans SC"/>
              </a:rPr>
              <a:t>  验证体系与工程路线</a:t>
            </a:r>
          </a:p>
        </p:txBody>
      </p:sp>
      <p:sp>
        <p:nvSpPr>
          <p:cNvPr id="3" name="TextBox 2"/>
          <p:cNvSpPr txBox="1"/>
          <p:nvPr/>
        </p:nvSpPr>
        <p:spPr>
          <a:xfrm>
            <a:off x="6248095" y="365760"/>
            <a:ext cx="5182179" cy="219456"/>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团队</a:t>
            </a:r>
          </a:p>
        </p:txBody>
      </p:sp>
      <p:cxnSp>
        <p:nvCxnSpPr>
          <p:cNvPr id="4" name="Connector 3"/>
          <p:cNvCxnSpPr/>
          <p:nvPr/>
        </p:nvCxnSpPr>
        <p:spPr>
          <a:xfrm>
            <a:off x="761695" y="6217920"/>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61695" y="6419088"/>
            <a:ext cx="5486400" cy="201168"/>
          </a:xfrm>
          <a:prstGeom prst="rect">
            <a:avLst/>
          </a:prstGeom>
          <a:noFill/>
        </p:spPr>
        <p:txBody>
          <a:bodyPr wrap="square" lIns="0" rIns="0" tIns="0" bIns="0" anchor="t">
            <a:spAutoFit/>
          </a:bodyPr>
          <a:lstStyle/>
          <a:p>
            <a:pPr algn="l"/>
            <a:r>
              <a:rPr sz="900" b="0" i="0">
                <a:solidFill>
                  <a:srgbClr val="6B7A8C"/>
                </a:solidFill>
                <a:latin typeface="Source Han Sans SC"/>
                <a:ea typeface="Source Han Sans SC"/>
                <a:cs typeface="Source Han Sans SC"/>
              </a:rPr>
              <a:t>A.T.R.I. 桌面自主人形智能</a:t>
            </a:r>
          </a:p>
        </p:txBody>
      </p:sp>
      <p:sp>
        <p:nvSpPr>
          <p:cNvPr id="6" name="TextBox 5"/>
          <p:cNvSpPr txBox="1"/>
          <p:nvPr/>
        </p:nvSpPr>
        <p:spPr>
          <a:xfrm>
            <a:off x="6248095" y="6419088"/>
            <a:ext cx="5182179" cy="201168"/>
          </a:xfrm>
          <a:prstGeom prst="rect">
            <a:avLst/>
          </a:prstGeom>
          <a:noFill/>
        </p:spPr>
        <p:txBody>
          <a:bodyPr wrap="square" lIns="0" rIns="0" tIns="0" bIns="0" anchor="t">
            <a:spAutoFit/>
          </a:bodyPr>
          <a:lstStyle/>
          <a:p>
            <a:pPr algn="r"/>
            <a:r>
              <a:rPr sz="900" b="0" i="0">
                <a:solidFill>
                  <a:srgbClr val="6B7A8C"/>
                </a:solidFill>
                <a:latin typeface="Source Han Sans SC"/>
                <a:ea typeface="Source Han Sans SC"/>
                <a:cs typeface="Source Han Sans SC"/>
              </a:rPr>
              <a:t>35 / 35</a:t>
            </a:r>
          </a:p>
        </p:txBody>
      </p:sp>
      <p:sp>
        <p:nvSpPr>
          <p:cNvPr id="7" name="TextBox 6"/>
          <p:cNvSpPr txBox="1"/>
          <p:nvPr/>
        </p:nvSpPr>
        <p:spPr>
          <a:xfrm>
            <a:off x="761695" y="713232"/>
            <a:ext cx="10668579" cy="713232"/>
          </a:xfrm>
          <a:prstGeom prst="rect">
            <a:avLst/>
          </a:prstGeom>
          <a:noFill/>
        </p:spPr>
        <p:txBody>
          <a:bodyPr wrap="square" lIns="0" rIns="0" tIns="0" bIns="0" anchor="t">
            <a:spAutoFit/>
          </a:bodyPr>
          <a:lstStyle/>
          <a:p>
            <a:pPr algn="l">
              <a:lnSpc>
                <a:spcPct val="112000"/>
              </a:lnSpc>
            </a:pPr>
            <a:r>
              <a:rPr sz="3000" b="0" i="0">
                <a:solidFill>
                  <a:srgbClr val="0A2540"/>
                </a:solidFill>
                <a:latin typeface="Source Han Sans SC Heavy"/>
                <a:ea typeface="Source Han Sans SC Heavy"/>
                <a:cs typeface="Source Han Sans SC Heavy"/>
              </a:rPr>
              <a:t>团队分工与致谢</a:t>
            </a:r>
          </a:p>
        </p:txBody>
      </p:sp>
      <p:sp>
        <p:nvSpPr>
          <p:cNvPr id="8" name="TextBox 7"/>
          <p:cNvSpPr txBox="1"/>
          <p:nvPr/>
        </p:nvSpPr>
        <p:spPr>
          <a:xfrm>
            <a:off x="761695" y="1481328"/>
            <a:ext cx="10668579" cy="310895"/>
          </a:xfrm>
          <a:prstGeom prst="rect">
            <a:avLst/>
          </a:prstGeom>
          <a:noFill/>
        </p:spPr>
        <p:txBody>
          <a:bodyPr wrap="square" lIns="0" rIns="0" tIns="0" bIns="0" anchor="t">
            <a:spAutoFit/>
          </a:bodyPr>
          <a:lstStyle/>
          <a:p>
            <a:pPr algn="l">
              <a:lnSpc>
                <a:spcPct val="125000"/>
              </a:lnSpc>
            </a:pPr>
            <a:r>
              <a:rPr sz="1350" b="0" i="0">
                <a:solidFill>
                  <a:srgbClr val="6B7A8C"/>
                </a:solidFill>
                <a:latin typeface="Source Han Sans SC"/>
                <a:ea typeface="Source Han Sans SC"/>
                <a:cs typeface="Source Han Sans SC"/>
              </a:rPr>
              <a:t>团队按机械、统筹、算法、系统与小脑总线五条线分工，全栈能力自持。</a:t>
            </a:r>
          </a:p>
        </p:txBody>
      </p:sp>
      <p:cxnSp>
        <p:nvCxnSpPr>
          <p:cNvPr id="9" name="Connector 8"/>
          <p:cNvCxnSpPr/>
          <p:nvPr/>
        </p:nvCxnSpPr>
        <p:spPr>
          <a:xfrm>
            <a:off x="761695" y="1847088"/>
            <a:ext cx="10668579" cy="0"/>
          </a:xfrm>
          <a:prstGeom prst="line">
            <a:avLst/>
          </a:prstGeom>
          <a:ln w="9525">
            <a:solidFill>
              <a:srgbClr val="D8E2EC"/>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61695" y="2084832"/>
            <a:ext cx="6675120" cy="5669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61695" y="2084832"/>
            <a:ext cx="45720" cy="5669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99439" y="2084832"/>
            <a:ext cx="1188720" cy="566928"/>
          </a:xfrm>
          <a:prstGeom prst="rect">
            <a:avLst/>
          </a:prstGeom>
          <a:noFill/>
        </p:spPr>
        <p:txBody>
          <a:bodyPr wrap="square" lIns="0" rIns="0" tIns="0" bIns="0" anchor="ctr">
            <a:spAutoFit/>
          </a:bodyPr>
          <a:lstStyle/>
          <a:p>
            <a:pPr algn="l"/>
            <a:r>
              <a:rPr sz="1200" b="0" i="0">
                <a:solidFill>
                  <a:srgbClr val="0A2540"/>
                </a:solidFill>
                <a:latin typeface="Source Han Sans SC Heavy"/>
                <a:ea typeface="Source Han Sans SC Heavy"/>
                <a:cs typeface="Source Han Sans SC Heavy"/>
              </a:rPr>
              <a:t>何浩睿</a:t>
            </a:r>
          </a:p>
        </p:txBody>
      </p:sp>
      <p:sp>
        <p:nvSpPr>
          <p:cNvPr id="13" name="TextBox 12"/>
          <p:cNvSpPr txBox="1"/>
          <p:nvPr/>
        </p:nvSpPr>
        <p:spPr>
          <a:xfrm>
            <a:off x="2279599" y="2084832"/>
            <a:ext cx="4937760" cy="56692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机械与步态：20 自由度构型、铝夹层结构、载荷校核、参数化步态</a:t>
            </a:r>
          </a:p>
        </p:txBody>
      </p:sp>
      <p:sp>
        <p:nvSpPr>
          <p:cNvPr id="14" name="Rectangle 13"/>
          <p:cNvSpPr/>
          <p:nvPr/>
        </p:nvSpPr>
        <p:spPr>
          <a:xfrm>
            <a:off x="761695" y="2743200"/>
            <a:ext cx="6675120" cy="5669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61695" y="2743200"/>
            <a:ext cx="45720" cy="5669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99439" y="2743200"/>
            <a:ext cx="1188720" cy="566928"/>
          </a:xfrm>
          <a:prstGeom prst="rect">
            <a:avLst/>
          </a:prstGeom>
          <a:noFill/>
        </p:spPr>
        <p:txBody>
          <a:bodyPr wrap="square" lIns="0" rIns="0" tIns="0" bIns="0" anchor="ctr">
            <a:spAutoFit/>
          </a:bodyPr>
          <a:lstStyle/>
          <a:p>
            <a:pPr algn="l"/>
            <a:r>
              <a:rPr sz="1200" b="0" i="0">
                <a:solidFill>
                  <a:srgbClr val="0A2540"/>
                </a:solidFill>
                <a:latin typeface="Source Han Sans SC Heavy"/>
                <a:ea typeface="Source Han Sans SC Heavy"/>
                <a:cs typeface="Source Han Sans SC Heavy"/>
              </a:rPr>
              <a:t>周柏宇</a:t>
            </a:r>
          </a:p>
        </p:txBody>
      </p:sp>
      <p:sp>
        <p:nvSpPr>
          <p:cNvPr id="17" name="TextBox 16"/>
          <p:cNvSpPr txBox="1"/>
          <p:nvPr/>
        </p:nvSpPr>
        <p:spPr>
          <a:xfrm>
            <a:off x="2279599" y="2743200"/>
            <a:ext cx="4937760" cy="56692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项目统筹：申报材料、集成进度、答辩组织</a:t>
            </a:r>
          </a:p>
        </p:txBody>
      </p:sp>
      <p:sp>
        <p:nvSpPr>
          <p:cNvPr id="18" name="Rectangle 17"/>
          <p:cNvSpPr/>
          <p:nvPr/>
        </p:nvSpPr>
        <p:spPr>
          <a:xfrm>
            <a:off x="761695" y="3401568"/>
            <a:ext cx="6675120" cy="5669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61695" y="3401568"/>
            <a:ext cx="45720" cy="5669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99439" y="3401568"/>
            <a:ext cx="1188720" cy="566928"/>
          </a:xfrm>
          <a:prstGeom prst="rect">
            <a:avLst/>
          </a:prstGeom>
          <a:noFill/>
        </p:spPr>
        <p:txBody>
          <a:bodyPr wrap="square" lIns="0" rIns="0" tIns="0" bIns="0" anchor="ctr">
            <a:spAutoFit/>
          </a:bodyPr>
          <a:lstStyle/>
          <a:p>
            <a:pPr algn="l"/>
            <a:r>
              <a:rPr sz="1200" b="0" i="0">
                <a:solidFill>
                  <a:srgbClr val="0A2540"/>
                </a:solidFill>
                <a:latin typeface="Source Han Sans SC Heavy"/>
                <a:ea typeface="Source Han Sans SC Heavy"/>
                <a:cs typeface="Source Han Sans SC Heavy"/>
              </a:rPr>
              <a:t>胡晟瑞</a:t>
            </a:r>
          </a:p>
        </p:txBody>
      </p:sp>
      <p:sp>
        <p:nvSpPr>
          <p:cNvPr id="21" name="TextBox 20"/>
          <p:cNvSpPr txBox="1"/>
          <p:nvPr/>
        </p:nvSpPr>
        <p:spPr>
          <a:xfrm>
            <a:off x="2279599" y="3401568"/>
            <a:ext cx="4937760" cy="56692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算法：单目视觉、二维码解析、闭环视觉伺服</a:t>
            </a:r>
          </a:p>
        </p:txBody>
      </p:sp>
      <p:sp>
        <p:nvSpPr>
          <p:cNvPr id="22" name="Rectangle 21"/>
          <p:cNvSpPr/>
          <p:nvPr/>
        </p:nvSpPr>
        <p:spPr>
          <a:xfrm>
            <a:off x="761695" y="4059935"/>
            <a:ext cx="6675120" cy="5669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61695" y="4059935"/>
            <a:ext cx="45720" cy="5669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99439" y="4059935"/>
            <a:ext cx="1188720" cy="566928"/>
          </a:xfrm>
          <a:prstGeom prst="rect">
            <a:avLst/>
          </a:prstGeom>
          <a:noFill/>
        </p:spPr>
        <p:txBody>
          <a:bodyPr wrap="square" lIns="0" rIns="0" tIns="0" bIns="0" anchor="ctr">
            <a:spAutoFit/>
          </a:bodyPr>
          <a:lstStyle/>
          <a:p>
            <a:pPr algn="l"/>
            <a:r>
              <a:rPr sz="1200" b="0" i="0">
                <a:solidFill>
                  <a:srgbClr val="0A2540"/>
                </a:solidFill>
                <a:latin typeface="Source Han Sans SC Heavy"/>
                <a:ea typeface="Source Han Sans SC Heavy"/>
                <a:cs typeface="Source Han Sans SC Heavy"/>
              </a:rPr>
              <a:t>王旭琪</a:t>
            </a:r>
          </a:p>
        </p:txBody>
      </p:sp>
      <p:sp>
        <p:nvSpPr>
          <p:cNvPr id="25" name="TextBox 24"/>
          <p:cNvSpPr txBox="1"/>
          <p:nvPr/>
        </p:nvSpPr>
        <p:spPr>
          <a:xfrm>
            <a:off x="2279599" y="4059935"/>
            <a:ext cx="4937760" cy="56692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系统：状态机、任务卡、技能契约、仿真测试</a:t>
            </a:r>
          </a:p>
        </p:txBody>
      </p:sp>
      <p:sp>
        <p:nvSpPr>
          <p:cNvPr id="26" name="Rectangle 25"/>
          <p:cNvSpPr/>
          <p:nvPr/>
        </p:nvSpPr>
        <p:spPr>
          <a:xfrm>
            <a:off x="761695" y="4718303"/>
            <a:ext cx="6675120" cy="566928"/>
          </a:xfrm>
          <a:prstGeom prst="rect">
            <a:avLst/>
          </a:prstGeom>
          <a:solidFill>
            <a:srgbClr val="FFFFFF"/>
          </a:solidFill>
          <a:ln w="9525">
            <a:solidFill>
              <a:srgbClr val="D8E2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61695" y="4718303"/>
            <a:ext cx="45720" cy="566928"/>
          </a:xfrm>
          <a:prstGeom prst="rect">
            <a:avLst/>
          </a:prstGeom>
          <a:solidFill>
            <a:srgbClr val="1264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99439" y="4718303"/>
            <a:ext cx="1188720" cy="566928"/>
          </a:xfrm>
          <a:prstGeom prst="rect">
            <a:avLst/>
          </a:prstGeom>
          <a:noFill/>
        </p:spPr>
        <p:txBody>
          <a:bodyPr wrap="square" lIns="0" rIns="0" tIns="0" bIns="0" anchor="ctr">
            <a:spAutoFit/>
          </a:bodyPr>
          <a:lstStyle/>
          <a:p>
            <a:pPr algn="l"/>
            <a:r>
              <a:rPr sz="1200" b="0" i="0">
                <a:solidFill>
                  <a:srgbClr val="0A2540"/>
                </a:solidFill>
                <a:latin typeface="Source Han Sans SC Heavy"/>
                <a:ea typeface="Source Han Sans SC Heavy"/>
                <a:cs typeface="Source Han Sans SC Heavy"/>
              </a:rPr>
              <a:t>张景昆</a:t>
            </a:r>
          </a:p>
        </p:txBody>
      </p:sp>
      <p:sp>
        <p:nvSpPr>
          <p:cNvPr id="29" name="TextBox 28"/>
          <p:cNvSpPr txBox="1"/>
          <p:nvPr/>
        </p:nvSpPr>
        <p:spPr>
          <a:xfrm>
            <a:off x="2279599" y="4718303"/>
            <a:ext cx="4937760" cy="566928"/>
          </a:xfrm>
          <a:prstGeom prst="rect">
            <a:avLst/>
          </a:prstGeom>
          <a:noFill/>
        </p:spPr>
        <p:txBody>
          <a:bodyPr wrap="square" lIns="0" rIns="0" tIns="0" bIns="0" anchor="ctr">
            <a:spAutoFit/>
          </a:bodyPr>
          <a:lstStyle/>
          <a:p>
            <a:pPr algn="l"/>
            <a:r>
              <a:rPr sz="950" b="0" i="0">
                <a:solidFill>
                  <a:srgbClr val="1F2A37"/>
                </a:solidFill>
                <a:latin typeface="Source Han Sans SC"/>
                <a:ea typeface="Source Han Sans SC"/>
                <a:cs typeface="Source Han Sans SC"/>
              </a:rPr>
              <a:t>小脑与总线：总线协议、IMU 语义、测试维护</a:t>
            </a:r>
          </a:p>
        </p:txBody>
      </p:sp>
      <p:sp>
        <p:nvSpPr>
          <p:cNvPr id="30" name="Rectangle 29"/>
          <p:cNvSpPr/>
          <p:nvPr/>
        </p:nvSpPr>
        <p:spPr>
          <a:xfrm>
            <a:off x="7802575" y="2084832"/>
            <a:ext cx="3627699" cy="1298448"/>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003743" y="2212848"/>
            <a:ext cx="3225363" cy="256032"/>
          </a:xfrm>
          <a:prstGeom prst="rect">
            <a:avLst/>
          </a:prstGeom>
          <a:noFill/>
        </p:spPr>
        <p:txBody>
          <a:bodyPr wrap="square" lIns="0" rIns="0" tIns="0" bIns="0" anchor="t">
            <a:spAutoFit/>
          </a:bodyPr>
          <a:lstStyle/>
          <a:p>
            <a:pPr algn="l"/>
            <a:r>
              <a:rPr sz="1150" b="0" i="0">
                <a:solidFill>
                  <a:srgbClr val="0A2540"/>
                </a:solidFill>
                <a:latin typeface="Source Han Sans SC Heavy"/>
                <a:ea typeface="Source Han Sans SC Heavy"/>
                <a:cs typeface="Source Han Sans SC Heavy"/>
              </a:rPr>
              <a:t>指导教师</a:t>
            </a:r>
          </a:p>
        </p:txBody>
      </p:sp>
      <p:sp>
        <p:nvSpPr>
          <p:cNvPr id="32" name="TextBox 31"/>
          <p:cNvSpPr txBox="1"/>
          <p:nvPr/>
        </p:nvSpPr>
        <p:spPr>
          <a:xfrm>
            <a:off x="8003743" y="2523744"/>
            <a:ext cx="3225363" cy="731520"/>
          </a:xfrm>
          <a:prstGeom prst="rect">
            <a:avLst/>
          </a:prstGeom>
          <a:noFill/>
        </p:spPr>
        <p:txBody>
          <a:bodyPr wrap="square" lIns="0" rIns="0" tIns="0" bIns="0" anchor="t">
            <a:spAutoFit/>
          </a:bodyPr>
          <a:lstStyle/>
          <a:p>
            <a:pPr algn="l">
              <a:lnSpc>
                <a:spcPct val="130000"/>
              </a:lnSpc>
            </a:pPr>
            <a:r>
              <a:rPr sz="1100" b="0" i="0">
                <a:solidFill>
                  <a:srgbClr val="1F2A37"/>
                </a:solidFill>
                <a:latin typeface="Source Han Sans SC"/>
                <a:ea typeface="Source Han Sans SC"/>
                <a:cs typeface="Source Han Sans SC"/>
              </a:rPr>
              <a:t>陈妍 · 李璐</a:t>
            </a:r>
          </a:p>
          <a:p>
            <a:pPr algn="l">
              <a:lnSpc>
                <a:spcPct val="130000"/>
              </a:lnSpc>
            </a:pPr>
            <a:r>
              <a:rPr sz="900" b="0" i="0">
                <a:solidFill>
                  <a:srgbClr val="6B7A8C"/>
                </a:solidFill>
                <a:latin typeface="Source Han Sans SC"/>
                <a:ea typeface="Source Han Sans SC"/>
                <a:cs typeface="Source Han Sans SC"/>
              </a:rPr>
              <a:t>路线把关 · 教学应用 · 合规审查</a:t>
            </a:r>
          </a:p>
        </p:txBody>
      </p:sp>
      <p:sp>
        <p:nvSpPr>
          <p:cNvPr id="33" name="Rectangle 32"/>
          <p:cNvSpPr/>
          <p:nvPr/>
        </p:nvSpPr>
        <p:spPr>
          <a:xfrm>
            <a:off x="7802575" y="3511296"/>
            <a:ext cx="3627699" cy="179222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003743" y="3639312"/>
            <a:ext cx="3225363" cy="256032"/>
          </a:xfrm>
          <a:prstGeom prst="rect">
            <a:avLst/>
          </a:prstGeom>
          <a:noFill/>
        </p:spPr>
        <p:txBody>
          <a:bodyPr wrap="square" lIns="0" rIns="0" tIns="0" bIns="0" anchor="t">
            <a:spAutoFit/>
          </a:bodyPr>
          <a:lstStyle/>
          <a:p>
            <a:pPr algn="l"/>
            <a:r>
              <a:rPr sz="1150" b="0" i="0">
                <a:solidFill>
                  <a:srgbClr val="0A2540"/>
                </a:solidFill>
                <a:latin typeface="Source Han Sans SC Heavy"/>
                <a:ea typeface="Source Han Sans SC Heavy"/>
                <a:cs typeface="Source Han Sans SC Heavy"/>
              </a:rPr>
              <a:t>致谢</a:t>
            </a:r>
          </a:p>
        </p:txBody>
      </p:sp>
      <p:sp>
        <p:nvSpPr>
          <p:cNvPr id="35" name="TextBox 34"/>
          <p:cNvSpPr txBox="1"/>
          <p:nvPr/>
        </p:nvSpPr>
        <p:spPr>
          <a:xfrm>
            <a:off x="8003743" y="3950208"/>
            <a:ext cx="3225363" cy="1207008"/>
          </a:xfrm>
          <a:prstGeom prst="rect">
            <a:avLst/>
          </a:prstGeom>
          <a:noFill/>
        </p:spPr>
        <p:txBody>
          <a:bodyPr wrap="square" lIns="0" rIns="0" tIns="0" bIns="0" anchor="t">
            <a:spAutoFit/>
          </a:bodyPr>
          <a:lstStyle/>
          <a:p>
            <a:pPr algn="l">
              <a:lnSpc>
                <a:spcPct val="130000"/>
              </a:lnSpc>
            </a:pPr>
            <a:r>
              <a:rPr sz="950" b="0" i="0">
                <a:solidFill>
                  <a:srgbClr val="1F2A37"/>
                </a:solidFill>
                <a:latin typeface="Source Han Sans SC"/>
                <a:ea typeface="Source Han Sans SC"/>
                <a:cs typeface="Source Han Sans SC"/>
              </a:rPr>
              <a:t>感谢学院在实验室场地、计算资源与教学应用场景上的支持，感谢指导教师在构型决策与合规口径上的把关。</a:t>
            </a:r>
          </a:p>
        </p:txBody>
      </p:sp>
      <p:sp>
        <p:nvSpPr>
          <p:cNvPr id="36" name="TextBox 35"/>
          <p:cNvSpPr txBox="1"/>
          <p:nvPr/>
        </p:nvSpPr>
        <p:spPr>
          <a:xfrm>
            <a:off x="761695" y="5413248"/>
            <a:ext cx="10668579" cy="310896"/>
          </a:xfrm>
          <a:prstGeom prst="rect">
            <a:avLst/>
          </a:prstGeom>
          <a:noFill/>
        </p:spPr>
        <p:txBody>
          <a:bodyPr wrap="square" lIns="0" rIns="0" tIns="0" bIns="0" anchor="t">
            <a:spAutoFit/>
          </a:bodyPr>
          <a:lstStyle/>
          <a:p>
            <a:pPr algn="l"/>
            <a:r>
              <a:rPr sz="1000" b="0" i="0">
                <a:solidFill>
                  <a:srgbClr val="0A2540"/>
                </a:solidFill>
                <a:latin typeface="Source Han Sans SC Heavy"/>
                <a:ea typeface="Source Han Sans SC Heavy"/>
                <a:cs typeface="Source Han Sans SC Heavy"/>
              </a:rPr>
              <a:t>A.T.R.I. 桌面自主人形智能　|　中国国际大学生创新大赛（2026）陕西赛区 · 人形机器人专项 · 小人形组</a:t>
            </a:r>
          </a:p>
        </p:txBody>
      </p:sp>
      <p:sp>
        <p:nvSpPr>
          <p:cNvPr id="37" name="TextBox 36"/>
          <p:cNvSpPr txBox="1"/>
          <p:nvPr/>
        </p:nvSpPr>
        <p:spPr>
          <a:xfrm>
            <a:off x="761695" y="6016752"/>
            <a:ext cx="713232" cy="237744"/>
          </a:xfrm>
          <a:prstGeom prst="rect">
            <a:avLst/>
          </a:prstGeom>
          <a:noFill/>
        </p:spPr>
        <p:txBody>
          <a:bodyPr wrap="square" lIns="0" rIns="0" tIns="0" bIns="0" anchor="ctr">
            <a:spAutoFit/>
          </a:bodyPr>
          <a:lstStyle/>
          <a:p>
            <a:pPr algn="l"/>
            <a:r>
              <a:rPr sz="1000" b="0" i="0">
                <a:solidFill>
                  <a:srgbClr val="6B7A8C"/>
                </a:solidFill>
                <a:latin typeface="Source Han Sans SC"/>
                <a:ea typeface="Source Han Sans SC"/>
                <a:cs typeface="Source Han Sans SC"/>
              </a:rPr>
              <a:t>本页状态</a:t>
            </a:r>
          </a:p>
        </p:txBody>
      </p:sp>
      <p:sp>
        <p:nvSpPr>
          <p:cNvPr id="38" name="Rectangle 37"/>
          <p:cNvSpPr/>
          <p:nvPr/>
        </p:nvSpPr>
        <p:spPr>
          <a:xfrm>
            <a:off x="1529791" y="6016752"/>
            <a:ext cx="771144" cy="237744"/>
          </a:xfrm>
          <a:prstGeom prst="rect">
            <a:avLst/>
          </a:prstGeom>
          <a:solidFill>
            <a:srgbClr val="E8F0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621231" y="6016752"/>
            <a:ext cx="624840" cy="237744"/>
          </a:xfrm>
          <a:prstGeom prst="rect">
            <a:avLst/>
          </a:prstGeom>
          <a:noFill/>
        </p:spPr>
        <p:txBody>
          <a:bodyPr wrap="square" lIns="0" rIns="0" tIns="0" bIns="0" anchor="ctr">
            <a:spAutoFit/>
          </a:bodyPr>
          <a:lstStyle/>
          <a:p>
            <a:pPr algn="l"/>
            <a:r>
              <a:rPr sz="1050" b="0" i="0">
                <a:solidFill>
                  <a:srgbClr val="2E9E7B"/>
                </a:solidFill>
                <a:latin typeface="Source Han Sans SC Heavy"/>
                <a:ea typeface="Source Han Sans SC Heavy"/>
                <a:cs typeface="Source Han Sans SC Heavy"/>
              </a:rPr>
              <a:t>●</a:t>
            </a:r>
            <a:r>
              <a:rPr sz="1050" b="0" i="0">
                <a:solidFill>
                  <a:srgbClr val="2E9E7B"/>
                </a:solidFill>
                <a:latin typeface="Source Han Sans SC"/>
                <a:ea typeface="Source Han Sans SC"/>
                <a:cs typeface="Source Han Sans SC"/>
              </a:rPr>
              <a:t> 已完成</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