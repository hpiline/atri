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74980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中国国际大学生创新大赛（2026）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陕西赛区特色专项 · 人形机器人专项 · 小人形组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1572768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45059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桌面自主人形智能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" y="3017520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4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AUTONOMOUS TABLETOP ROBOTIC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1695" y="3511296"/>
            <a:ext cx="6583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695" y="3749039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一台能自己看、自己想、自己走的桌面双足机器人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426110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 DOF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47.5 cm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133 项测试通过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557" y="4903470"/>
            <a:ext cx="528980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1695" y="4864608"/>
            <a:ext cx="77724" cy="777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359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6548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1738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6927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2117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06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2496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7685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2875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8064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254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8444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36335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8823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012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9202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4391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9581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4770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960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149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" y="5029200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个主动自由度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双腿 10 · 双臂 8 · 躯干 2 · 头部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449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项目团队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41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 · 周柏宇 · 胡晟瑞 · 王旭琪 · 张景昆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59436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指导教师　陈妍 · 李璐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84848" y="658368"/>
            <a:ext cx="0" cy="5541264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01_关节编号图.png"/>
          <p:cNvPicPr>
            <a:picLocks noChangeAspect="1"/>
          </p:cNvPicPr>
          <p:nvPr/>
        </p:nvPicPr>
        <p:blipFill>
          <a:blip r:embed="rId2"/>
          <a:srcRect l="3819" r="10870"/>
          <a:stretch>
            <a:fillRect/>
          </a:stretch>
        </p:blipFill>
        <p:spPr>
          <a:xfrm>
            <a:off x="6949440" y="1005840"/>
            <a:ext cx="5074920" cy="42062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49440" y="535838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关节结构运动学图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559552"/>
            <a:ext cx="5120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软件栈已跑通五项任务闭环；样机在晋级后制造。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五项赛题共用一套任务系统，软件栈已经跑通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左边是要解决的问题，中间是已经做出来的东西，右边是当前推进到哪一步。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要解决的问题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22576"/>
            <a:ext cx="3017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1695" y="24688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" y="2468880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设备贵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031" y="2724912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教育型小型双足套件多在数千至万元级，一个班 20 台就是十万级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58444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031" y="3584448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算法散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" y="3840480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人脸、循迹、抓取、步态散在四五套互不相通的工程里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" y="470001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" y="4700016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" y="4956048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依赖云端推理的方案，赛场一断网就失效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8399" y="2048256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已经做出来的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08399" y="2322576"/>
            <a:ext cx="4160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0839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39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785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DOF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785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主动自由度：双腿 10 + 双臂 8 + 躯干 2 + 头部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581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581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527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133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527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测试全通过 = 软件行为 51 + 设计模型与工程图 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839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9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785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785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五项任务无硬件闭环演示全部通过，可当场复现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581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581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527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¥2755</a:t>
            </a: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–3095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527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新增采购（全口径 ¥3105–3745；差额为实验室已有计算板）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8103" y="2048256"/>
            <a:ext cx="2831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推进到哪一步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8103" y="2322576"/>
            <a:ext cx="2831897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598103" y="2468880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44407" y="2596896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35847" y="2596896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0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4407" y="2907792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软件栈 + 设计模型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4407" y="3145536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133 项测试、5/5 闭环、22 关节设计模型与 4 张工程图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8103" y="3593592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44407" y="3721608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5847" y="3721608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44407" y="4032504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仿真验证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44407" y="4270248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闭环控制律已跑出收敛序列与鲁棒性边界；Webots 22 DOF 运动学联调通过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98103" y="4718304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44407" y="4846320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35847" y="4846320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4407" y="5157216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实物样机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44407" y="5394960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晋级后启动采购、3D 打印与装配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六章，从「为什么做」走到「谁来做、要多少钱」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每页只挂一个主状态标签；行内细则用小标。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3969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3969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3969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2943" y="213969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立项基础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615" y="213969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为什么要在此时此地做这台机器人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6735" y="213969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P04–P10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798064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798064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798064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2943" y="2798064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面向市场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615" y="2798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卖给谁、市场多大、凭什么赢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6735" y="2798064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P11–P15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56432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56432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56432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2943" y="3456432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技术架构与实现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615" y="3456432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怎么做的、技术硬在哪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6735" y="3456432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P16–P31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14800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14800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14800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2943" y="4114800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五项任务闭环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0615" y="4114800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五项赛题具体怎么跑通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6735" y="41148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773168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773168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773168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2943" y="4773168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特色与创新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0615" y="4773168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我们独特在哪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6735" y="477316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P40–P44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43153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1695" y="543153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9439" y="543153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2943" y="543153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验证与推进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0615" y="5431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做到哪步、谁在做、要多少钱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735" y="543153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P45–P51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2139696"/>
            <a:ext cx="3154680" cy="3749039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13064" y="2359152"/>
            <a:ext cx="2679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状态标注制度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13064" y="2651760"/>
            <a:ext cx="2679192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13064" y="283464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13064" y="305409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仓库里有代码、测试或工程图可查证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13064" y="356616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78561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已启动、有中间产物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3064" y="429768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13064" y="451713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方案已定、尚未落地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13064" y="502920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 设计目标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524865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有设计模型与图纸，无实物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为什么要在此时、此地，做一台桌面双足机器人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立项基础 · P04–P10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政策、区域、赛事三条线，在同一年交汇到同一个点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这三件事同时要求同一件东西：一台便宜、能拆开讲原理、能跑完整任务链的机器人。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2026.4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具身智能列入本科专业目录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7727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国家政策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2026 年 4 月「具身智能」列入普通高等学校本科专业目录，西安交通大学为首批获批建设高校之一，同年秋季开始本科招生。新专业需要能成班开出的实验设备。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9328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9328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5360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区域政策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65360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65360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陕西省推进「人工智能+教育」行动计划，需要可落地的教学载体，而不只是课程与平台。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6961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6961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2993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赛事规则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12993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12993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人形机器人专项设小人形组，五项任务清单（人脸识别 / 二维码循迹 / 物品搬运 / 体育运动 / 娱乐休闲）本身就是一份可验收的教学大纲。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5468112"/>
            <a:ext cx="10668579" cy="4206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51" y="5468112"/>
            <a:ext cx="1022966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三条线指向同一个缺口——</a:t>
            </a: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缺少一台「买得起、拆得开、跑得完」的桌面双足平台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想开一门双足实验课，第一道坎不是教学法，是预算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价格门槛不降下来，「成班开课」这四个字就不成立。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¥2755–3095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新增采购 ／ 全口径 ¥3105–3745（一个班 20 台 ≈ 5.5–6.2 万）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8855" y="4663440"/>
            <a:ext cx="7651059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8855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4535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9278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84958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9702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45382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" y="26151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9472" y="2834640"/>
            <a:ext cx="2139144" cy="423671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0056" y="2834640"/>
            <a:ext cx="89985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= 百万级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567" y="31485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教育型小型双足套件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37999" y="3368040"/>
            <a:ext cx="1163607" cy="423671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3047" y="3368040"/>
            <a:ext cx="425686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十万级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" y="3681983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 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5813" y="3901440"/>
            <a:ext cx="154670" cy="423671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91924" y="3901440"/>
            <a:ext cx="6057989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5.5–6.2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956048"/>
            <a:ext cx="10668579" cy="91440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084064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把单价压到三千元级，是「能开课」与「只能演示」的分界线。</a:t>
            </a:r>
          </a:p>
          <a:p>
            <a:pPr algn="l">
              <a:spcBef>
                <a:spcPts val="6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口径：本方案为设计目标清单，BOM 逐项见 P49，尚未采购；竞品价格为公开产品页口径，非实测。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五项任务、五套工程——学生学到的是五个互不相通的孤岛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现状不是「没有算法」，而是算法之间没有共同的骨架。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现状：五套工程各自为政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36615" y="2834640"/>
            <a:ext cx="502920" cy="0"/>
          </a:xfrm>
          <a:prstGeom prst="line">
            <a:avLst/>
          </a:prstGeom>
          <a:ln w="20320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2241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本方案：一个底座 + 五个插件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JSON 任务卡  →  FSM 状态机  →  技能库</a:t>
            </a:r>
          </a:p>
        </p:txBody>
      </p:sp>
      <p:sp>
        <p:nvSpPr>
          <p:cNvPr id="35" name="Oval 34"/>
          <p:cNvSpPr/>
          <p:nvPr/>
        </p:nvSpPr>
        <p:spPr>
          <a:xfrm>
            <a:off x="761695" y="3753611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3685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换任务要改主程序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实验之间无法对照</a:t>
            </a:r>
          </a:p>
        </p:txBody>
      </p:sp>
      <p:sp>
        <p:nvSpPr>
          <p:cNvPr id="37" name="Oval 36"/>
          <p:cNvSpPr/>
          <p:nvPr/>
        </p:nvSpPr>
        <p:spPr>
          <a:xfrm>
            <a:off x="761695" y="4229100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4575" y="4160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无法评测系统能力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只能评测某个脚本能不能跑</a:t>
            </a:r>
          </a:p>
        </p:txBody>
      </p:sp>
      <p:sp>
        <p:nvSpPr>
          <p:cNvPr id="39" name="Oval 38"/>
          <p:cNvSpPr/>
          <p:nvPr/>
        </p:nvSpPr>
        <p:spPr>
          <a:xfrm>
            <a:off x="761695" y="4704588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" y="46360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学到一次性脚本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不是可扩展的系统设计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39312"/>
            <a:ext cx="5120640" cy="16459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803904"/>
            <a:ext cx="468172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 = 一份 JSON 文件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 = 一个技能模块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调度 = 一个状态机</a:t>
            </a:r>
          </a:p>
          <a:p>
            <a:pPr algn="l">
              <a:spcBef>
                <a:spcPts val="1400"/>
              </a:spcBef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底座已在仓库中实现并通过 133 项测试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比赛现场拔掉网线的那一刻，很多方案就失效了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全离线不是技术炫技，是赛题要求下的工程必选项。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云端推理链路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相机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21675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5027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13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1025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3885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71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云推理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883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2743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229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下发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741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51601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7087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网络抖动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17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限速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65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服务变更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413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数据外传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327355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本方案：整条链路在一个盒子里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69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相机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21675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95027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513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板载推理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1025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3885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1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FSM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9883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32743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8229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8741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51601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7087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舵机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1695" y="4133087"/>
            <a:ext cx="106685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全程 0 次网络出站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4553712"/>
            <a:ext cx="10668579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9439" y="4736592"/>
            <a:ext cx="10193091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代价与边界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本地小模型的识别精度不如云端大模型。我们用固定光照 + 固定颜色目标先把稳定性做上去，再逐步扩展工况。教学场景对数据外传敏感，离线同时解决了这一层顾虑。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小型双足机器人，如何在有限算力和断网条件下，用统一任务描述完成多任务自主执行？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这一句是后面所有技术工作的靶心。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怎么描述任务，才能让五项任务共用一套程序？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727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P21–P23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9328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9328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360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360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怎么在无 GPU 的板载算力上完成感知与决策？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5360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P26–P28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6961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6961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2993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993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怎么让动作跟着视觉反馈走？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993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P28、P37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4937760"/>
            <a:ext cx="106685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全片「具身智能」一词出现不超过 3 次，每次紧跟一个具体机制。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项目立项的四条硬标准，后面每一章都要对得上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这四条是我们给自己定的验收线，也是这份材料的组织逻辑。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23113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6015" y="223113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8975" y="223113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4895" y="22311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过得了检录：尺寸 / 关节 / 电压 / 传感器逐项核验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7234" y="223113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05409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305409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" y="305409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58975" y="305409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895" y="305409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五项任务在同一台机器上闭环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7234" y="305409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87705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87705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015" y="387705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58975" y="387705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便宜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4895" y="387705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新增采购控制在三千元级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7234" y="387705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70001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70001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" y="470001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58975" y="470001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可复现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4895" y="470001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设计、代码、仿真、日志在同一套仓库里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7234" y="470001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14416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口径：四条为项目自设标准，不是官方评分维度；官方评分细则尚未发布。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同样的预算，别人卖硬件，我们交付能完成任务的系统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面向市场 · P11–P15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三层真实需求，指向同一台机器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首先它是一台小型双足机器人，其次它统一执行五项任务，最后它才是教学平台。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高校专业课教师与学生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具身智能 / 自动化 / 机器人工程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7727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低成本、可复现、能拆开讲原理的实验设备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7727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7727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个关节每个都能单独下发角度并回读，实验可切片到单关节级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5360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人形机器人专项竞赛队伍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5360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换场次不用重写代码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65360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5360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5360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覆盖五项任务的训练平台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5360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5360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任务卡换一个 JSON 文件就是一套新赛题配置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6961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56961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2993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创新工坊与实验室二次开发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993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接口清楚、能加自己的模块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12993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12993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2993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可扩展的开发底座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2993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2993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技能库插件式注册，感知后端可替换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5577840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口径：用户画像为设计阶段设定，尚未开展用户访谈；访谈计划在 P48 阶段二。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不吹 TAM，只算一条能走通的路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下面是自下而上的模型与全部假设，参数欢迎质疑。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85416"/>
            <a:ext cx="6035040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" y="2185416"/>
            <a:ext cx="5742431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陕西省普通高校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约 90 所（公开统计口径，待逐校核实）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65199" y="2939796"/>
            <a:ext cx="4828032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1503" y="2939796"/>
            <a:ext cx="4535424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开设相关专业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自动化 / 机器人工程 / 人工智能 ≈ 40 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8703" y="3694176"/>
            <a:ext cx="3621023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15007" y="3694176"/>
            <a:ext cx="3328415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首批试点院校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有具身智能实验室建设意向 5–8 所（估算，需调研验证）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1856" y="4448555"/>
            <a:ext cx="2534716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8160" y="4448555"/>
            <a:ext cx="2242108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单校首批订单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2–5 台 × ¥2755–3095 ≈ 0.55–1.55 万元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139696"/>
            <a:ext cx="4251960" cy="30175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2359152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测算结果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706624"/>
            <a:ext cx="3739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2.8–12.4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万元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3273552"/>
            <a:ext cx="3739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首批试点院校合计可及规模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34071" y="3657600"/>
            <a:ext cx="3739896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34071" y="3803904"/>
            <a:ext cx="373989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先证明「第一批客户是谁、第一单怎么签」，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而不是给一个撑不起来的 TAM。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695" y="5340096"/>
            <a:ext cx="106685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51" y="5340096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本页全部为设计阶段的估算模型，非已签约订单、非市场调研结论。标注「待核实」的参数需在阶段二通过走访补齐。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三千元级 + 高开放度，这一格目前人不多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我们不是在做更便宜的同类产品，是在补一个没有被占据的位置。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10335" y="5266944"/>
            <a:ext cx="5760720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10335" y="2468880"/>
            <a:ext cx="0" cy="27980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93615" y="535838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整机价格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8895" y="21945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软件开放度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8623" y="4203679"/>
            <a:ext cx="1958644" cy="1007303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01775" y="4258543"/>
            <a:ext cx="19586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当前空白区</a:t>
            </a:r>
          </a:p>
        </p:txBody>
      </p:sp>
      <p:sp>
        <p:nvSpPr>
          <p:cNvPr id="16" name="Oval 15"/>
          <p:cNvSpPr/>
          <p:nvPr/>
        </p:nvSpPr>
        <p:spPr>
          <a:xfrm>
            <a:off x="6559905" y="3817620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23029" y="376732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8" name="Oval 17"/>
          <p:cNvSpPr/>
          <p:nvPr/>
        </p:nvSpPr>
        <p:spPr>
          <a:xfrm>
            <a:off x="4946904" y="4824923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0027" y="4774631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</a:t>
            </a:r>
          </a:p>
        </p:txBody>
      </p:sp>
      <p:sp>
        <p:nvSpPr>
          <p:cNvPr id="20" name="Oval 19"/>
          <p:cNvSpPr/>
          <p:nvPr/>
        </p:nvSpPr>
        <p:spPr>
          <a:xfrm>
            <a:off x="3909974" y="4377232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994" y="432694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成品竞赛套件</a:t>
            </a:r>
          </a:p>
        </p:txBody>
      </p:sp>
      <p:sp>
        <p:nvSpPr>
          <p:cNvPr id="22" name="Oval 21"/>
          <p:cNvSpPr/>
          <p:nvPr/>
        </p:nvSpPr>
        <p:spPr>
          <a:xfrm>
            <a:off x="2527401" y="3034162"/>
            <a:ext cx="100584" cy="100584"/>
          </a:xfrm>
          <a:prstGeom prst="ellipse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7421" y="298387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自组 18DOF 套件</a:t>
            </a:r>
          </a:p>
        </p:txBody>
      </p:sp>
      <p:sp>
        <p:nvSpPr>
          <p:cNvPr id="24" name="Oval 23"/>
          <p:cNvSpPr/>
          <p:nvPr/>
        </p:nvSpPr>
        <p:spPr>
          <a:xfrm>
            <a:off x="1605686" y="3761658"/>
            <a:ext cx="100584" cy="100584"/>
          </a:xfrm>
          <a:prstGeom prst="ellipse">
            <a:avLst/>
          </a:prstGeom>
          <a:solidFill>
            <a:srgbClr val="8FB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65706" y="371136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二手整机 ¥1000–2500</a:t>
            </a:r>
          </a:p>
        </p:txBody>
      </p:sp>
      <p:sp>
        <p:nvSpPr>
          <p:cNvPr id="26" name="Oval 25"/>
          <p:cNvSpPr/>
          <p:nvPr/>
        </p:nvSpPr>
        <p:spPr>
          <a:xfrm>
            <a:off x="1836115" y="2754355"/>
            <a:ext cx="100584" cy="1005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6135" y="270406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194560"/>
            <a:ext cx="3840480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27264" y="2450592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诚实的麻烦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2834640"/>
            <a:ext cx="336499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自组 18DOF 套件（¥2800–3500）在价格与开放度上与我们处在同一区域。</a:t>
            </a:r>
          </a:p>
          <a:p>
            <a:pPr algn="l">
              <a:lnSpc>
                <a:spcPct val="145000"/>
              </a:lnSpc>
              <a:spcBef>
                <a:spcPts val="12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真正拉开距离的只有一项：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对手需要逐任务写脚本；我们换一份 JSON。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" y="5541264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口径：坐标为依公开产品资料的定性判断，非精确测评。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能力逐条对比，差距写在表里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自评只区分「已验证 / 部分验证 / 未验证」，不给能力打分。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3657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7627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4775" y="21762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价格带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7815" y="2176272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自由度合规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5135" y="21762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软件开放度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295" y="217627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8375" y="217627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断网运行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21762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成熟度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" y="2542032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全尺寸人形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4775" y="2542032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数万–十余万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7815" y="2542032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超尺寸上限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5135" y="254203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295" y="2542032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需自建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8375" y="2542032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2542032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054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054096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教育型小型双足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4775" y="3054096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数千–万元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7815" y="3054096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部分低于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5135" y="305409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5295" y="3054096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8375" y="3054096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部分依赖云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3054096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3566160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成品竞赛套件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4775" y="3566160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¥2800–6000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7815" y="3566160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合规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5135" y="3566160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295" y="3566160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逐任务写脚本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8375" y="3566160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4255" y="3566160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61695" y="40782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3135" y="4078224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A.T.R.I.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4775" y="4078224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¥2755–3095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7815" y="4078224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合规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25135" y="4078224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05295" y="407822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有（统一 FSM）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8375" y="4078224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4255" y="4078224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部分验证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1695" y="459028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61695" y="4078224"/>
            <a:ext cx="10668579" cy="512064"/>
          </a:xfrm>
          <a:prstGeom prst="rect">
            <a:avLst/>
          </a:prstGeom>
          <a:noFill/>
          <a:ln w="1905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1695" y="4526280"/>
            <a:ext cx="516636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1151" y="4690872"/>
            <a:ext cx="472744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差距说明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对手在「开箱即用、结构成熟度」上是已验证的；我们的软件侧部分验证，硬件侧完全未验证。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72784" y="4526280"/>
            <a:ext cx="5157216" cy="118872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4690872"/>
            <a:ext cx="471830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差异化一句话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50" b="0" i="0">
                <a:solidFill>
                  <a:srgbClr val="FFFFFF"/>
                </a:solidFill>
                <a:latin typeface="Source Han Sans SC"/>
                <a:ea typeface="Source Han Sans SC"/>
                <a:cs typeface="Source Han Sans SC"/>
              </a:rPr>
              <a:t>交付的不是一台机器人，是一条从「任务怎么描述」到「关节怎么动」的链路。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从相机出帧到关节到位，中间发生了什么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技术架构与实现 · P16–P31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五层架构，一次任务走 8 步，两条边界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上层不关心关节怎么转，下层不关心任务是什么，两层之间只传一份 JSON 协议。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8 步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全程 0 次网络出站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任务层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2505456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831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89350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5070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9588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5308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9827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5547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0065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5785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娱乐交互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64040" y="2505456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64040" y="250545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64040" y="299923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701784" y="2505456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五项任务清单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编排层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47672" y="3081528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84831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JSON 任务卡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91889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893058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8778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任务调度器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45836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747004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92724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有限状态机 FSM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99781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00950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6670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感知交互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47672" y="3657600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39112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4831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单目相机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30168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3831335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77055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视觉检测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麦克风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717536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918704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4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离线语音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控制层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4233672"/>
            <a:ext cx="7360920" cy="493776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3911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1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步态生成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5648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0220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动作库回放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7385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1957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122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3694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姿态闭环·失稳保护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464040" y="3081528"/>
            <a:ext cx="0" cy="106984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464040" y="308152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464040" y="415137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701784" y="3081528"/>
            <a:ext cx="1728215" cy="1069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大脑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边缘计算板 · Linux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4040" y="4233672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464040" y="423367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464040" y="472744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701784" y="4233672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STM32 + 6 轴 IMU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执行层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47672" y="4809744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039112" y="4882896"/>
            <a:ext cx="71780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84831" y="4882896"/>
            <a:ext cx="7086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串行总线　→　22 路总线舵机（双腿 10 · 双臂 8 · 躯干 2 · 头部 2）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64040" y="4809744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464040" y="4809744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464040" y="5303520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701784" y="4809744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路串行总线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1695" y="5413248"/>
            <a:ext cx="10668579" cy="6400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863" y="5449824"/>
            <a:ext cx="10266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一次任务的 8 步通路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286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相机出帧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839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614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感知推理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67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2942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任务卡匹配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496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1270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流转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5824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598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技能执行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4152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926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小脑解算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2480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6254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总线下发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0808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4582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IMU 反馈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2863" y="5870448"/>
            <a:ext cx="102662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注：第 1 步（取帧）与第 6–8 步当前尚无对应代码，为设计路径；第 2–5 步已实现。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九条硬约束逐项核验：八条余量充足，一条正好压线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核验表对着官方要求逐条做，余量写在最后一列。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余量 12.5 cm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／ 高度 47.5 cm，上限 60 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323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0455" y="2432304"/>
            <a:ext cx="306323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大赛要求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6575" y="243230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9855" y="2432304"/>
            <a:ext cx="24414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余量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" y="2688336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0455" y="2688336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60 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575" y="2688336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47.5 cm（关节链几何累加）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55" y="2688336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+12.5 cm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695" y="295351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53135" y="2953512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0455" y="2953512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6575" y="2953512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19.0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9855" y="2953512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+11.0 cm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21868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218688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深度（自设参考）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70455" y="3218688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6575" y="3218688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11.0 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9855" y="3218688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48386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48386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臂长（单侧）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70455" y="3483864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6575" y="3483864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12.25 cm（肩关节→夹爪末端直线距离）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9855" y="3483864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+17.75 cm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1695" y="37490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3135" y="3749040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关节数量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0455" y="3749040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总数 ≥18 / 每腿 ≥4 / 上肢+躯干 ≥10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6575" y="3749040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= 10 + 8 + 2 + 2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9855" y="3749040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上肢躯干 10 = 10，无余量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01421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4014216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供电电压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70455" y="4014216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锂电池、≥ 7.4 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6575" y="4014216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11.1 V 3S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99855" y="4014216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+3.7 V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1695" y="427939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3135" y="4279392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传感配置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70455" y="4279392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IMU + 摄像头 + 麦克风 + 扬声器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16575" y="4279392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轴 IMU + 单目广角 + 环形麦 + 扬声器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99855" y="4279392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695" y="454456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53135" y="4544568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场地适配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70455" y="4544568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2400×2400 mm，含 5 个任务区域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16575" y="4544568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任务卡按区域编号切换技能（scenario_set.json）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99855" y="4544568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1695" y="48097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53135" y="4809744"/>
            <a:ext cx="123444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质量（待补舵机）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455" y="4809744"/>
            <a:ext cx="306323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—（官方未设上限）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16575" y="4809744"/>
            <a:ext cx="32004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 1.65 kg + 22 只舵机约 1.25 kg ≈ 2.9 kg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9855" y="4809744"/>
            <a:ext cx="244144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待样机实测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61695" y="507492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761695" y="5202936"/>
            <a:ext cx="10668579" cy="786384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1151" y="5276088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压线的那一条：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官方口径若</a:t>
            </a: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不把夹爪计入「上肢关节」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，则上肢 + 躯干 = 3×2 + 2 = </a:t>
            </a: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8 &lt; 10，直接不合格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。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我们的设计把夹爪（编号 17 / 21）计入上肢自由度；此口径需在报名前向组委会书面确认，已列入 P48 风险表第一项。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个关节，编号、限位、轴向、设计扭矩全部同源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结构图由设计模型投影生成；右侧明细表逐行取自同一份模型。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_关节编号图-视图区.png"/>
          <p:cNvPicPr>
            <a:picLocks noChangeAspect="1"/>
          </p:cNvPicPr>
          <p:nvPr/>
        </p:nvPicPr>
        <p:blipFill>
          <a:blip r:embed="rId2"/>
          <a:srcRect t="5372" b="5372"/>
          <a:stretch>
            <a:fillRect/>
          </a:stretch>
        </p:blipFill>
        <p:spPr>
          <a:xfrm>
            <a:off x="761695" y="2048256"/>
            <a:ext cx="4160520" cy="2907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1695" y="5029200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关节编号图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7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原图合规框未含臂长，本页不引用其结论（合规见 P18）。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48256"/>
            <a:ext cx="6309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2048256"/>
            <a:ext cx="2926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7567" y="2048256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关节名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5" y="2048256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限位（deg）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3" y="2048256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轴向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7855" y="2048256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设计扭矩 N·m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9" y="230428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7" y="230428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head_yaw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5" y="230428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3" y="230428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7855" y="230428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44602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44602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7" y="244602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head_pitch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5" y="244602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063" y="244602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7855" y="244602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258775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12079" y="258775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7" y="258775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trunk_roll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3295" y="258775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−10 ~ +10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6063" y="258775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7855" y="258775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20640" y="272948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2079" y="272948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7" y="272948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trunk_pitch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5" y="272948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−15 ~ +15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272948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7855" y="272948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287121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12079" y="287121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7" y="287121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left_hip_yaw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5" y="287121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6063" y="287121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7855" y="287121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120640" y="301294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12079" y="301294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7567" y="301294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left_hip_roll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5" y="301294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3" y="301294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7855" y="301294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120640" y="315467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12079" y="315467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87567" y="315467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left_hip_pitch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3295" y="315467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3" y="315467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5" y="315467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20640" y="329641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12079" y="329641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7" y="329641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left_knee_pitch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3295" y="329641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56063" y="329641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7855" y="329641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120640" y="343814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12079" y="343814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7567" y="343814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left_ankle_pitch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83295" y="343814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56063" y="343814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77855" y="343814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20640" y="357987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212079" y="357987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7567" y="357987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right_hip_yaw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83295" y="357987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56063" y="357987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77855" y="357987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120640" y="372160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212079" y="372160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87567" y="372160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right_hip_roll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5" y="372160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56063" y="372160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77855" y="372160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120640" y="386333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212079" y="386333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87567" y="386333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right_hip_pitch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3295" y="386333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56063" y="386333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77855" y="386333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120640" y="400507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212079" y="400507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7567" y="400507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right_knee_pitch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83295" y="400507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56063" y="400507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277855" y="400507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120640" y="414680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212079" y="414680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87567" y="414680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right_ankle_pitch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3295" y="414680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56063" y="414680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77855" y="414680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5120640" y="428853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212079" y="428853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87567" y="428853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left_shoulder_pitch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83295" y="428853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56063" y="428853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77855" y="428853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120640" y="443026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212079" y="443026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87567" y="443026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left_shoulder_roll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83295" y="443026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656063" y="443026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77855" y="443026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120640" y="457200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5212079" y="457200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87567" y="457200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left_elbow_pitch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83295" y="457200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56063" y="457200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77855" y="457200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120640" y="471373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5212079" y="471373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87567" y="471373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left_gripper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83295" y="471373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656063" y="471373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277855" y="471373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120640" y="485546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212079" y="485546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87567" y="485546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right_shoulder_pitch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83295" y="485546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56063" y="485546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77855" y="485546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5120640" y="499719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5212079" y="499719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87567" y="499719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right_shoulder_roll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83295" y="499719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3" y="499719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277855" y="499719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120640" y="513892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5212079" y="513892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87567" y="513892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right_elbow_pitch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83295" y="513892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56063" y="513892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77855" y="513892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120640" y="52806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5212079" y="528066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87567" y="528066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right_gripper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83295" y="528066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56063" y="528066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77855" y="528066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5120640" y="542239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761695" y="5449824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代码里有三条断言强制校验：len(JOINTS) == 22 ｜ 关节 id 必须是 0..21 ｜ 分组自由度之和必须等于 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61695" y="5650992"/>
            <a:ext cx="106685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口径：限位与轴向取自 design/robot_model.json（config.py::JOINTS 只有 id/group/limit/rest，无轴向）；扭矩为设计目标关节扭矩，当前值接近所选舵机的堵转档，尚未做静力学校核。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少掉的每一个自由度，都是一个主动的工程取舍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这三条取舍的结果，就是 47.5 cm 这组规格。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−2 个关节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踝 1 DOF、无独立腕关节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踝关节只保留 1 个（俯仰）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9439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9439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省下重量、成本与结构复杂度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9439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侧向扰动容忍度下降。当前步态生成器里没有髋 roll 参与补偿，横向稳定依赖宽足距与实机整定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7072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末端不设独立腕关节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47072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7072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7072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减少 2 个关节，单侧臂长压到 12.25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7072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7072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抓取姿态受限，只能做「正对目标」的抓取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7072" y="5394960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7072" y="5614416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只做桌面轻物抓取（≤100 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6961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56961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4705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躯干保留 2 个自由度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94705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94705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4705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给重心补偿留余量，行程 ±10° / ±15° 是微调量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4705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风险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4705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 + 躯干 = 10 正好压线，口径需组委会确认（见 P18）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一个任务六个状态，非法跳转直接报错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状态机保证任务不会走到一半状态不明。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STANDBY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待机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7278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39302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5878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ENTERING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任务进入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24885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16909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3485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EXECUTING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技能执行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2492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294516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1092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FEEDBACK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结果反馈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0099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472123" y="2747772"/>
            <a:ext cx="1958151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8699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DONE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ERROR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18377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984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73591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73591" y="3790188"/>
            <a:ext cx="1967963" cy="0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" y="36255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任一环节异常 → ERROR（保留完整状态历史）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695" y="4261104"/>
            <a:ext cx="5989320" cy="14401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695" y="4261104"/>
            <a:ext cx="32004" cy="1440180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" y="4389120"/>
            <a:ext cx="5715000" cy="1184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_TRANSITIONS = {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FSMState.STANDBY:   {FSMState.ENTERING},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FSMState.ENTERING:  {FSMState.EXECUTING,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FSMState.EXECUTING: {FSMState.FEEDBACK,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FSMState.FEEDBACK:  {FSMState.DONE,    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FSMState.DONE: set(), FSMState.ERROR: set(),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261104"/>
            <a:ext cx="4343400" cy="14401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443984"/>
            <a:ext cx="3867912" cy="1074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异常收敛到 ERROR，并保留完整 history——走过的每一个状态都记录在案，便于复盘。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非法跳转（例如 STANDBY 直接到 DONE）会抛 FSMError，不允许静默通过。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换一项任务，换一个 JSON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任务变成数据，调度交给引擎。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 张任务卡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每张 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10668579" cy="15041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2004" cy="1504188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6287" y="2596896"/>
            <a:ext cx="10394259" cy="1248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T-01 人脸识别    {"skills":["face"],  "params":{"face_db":"config/face_db.json",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"expect_names":["测试员A","测试员B"], "tts":true},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T-02 二维码循迹  {"skills":["qr"],    "params":{"default_payload":{"action":"walk","steps":3}},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T-03 物品搬运    {"skills":["carry"], "params":{"target":"红块","distance_cm":8.0}, "timeout_s":90}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T-04 体育运动    {"skills":["kick"],  "params":{},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T-05 娱乐交互    {"skills":["dance"], "params":{"keyword":"跳舞","bars":2}, "timeout_s":60}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968496"/>
            <a:ext cx="10668579" cy="841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1151" y="4096511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字段规范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必填 task_id / name / skills；可选 params / timeout_s（默认 120 秒）。skills 必须非空列表；技能名合法性校验见 P23；timeout_s 必须是数字。违反任一条抛 TaskCardError，不允许带病启动。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五个技能共用一个接口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技能之间互不知道对方存在，都只跟 ctx 打交道。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Skill（基类：name + run(ctx)）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FaceSkill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QRCodeSkill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CarrySkill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KickSkill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DanceSkill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127248"/>
            <a:ext cx="4206240" cy="22128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9" y="3310128"/>
            <a:ext cx="3730752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SkillContext 提供的四样东西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params　任务卡传来的业务参数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perception　感知后端（可替换）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cerebellum　运动控制接口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tts_engine　语音播报接口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新增一个技能要改三处（诚实版）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596896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14416" y="2596896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2596896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写一个类继承 Skill，实现 run(ctx)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3474720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14416" y="3474720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474720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在 Brain.skills 里注册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4352544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14416" y="4352544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4352544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把技能名加进 task_card.py 的 VALID_SKILLS——这是一个冻结集合，不加会被 TaskCardError: unknown skills 拦下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60" y="5230368"/>
            <a:ext cx="6035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14416" y="5230368"/>
            <a:ext cx="559612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已知缺陷：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白名单里的 idle 没有对应实现，运行时会抛「未注册的技能: idle」。修法是把 VALID_SKILLS 改为由 Brain.skills.keys() 动态派生（约 5 行）。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步态是每个周期现算出来的 40 帧关节角序列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摆动腿与支撑腿相差半个相位。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40 帧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/ 周期 · 20 ms 控制周期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7495" y="2990088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47495" y="3566160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8855" y="2889504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左腿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" y="3465576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右腿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749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47495" y="2976449"/>
            <a:ext cx="39624" cy="589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87119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871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487119" y="2962847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6743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5267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526743" y="2949320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566367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5663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566367" y="2935905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05991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6059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605991" y="2922638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456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456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645615" y="2909556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685239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852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685239" y="2896695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24863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248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24863" y="2884090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64487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7644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764487" y="2871776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04111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041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804111" y="2859786"/>
            <a:ext cx="39624" cy="82468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4373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8437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843735" y="2848152"/>
            <a:ext cx="39624" cy="8483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83359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8833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1883359" y="2836908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22983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9229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922983" y="2826084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62607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9626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1962607" y="2815709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002231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0022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002231" y="2805813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4185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0418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041855" y="2796421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81479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0814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081479" y="2787560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21103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211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2121103" y="2779254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60727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607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2160727" y="2771527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00351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2003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2200351" y="2764398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23997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2399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2239975" y="275788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79599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2795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2279599" y="2752014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319223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3192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319223" y="2746793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8847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3588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2358847" y="2742238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398471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3984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2398471" y="2738363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3809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4380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2438095" y="2735178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77719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24777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2477719" y="2732692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517343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5173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2517343" y="2730911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556967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5569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556967" y="272984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6591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25965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2596591" y="2729484"/>
            <a:ext cx="39624" cy="10969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36215" y="2729484"/>
            <a:ext cx="0" cy="1097280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26362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2636215" y="2729841"/>
            <a:ext cx="39624" cy="109692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75839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6758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2675839" y="273091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15463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27154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2715463" y="2732692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755087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27550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2755087" y="2735178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94711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27947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794711" y="2738363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3433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28343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834335" y="2742238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73959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28739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2873959" y="2746793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13583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29135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2913583" y="2752014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53207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29532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2953207" y="2757888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92831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29928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2992831" y="276439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03245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0324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3032455" y="2771527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072079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30720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3072079" y="2779254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111703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31117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3111703" y="2787560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151327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/>
          <p:cNvSpPr/>
          <p:nvPr/>
        </p:nvSpPr>
        <p:spPr>
          <a:xfrm>
            <a:off x="31513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3151327" y="2796421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190951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31909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3190951" y="2805813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23057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32305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3230575" y="2815709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270199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32701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3270199" y="2826084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309823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ctangle 155"/>
          <p:cNvSpPr/>
          <p:nvPr/>
        </p:nvSpPr>
        <p:spPr>
          <a:xfrm>
            <a:off x="33098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 flipV="1">
            <a:off x="3309823" y="2836908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349447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33494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 flipV="1">
            <a:off x="3349447" y="2848152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389071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33890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V="1">
            <a:off x="3389071" y="2859786"/>
            <a:ext cx="39624" cy="84830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42869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164"/>
          <p:cNvSpPr/>
          <p:nvPr/>
        </p:nvSpPr>
        <p:spPr>
          <a:xfrm>
            <a:off x="34286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 flipV="1">
            <a:off x="3428695" y="2871776"/>
            <a:ext cx="39624" cy="82468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468319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34683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3468319" y="2884090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507943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35079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 flipV="1">
            <a:off x="3507943" y="2896695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547567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ectangle 173"/>
          <p:cNvSpPr/>
          <p:nvPr/>
        </p:nvSpPr>
        <p:spPr>
          <a:xfrm>
            <a:off x="35475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 flipV="1">
            <a:off x="3547567" y="2909556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587191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ctangle 176"/>
          <p:cNvSpPr/>
          <p:nvPr/>
        </p:nvSpPr>
        <p:spPr>
          <a:xfrm>
            <a:off x="35871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 flipV="1">
            <a:off x="3587191" y="2922638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6268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ectangle 179"/>
          <p:cNvSpPr/>
          <p:nvPr/>
        </p:nvSpPr>
        <p:spPr>
          <a:xfrm>
            <a:off x="36268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 flipV="1">
            <a:off x="3626815" y="2935905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666439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36664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4" name="Connector 183"/>
          <p:cNvCxnSpPr/>
          <p:nvPr/>
        </p:nvCxnSpPr>
        <p:spPr>
          <a:xfrm flipV="1">
            <a:off x="3666439" y="2949320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706063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/>
          <p:cNvSpPr/>
          <p:nvPr/>
        </p:nvSpPr>
        <p:spPr>
          <a:xfrm>
            <a:off x="37060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 flipV="1">
            <a:off x="3706063" y="2962847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745687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ctangle 188"/>
          <p:cNvSpPr/>
          <p:nvPr/>
        </p:nvSpPr>
        <p:spPr>
          <a:xfrm>
            <a:off x="37456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0" name="Connector 189"/>
          <p:cNvCxnSpPr/>
          <p:nvPr/>
        </p:nvCxnSpPr>
        <p:spPr>
          <a:xfrm flipV="1">
            <a:off x="3745687" y="2976449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785311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37853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3" name="Connector 192"/>
          <p:cNvCxnSpPr/>
          <p:nvPr/>
        </p:nvCxnSpPr>
        <p:spPr>
          <a:xfrm flipV="1">
            <a:off x="3785311" y="2990088"/>
            <a:ext cx="39624" cy="5897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82493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/>
          <p:cNvSpPr/>
          <p:nvPr/>
        </p:nvSpPr>
        <p:spPr>
          <a:xfrm>
            <a:off x="38249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 flipV="1">
            <a:off x="3824935" y="3003726"/>
            <a:ext cx="39624" cy="5624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864559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864559" y="3017328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904183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904183" y="3030855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943807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943807" y="3044270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983431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983431" y="3057537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40230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023055" y="3070619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4062679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062679" y="3083480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102303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4102303" y="3096085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41927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4141927" y="3108399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181551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4181551" y="3120390"/>
            <a:ext cx="39624" cy="32745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22117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4221175" y="3132023"/>
            <a:ext cx="39624" cy="30383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260799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260799" y="3143267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300423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4300423" y="3154091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340047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4340047" y="3164466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379671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4379671" y="3174362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41929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4419295" y="3183754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458919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458919" y="3192615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498543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498543" y="3200921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538167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4538167" y="3208648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577791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4577791" y="3215777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61741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617415" y="322228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657039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4657039" y="3228161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696663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4696663" y="3233382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4736287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4736287" y="3237937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4775911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4775911" y="3241812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481553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4815535" y="3244997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4855159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4855159" y="3247483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4894783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4894783" y="3249264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4934407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4934407" y="325033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4974031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974031" y="3250692"/>
            <a:ext cx="39624" cy="5522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5013655" y="3250692"/>
            <a:ext cx="0" cy="54864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5013655" y="3250334"/>
            <a:ext cx="39624" cy="552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053279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5053279" y="324926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5092903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5092903" y="3247483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5132527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5132527" y="3244997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5172151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5172151" y="3241812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521177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211775" y="3237937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5251399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251399" y="3233382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5291023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5291023" y="3228161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5330647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5330647" y="3222287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370271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5370271" y="321577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540989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5409895" y="3208648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449519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5449519" y="3200921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5489143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489143" y="3192615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5528767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528767" y="3183754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5568391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568391" y="3174362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560801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608015" y="3164466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47639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647639" y="3154091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5687263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687263" y="3143267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5726887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726887" y="3132023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5766511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766511" y="3120390"/>
            <a:ext cx="39624" cy="3038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80613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806135" y="3108399"/>
            <a:ext cx="39624" cy="32745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5845759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845759" y="3096085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5885383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85383" y="3083480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5925007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25007" y="3070619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964631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5964631" y="3057537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60042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004255" y="3044270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6043879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043879" y="3030855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6083503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083503" y="3017328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6123127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123127" y="3003726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6162751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162751" y="2990088"/>
            <a:ext cx="39624" cy="562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620237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61695" y="41148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步态相位图：左腿（深蓝）与右腿（浅蓝）正弦相位相差 π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1828800"/>
            <a:ext cx="4983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参数取自 config/robot.json::motion.gait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446520" y="2048256"/>
            <a:ext cx="498348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537959" y="20482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参数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818119" y="204825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当前值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778240" y="204825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含义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537959" y="234086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步长系数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818119" y="2340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8778240" y="234086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4°/cm）</a:t>
            </a:r>
          </a:p>
        </p:txBody>
      </p:sp>
      <p:cxnSp>
        <p:nvCxnSpPr>
          <p:cNvPr id="325" name="Connector 324"/>
          <p:cNvCxnSpPr/>
          <p:nvPr/>
        </p:nvCxnSpPr>
        <p:spPr>
          <a:xfrm>
            <a:off x="6446520" y="2670048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6537959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抬脚系数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7818119" y="267004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8778240" y="267004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12°/cm）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6446520" y="2999232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>
            <a:off x="6537959" y="299923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步态周期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18119" y="2999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0.8 s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778240" y="299923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一个完整左右交替周期</a:t>
            </a:r>
          </a:p>
        </p:txBody>
      </p:sp>
      <p:cxnSp>
        <p:nvCxnSpPr>
          <p:cNvPr id="333" name="Connector 332"/>
          <p:cNvCxnSpPr/>
          <p:nvPr/>
        </p:nvCxnSpPr>
        <p:spPr>
          <a:xfrm>
            <a:off x="6446520" y="3328415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4" name="TextBox 333"/>
          <p:cNvSpPr txBox="1"/>
          <p:nvPr/>
        </p:nvSpPr>
        <p:spPr>
          <a:xfrm>
            <a:off x="6537959" y="332841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818119" y="3328415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 ms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8778240" y="3328415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每周期采样 40 帧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6446520" y="3657599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TextBox 337"/>
          <p:cNvSpPr txBox="1"/>
          <p:nvPr/>
        </p:nvSpPr>
        <p:spPr>
          <a:xfrm>
            <a:off x="6537959" y="365759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步总帧数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7818119" y="3657599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 帧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8778240" y="3657599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× 40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6446520" y="3986783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ectangle 341"/>
          <p:cNvSpPr/>
          <p:nvPr/>
        </p:nvSpPr>
        <p:spPr>
          <a:xfrm>
            <a:off x="761695" y="4389120"/>
            <a:ext cx="10668579" cy="148498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61695" y="4389120"/>
            <a:ext cx="32004" cy="1484985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926287" y="4517136"/>
            <a:ext cx="10394259" cy="12289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phase = 2.0 * math.pi * t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left_amp  = max(0.0, math.sin(phase))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right_amp = max(0.0, math.sin(phase + math.pi))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 = {"left_hip_pitch":   8.0 * left_amp  * step_length_cm / 2.0,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"left_knee_pitch": 12.0 * left_amp  * step_height_cm,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"left_ankle_pitch": -6.0 * left_amp,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"trunk_pitch": 1.5 * math.sin(phase),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"trunk_roll":  1.0 * math.sin(phase / 2.0)}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仿真里标定出来的动作，能原样搬到实机上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动作和代码解耦——调一个动作不需要改 Python，只需要改 JSON。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Webots 标定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7667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411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导出关键帧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382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26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动作库校验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5098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42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play_action() 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8814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6558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实机迁移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706624"/>
            <a:ext cx="553212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" y="270662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1975" y="27066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" y="2999232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schema_version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1975" y="2999232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必须为 "1.0"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328415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328415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action_id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1975" y="3328415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不能为空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695" y="3657599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3135" y="3657599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1975" y="3657599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非空数组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986783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986783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frames[i].duration_s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1975" y="3986783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必须大于 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4315968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4315968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frames[i].joints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1975" y="4315968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键必须来自 22 个合法关节名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629400" y="2706624"/>
            <a:ext cx="4800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6" y="2871216"/>
            <a:ext cx="43616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为什么这样设计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动作与代码解耦：调一个动作只改 JSON，并跑一遍校验器。校验不通过的动作库不会被回放，避免把坏数据灌进舵机。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608576"/>
            <a:ext cx="10668579" cy="12252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439" y="4754880"/>
            <a:ext cx="10193091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姿态闭环与失稳保护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○ 规划中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 20 ms 读一次姿态；倾角超阈值立即切断舵机扭矩；落地瞬间不做姿态修正，避免震荡；上电自检逐路读取舵机位置与预期位姿比对。以上均为设计，尚无代码与实测。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上层技能代码不知道底下用的是 Mock 还是真摄像头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无硬件时用 Mock 跑通全链路；有硬件时换一个后端对象，上层一行代码不改。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PerceptionBackend（抽象）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MockPerception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OpenCVPerception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255264"/>
            <a:ext cx="393192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" y="3419856"/>
            <a:ext cx="345643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统一返回结构</a:t>
            </a:r>
          </a:p>
          <a:p>
            <a:pPr algn="l">
              <a:spcBef>
                <a:spcPts val="4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PerceptionResult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(kind, data, confidence, raw)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048256"/>
            <a:ext cx="6309360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9" y="2048256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2048256"/>
            <a:ext cx="40233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返回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359152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detect_face(frame)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199" y="235915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bbox} + confidence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76148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761488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detect_qr(frame)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9" y="276148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payload} + confidence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20640" y="316382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9" y="3163824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detect_ball(frame)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199" y="316382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x_cm, distance_cm, bbox, center_px}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35661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0" y="3785616"/>
            <a:ext cx="630936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3931920"/>
            <a:ext cx="5870448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raw 保留后端原始返回值（OpenCV 的 points / contour），便于替换算法与排查误检。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三种目标，三套方法，参数写死以便复现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三路检测共用同一个返回结构，所以上层技能只写一次调用逻辑。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10668579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04825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7575" y="2048256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人脸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375" y="2048256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二维码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495" y="2048256"/>
            <a:ext cx="30358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34086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原理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7575" y="234086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Haar Cascade 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9375" y="234086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QRCodeDetector
detectAndDecode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495" y="234086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HSV 颜色分割
+ 最大轮廓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2889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288950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预处理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575" y="28895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转灰度 + 直方图均衡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9375" y="288950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内置透视矫正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495" y="288950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inRange 二值化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4381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43814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关键参数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7575" y="343814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scaleFactor=1.1
minNeighbors=5
minSize=30×30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9375" y="343814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解码结果按 JSON 解析
失败原样返回字符串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5495" y="343814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绿区间 (35,80,80)–(85,255,255)
RETR_EXTERNAL 取最大轮廓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39867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398678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7575" y="398678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bbox + 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9375" y="398678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结构化 payload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5495" y="398678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x_cm / distance_cm
bbox / center_px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53542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7575" y="453542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375" y="453542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5495" y="453542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针孔模型 d = D·f / d_px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08406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248656"/>
            <a:ext cx="10668579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必须说明：</a:t>
            </a: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detect_face 只返回人脸位置，不返回身份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——身份识别需要单独的特征比对模块，见 P34。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cv2 为懒加载可选依赖，CI 默认不装；三路检测均未做真实摄像头实测。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闭环控制律已经跑出收敛序列，缺的是把它搬进技能层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设计数据包里有一个可复现的闭环；技能层目前还是一次开环修正。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带噪感知下的成功数（ideal / harsh / adversarial）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68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技能层 kick.py：一次开环修正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706624"/>
            <a:ext cx="5074920" cy="11247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" y="283464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obs = ctx.perceive("ball")        # 只检测一次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abs(ball_x) &gt; 1.0:             # 单次判断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max(-10.0, min(10.0, ball_x / 2.0))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ctx.cerebellum.set_pose({"left_hip_yaw": yaw, ...})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ctx.cerebellum.kick(...)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76732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没有 while，没有二次检测，没有收敛判据。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±10° 限幅在任务区间内几乎总是饱和：球距 10 cm 时 |x|&gt;1.76 cm 即饱和，20 cm 时 &gt;3.53 cm 即饱和——单次修正不可能收敛，这是几何决定的。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468880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设计数据包 run_sim.py：真闭环（已实现）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06624"/>
            <a:ext cx="5166360" cy="112471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83464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while 迭代 &lt; max_iter 且 未超时: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obs = 重新检测球位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if |x| &lt;= tol_cm: break      # 收敛出口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clamp(gain * x, ±max_step)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调整朝向；振荡则自动降增益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67328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实测收敛序列</a:t>
            </a: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seed 20260910 · 与 design/README.md §5.1 同源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968496"/>
            <a:ext cx="5166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39684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初始偏移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96849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轮次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39684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误差序列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16768" y="3968496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末误差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224528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59" y="4224528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90688" y="422452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5.00 → 2.42 → 1.45 → 0.38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6768" y="4224528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0.38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63640" y="4572000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5079" y="4572000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 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572000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457200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12.00 → 7.92 → 4.20 → 1.76 → 1.48 → 0.48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6768" y="4572000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63640" y="4919472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55079" y="4919472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 cm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4919472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491947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20.00 → 15.92 → 12.16 → 7.82 → 4.50 → 1.99 → 0.35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6768" y="4919472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63640" y="5266944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61695" y="5303520"/>
            <a:ext cx="1066857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" y="5394960"/>
            <a:ext cx="102296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鲁棒性边界：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 → ideal 12/12 ｜ nominal 12/12 ｜ harsh 9/12 ｜ adversarial 4/12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这是本项目唯一的量化证据：它给出的是失效边界，而不只是「能跑」。当前缺口是移植——把这段循环搬进 skills/kick.py，不是从零写。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语音是接口不是依赖；工程质量是可查的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下面四项都可以当场执行复现。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133 项测试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核心 0 第三方依赖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核心零第三方依赖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 包全部 import 只有 abc / argparse / dataclasses / enum / json / math / pathlib / subprocess / sys / time / typing；cv2、qrcode 为懒加载可选依赖。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984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5984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728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133 项测试 · 构成拆开说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3728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软件行为 51 项 + 设计模型 / 工程图 / 几何断言 82 项（占 61.7%）。软件行为部分覆盖 FSM / 任务卡 / 技能 / 感知 / 语音 / 动作库 / 配置。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1695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9439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CI 三版本矩阵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9439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GitHub Actions 在 Python 3.9 / 3.11 / 3.12 上跑编译 + 测试 + 无硬件闭环演示。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984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5984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3728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协作规范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728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改前 pull、小步 commit、禁 force push、功能分支；设计与代码同源。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718304"/>
            <a:ext cx="6035040" cy="12710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695" y="4718304"/>
            <a:ext cx="32004" cy="127101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" y="4846320"/>
            <a:ext cx="576072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python3 -m unittest discover -s tests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Ran 133 tests in 0.045s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OK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run_demo.py --fast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闭环演示完成: 5/5 项任务通过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18304"/>
            <a:ext cx="4297680" cy="1271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4864608"/>
            <a:ext cx="3858768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语音链路的当前状态</a:t>
            </a:r>
          </a:p>
          <a:p>
            <a:pPr algn="l">
              <a:lnSpc>
                <a:spcPct val="138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KeywordRecognizer 与 TTS 均为抽象接口，现有 Mock 实现保证演示可复现。VoiceService 尚未接入 Brain；</a:t>
            </a:r>
          </a:p>
          <a:p>
            <a:pPr algn="l">
              <a:lnSpc>
                <a:spcPct val="138000"/>
              </a:lnSpc>
              <a:spcBef>
                <a:spcPts val="3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全仓无音频播放代码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，「音乐播放」为设计目标。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同一份代码，三个后端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单个平台受阻时，另外两个继续推进。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 份代码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3 个后端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atri 包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Brain / FSM / Skills / Perception 接口 / Cerebellum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984" y="3255264"/>
            <a:ext cx="0" cy="274320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5712" y="327355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只换这一个实现（Cerebellum 支持注入 sleeper）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53335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61695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MockServoBus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内存舵机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4303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9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无硬件即可跑通全链路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2647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401007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2175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WebotsServoBus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175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robot.step + 电机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02175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3615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175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atri_22dof.wbt（零重力运动学世界）+ 19 项离线桩测试；标定的是关节角序列与调度时序，不含重力与接触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31959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040319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1487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SerialServoBus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1487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串口总线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1487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2927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1487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样机阶段接入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5358384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151" y="5358384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仿真为运动学/解析验证（simulation: kinematic-analytical），不是物理动力学仿真；动力学参数标定列入阶段三。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六项真能执行的产物，每条都附命令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后面所有的「规划中」，都建立在这六项之上。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 项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可执行产物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841248"/>
          </a:xfrm>
          <a:prstGeom prst="rect">
            <a:avLst/>
          </a:prstGeom>
          <a:solidFill>
            <a:srgbClr val="DCE9F4"/>
          </a:solidFill>
          <a:ln w="12700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1151" y="254203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视觉伺服闭环 + 鲁棒性边界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54203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12/12 · 9/12 · 4/12</a:t>
            </a:r>
          </a:p>
          <a:p>
            <a:pPr algn="r"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ideal / nominal / harsh / adversarial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38328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" y="338328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已完成的产物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9455" y="3383280"/>
            <a:ext cx="5641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查证方式 / 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369417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133 项测试 + 三版本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9455" y="3694176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python3 -m unittest discover -s tests　→ Ran 133 tests … 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411480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41148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五项任务无硬件闭环演示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9455" y="4114800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run_demo.py --fast　→ 闭环演示完成: 5/5 项任务通过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53542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URDF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99455" y="4535424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design/robot_model.json；python3 design/gen_urdf.py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495604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 张工程图（编号 / 三视图 / 尺寸链 / 舵机布局）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9455" y="4956048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design/drawings/　图号 001 / 002 / 004 / 005，第 3 张暂缺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537667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537667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Webots 运动学联调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9455" y="5376672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webots/worlds/atri_22dof.wbt；19 项离线桩测试（完整运行需 Windows + Webots R2025a）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1695" y="57972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五项赛题，五条实现路径，同一套底座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五项任务闭环 · P32–P39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赛题要求 → 实现路径 → 考核指标 → 当前状态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标记为「待开发」的三处是流程中尚未实现真实感知或执行的环节，逐项在 P34–P38 说明。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94560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赛题任务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1895" y="2194560"/>
            <a:ext cx="53949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实现路径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194560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考核指标（目标值）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2194560"/>
            <a:ext cx="3383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505456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1895" y="2505456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采集 → 人脸检测 → 身份比对待开发 → 本地 TTS 播报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9735" y="2505456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成功率 ≥90%（≤1.5 m）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2505456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30723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3072384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1895" y="3072384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捕获 → 透视矫正 → 解码 JSON → FSM 调度前进/转向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9735" y="3072384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识别 ≥90%；指令执行 ≥95%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3072384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63931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639312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1895" y="3639312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目标检测待开发 → 视觉对齐 → 夹爪闭合 → 平移 → 释放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9735" y="363931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抓取成功率 ≥80%（≤100 g）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3639312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42062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420624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1895" y="4206240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检测球位 → 朝向伺服 → 腿部踢球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9735" y="420624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踢球成功率 ≥70%（10–20 cm）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4206240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77316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773168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娱乐休闲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61895" y="4773168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离线关键词 → 音频播放待开发 → 22 DOF 短舞序列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39735" y="4773168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连续执行完成度 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4773168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340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340096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五项任务的软件流程都已在无硬件闭环演示中跑通（5/5）；考核指标为目标值，实机指标全部待测。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当前只能看到「这里有一张脸」，认人还差一步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四步链路里，第一步已经跑通。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已可用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553212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0291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8367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46443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摄像头采集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特征比对（未实现）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TTS 播报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视觉：config/face_db.json 真实内容 + PerceptionResult 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5" name="Oval 34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OpenCVPerception.detect_face() 用 Haar Cascade 返回 bbox + 置信度</a:t>
            </a:r>
          </a:p>
        </p:txBody>
      </p:sp>
      <p:sp>
        <p:nvSpPr>
          <p:cNvPr id="37" name="Oval 36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 播报链路可用（Mock / macOS say）</a:t>
            </a:r>
          </a:p>
        </p:txBody>
      </p:sp>
      <p:sp>
        <p:nvSpPr>
          <p:cNvPr id="39" name="Oval 38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config/face_db.json 从未被任何代码加载</a:t>
            </a:r>
          </a:p>
        </p:txBody>
      </p:sp>
      <p:sp>
        <p:nvSpPr>
          <p:cNvPr id="41" name="Oval 40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 不返回姓名；FaceSkill 取不到时回落到任务卡的默认名，置信度写死 0.93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420166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现有 face_db.json 只有 2 条、4 维手写向量，不足以支撑识别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识别成功率 ≥ 90%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固定光照、≤1.5 m；当前无实测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二维码不只是位置标签，它本身是一段指令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现场改路径 = 换一张二维码贴纸，不用刷机、不用重编译。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{"action":"walk","steps":3}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3/5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505456"/>
            <a:ext cx="3840480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qr_walk_step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383" y="2761488"/>
            <a:ext cx="1975104" cy="19751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81151" y="4846320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qr_samples/qr_walk_steps3.png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" y="5065776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真二维码样例 · 解码得 walk / steps=3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505456"/>
            <a:ext cx="3063239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505456"/>
            <a:ext cx="3063239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26" name="Oval 25"/>
          <p:cNvSpPr/>
          <p:nvPr/>
        </p:nvSpPr>
        <p:spPr>
          <a:xfrm>
            <a:off x="4937760" y="2939796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4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指令内嵌：二维码内容就是 JSON，支持 walk（带 steps）与 turn（带 deg）</a:t>
            </a:r>
          </a:p>
        </p:txBody>
      </p:sp>
      <p:sp>
        <p:nvSpPr>
          <p:cNvPr id="28" name="Oval 27"/>
          <p:cNvSpPr/>
          <p:nvPr/>
        </p:nvSpPr>
        <p:spPr>
          <a:xfrm>
            <a:off x="4937760" y="3506724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4064" y="343814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生成器：python3 -m atri.qrgen --action walk --steps 3 --output qr_walk.png</a:t>
            </a:r>
          </a:p>
        </p:txBody>
      </p:sp>
      <p:sp>
        <p:nvSpPr>
          <p:cNvPr id="30" name="Oval 29"/>
          <p:cNvSpPr/>
          <p:nvPr/>
        </p:nvSpPr>
        <p:spPr>
          <a:xfrm>
            <a:off x="4937760" y="42565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187952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qr_samples/ 下已有 3 张真实样例码（walk / turn / dance）</a:t>
            </a:r>
          </a:p>
        </p:txBody>
      </p:sp>
      <p:sp>
        <p:nvSpPr>
          <p:cNvPr id="32" name="Oval 31"/>
          <p:cNvSpPr/>
          <p:nvPr/>
        </p:nvSpPr>
        <p:spPr>
          <a:xfrm>
            <a:off x="8366760" y="2939796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真实摄像头取帧与解码路径一次都没执行过；本机未装 cv2，解码逻辑仅由 fake cv2 单元测试覆盖</a:t>
            </a:r>
          </a:p>
        </p:txBody>
      </p:sp>
      <p:sp>
        <p:nvSpPr>
          <p:cNvPr id="34" name="Oval 33"/>
          <p:cNvSpPr/>
          <p:nvPr/>
        </p:nvSpPr>
        <p:spPr>
          <a:xfrm>
            <a:off x="8366760" y="3689604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4" y="362102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turn 指令当前用 set_pose(hip_yaw) 实现（转向问题见 P28）；超过 135° 会被静默限幅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0" y="4700016"/>
            <a:ext cx="64922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8928" y="4809744"/>
            <a:ext cx="608990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 ≥90%　指令执行 ≥95%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组指令回放；当前无实测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搬运的夹爪和步数换算已经写好，缺的是一双眼睛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抓取的前提是对齐，但当前还没有能提供对齐误差的检测器。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步已实现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27599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32983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8367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3751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135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视觉识别目标（未实现）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计算相对偏航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步态微调对齐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夹爪闭合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平移与释放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视觉：搬运技能真实调用序列代码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40" name="Oval 39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夹爪开合、平移步数换算：steps = max(2, int(distance_cm / 2.0))</a:t>
            </a:r>
          </a:p>
        </p:txBody>
      </p:sp>
      <p:sp>
        <p:nvSpPr>
          <p:cNvPr id="42" name="Oval 41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调用序列 align → grasp → walk → release 已在闭环演示中跑通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感知后端没有 detect_object，ctx.perceive("object") 恒返回 {}，target / distance_cm 永远取任务卡默认值</a:t>
            </a:r>
          </a:p>
        </p:txBody>
      </p:sp>
      <p:sp>
        <p:nvSpPr>
          <p:cNvPr id="46" name="Oval 45"/>
          <p:cNvSpPr/>
          <p:nvPr/>
        </p:nvSpPr>
        <p:spPr>
          <a:xfrm>
            <a:off x="8513064" y="381762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8" y="374904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execute_motion("align", obs) 落到默认分支，写死一个姿态且丢弃 obs</a:t>
            </a:r>
          </a:p>
        </p:txBody>
      </p:sp>
      <p:sp>
        <p:nvSpPr>
          <p:cNvPr id="48" name="Oval 47"/>
          <p:cNvSpPr/>
          <p:nvPr/>
        </p:nvSpPr>
        <p:spPr>
          <a:xfrm>
            <a:off x="8513064" y="456742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8" y="449884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全仓无任何检测器返回 target 字段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抓取成功率 ≥ 80%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轻物 ≤100 g；当前无实测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球在哪，机器人转过去——但目前只转一次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闭环控制律已在设计数据包中跑通，尚未移植到技能层。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|x| &gt; 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检测球位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计算横向误差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朝向伺服（单次）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执行踢球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视觉：atri/skills/kick.py 真实控制律代码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6" name="Oval 35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误差判据：|x| &gt; 1.0 cm 触发修正（阈值 0 会让机器人在噪声里抖）</a:t>
            </a:r>
          </a:p>
        </p:txBody>
      </p:sp>
      <p:sp>
        <p:nvSpPr>
          <p:cNvPr id="38" name="Oval 37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控制律：yaw = clamp(x / 2, −10°, +10°)，比例增益 1/2</a:t>
            </a:r>
          </a:p>
        </p:txBody>
      </p:sp>
      <p:sp>
        <p:nvSpPr>
          <p:cNvPr id="40" name="Oval 39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技能层没有二次检测，是一次开环修正（闭环已实现于 design/run_sim.py，见 P28）</a:t>
            </a:r>
          </a:p>
        </p:txBody>
      </p:sp>
      <p:sp>
        <p:nvSpPr>
          <p:cNvPr id="42" name="Oval 41"/>
          <p:cNvSpPr/>
          <p:nvPr/>
        </p:nvSpPr>
        <p:spPr>
          <a:xfrm>
            <a:off x="8513064" y="363474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x(cm) → yaw(deg) 缺雅可比；设计相机模型（640×480 / HFOV 70°）下控制律偏小约 2.5 倍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438454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431596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执行的是 hip_yaw，双脚着地时不改变机体朝向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踢球成功率 ≥ 70%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球距 10–20 cm；当前无实测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关节轨迹已经能算，音乐还没有出声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舞蹈不是播视频，是每个关节按时间轴算出来的轨迹。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关节 · 时间轴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麦克风拾音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离线关键词识别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音频播放（未实现）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DOF 短舞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语音应答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视觉：cerebellum.dance() 真实帧生成代码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9" name="Oval 38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关键词识别与 TTS 抽象接口：MockKeywordRecognizer / MockTTS / MacOSTTS</a:t>
            </a:r>
          </a:p>
        </p:txBody>
      </p:sp>
      <p:sp>
        <p:nvSpPr>
          <p:cNvPr id="41" name="Oval 40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舞蹈轨迹生成真实参数：head_yaw ±20°(2π)、head_pitch ±10°(4π)、trunk_roll ±4°、hip_pitch ∓8° 反相、shoulder_pitch ∓20° 反相、elbow_pitch −25°±15°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全仓无音频播放代码，只有 TTS 文本；「音乐播放」是设计目标</a:t>
            </a:r>
          </a:p>
        </p:txBody>
      </p:sp>
      <p:sp>
        <p:nvSpPr>
          <p:cNvPr id="45" name="Oval 44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VoiceService 尚未接入 Brain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连续执行完成度 100%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本地 TTS 响应延迟 ≤1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这四块空白是计划内的，产出一项补一项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已跑通的部分全部可当场复现；没跑的写待测。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仿真截图位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 双足行走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阶段二产出后补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984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984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实机截图位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984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三项视觉任务实测画面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984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指标数据表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单项成功率与测试日期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每轮测试后更新，见 P47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984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984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演示视频位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984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 分钟实物视频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984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4700016"/>
            <a:ext cx="10668579" cy="96926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9439" y="4882896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现在就能拿出的证据</a:t>
            </a:r>
          </a:p>
          <a:p>
            <a:pPr algn="l">
              <a:spcBef>
                <a:spcPts val="5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完整清单与命令见 P31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视觉伺服鲁棒性边界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1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设计包测试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1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133 项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我们的创新不在重新发明双足机器人，在任务如何被描述与执行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特色与创新 · P40–P44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五项任务不是五套程序，是五份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把「任务」从代码里拿出来，变成可替换的数据。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张任务卡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统一任务描述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667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411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382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26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技能库执行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5098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42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8814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558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回到 FSM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090672"/>
            <a:ext cx="106685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task_cards/*.json　→　fsm.py　→　skills/*.py　→　perception/*.py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695" y="3474720"/>
            <a:ext cx="10668579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" y="347472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7775" y="34747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3474720"/>
            <a:ext cx="3813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" y="3803904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775" y="3803904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一段主程序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8255" y="3803904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一份 JSON 数据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427939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4279392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任务之间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7775" y="4279392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硬分叉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4279392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FSM 状态流转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75487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754879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7775" y="4754879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改主程序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8255" y="4754879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加一个技能类 + 改一行白名单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523036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口径：本创新为系统架构层面，非算法原创。不宣称「完全不用改调度器」——白名单那一行目前仍需改（见 P23）。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把配置从电脑里搬到了地板上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现场改任务的成本，从「重编译」降到「换一张贴纸」。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换一张贴纸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78608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 = 位置标识，路径写死在代码里。换一条路线就要改程序、重新烧录。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3968496"/>
            <a:ext cx="5120640" cy="1389888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096512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 = 指令载体，内容就是 JSON。现场贴一张新码就是一条新路径。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450592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569464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赛前改路线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83464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不用重编译、不用带电脑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19856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419856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53872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现场换任务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803904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同一台机器人切换成完全不同的任务序列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389120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4389120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50799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教学场景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77316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学生改路径只需要改一张贴纸，理解成本几乎为零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二维码承载的是结构化指令，不是可执行代码；不做任意代码执行。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动作由误差决定，不是由固定坐标决定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这一条的闭环已经跑出收敛数据，缺的是把它搬进技能层。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±1.0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968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固定脚本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目标必须在 A 点 → 播放动作 → 结束。位置不对就失败，没有任何补救。</a:t>
            </a:r>
          </a:p>
          <a:p>
            <a:pPr algn="l">
              <a:spcBef>
                <a:spcPts val="12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判据：无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4279392"/>
            <a:ext cx="5120640" cy="1700784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4256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 → 算误差 → 判定 → 调整。动作由误差决定，不是由固定坐标决定。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判据：|x| &gt; 1.0 cm 触发修正；yaw = clamp(x/2, ±10°)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5968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边界（写清楚）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技能层仍是一次开环修正；闭环形态已实现于设计数据包，待移植（见 P28）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是比例控制，不是学习型策略；增益与阈值是工程整定值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缺相机到关节角的雅可比：按设计相机模型估算，控制律偏小约 2.5 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79392"/>
            <a:ext cx="5212080" cy="17007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44256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这一条的现状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闭环控制律已在 design/run_sim.py 中实现并跑出收敛序列（seed 20260910：5 cm → 4 轮 → 0.38；12 cm → 6 轮 → 0.48；20 cm → 7 轮 → 0.35），带噪感知下 ideal 12/12、harsh 9/12、adversarial 4/12。</a:t>
            </a:r>
          </a:p>
          <a:p>
            <a:pPr algn="l">
              <a:lnSpc>
                <a:spcPct val="142000"/>
              </a:lnSpc>
              <a:spcBef>
                <a:spcPts val="600"/>
              </a:spcBef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尚未接进技能层 kick.py——那是移植，不是从零写。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三个条件必须同时成立，少一个都不叫能进课堂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单看每一条都不稀奇，三条同时满足才是这个项目的位置。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个条件必须同时成立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9055" y="2450592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为什么必须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0975" y="2450592"/>
            <a:ext cx="4910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怎么做到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761488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9055" y="2761488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赛场断网是常态；教学场景对数据外传有顾虑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975" y="2761488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 / 二维码解码 / TTS 全部板载，主流程零网络出站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3135" y="3566160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三千元级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9055" y="3566160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万元级设备无法成班配置，「可复现」无从谈起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0975" y="3566160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标准总线舵机 + 3D 打印结构 + 实验室已有计算板，新增 ¥2755–3095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37083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370832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可复现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9055" y="4370832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别人照着做不出来，就不算平台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4370832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设计模型、代码、仿真、工程图、日志同一套 Git 仓库；核心零第三方依赖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1695" y="5175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1695" y="5321808"/>
            <a:ext cx="10668579" cy="5852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21808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这三条互相约束——为了便宜要砍自由度，为了离线要压模型，为了可复现要限依赖。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做到哪一步、谁在做、要多少钱、万一做不成怎么办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验证与推进 · P45–P51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四个我们预判会被问到的问题，先给出答案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答法正在同步进 项目文档/答辩Q&amp;A.md；本页以下的答案以本稿为准。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为什么晋级后才做样机？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17727" y="3145536"/>
            <a:ext cx="4657633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7727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报名阶段以「方案设计 + 设计模型 + 软件栈 + 仿真」为交付，避免在无明确晋级信号前投入整机成本。推进顺序是 0 预算 → 借用平台 → 自组样机。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576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0576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6608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你们的创新到底是什么？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6608" y="3145536"/>
            <a:ext cx="465763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16608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不做「重新发明双足机器人」的包装。技术主线是在有限算力与断网条件下，用统一任务描述驱动一台小型双足机器人完成五项赛题任务。原创性主要在系统架构与工程实现，不在算法。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695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7727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现在到底完成了什么？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4 张工程图、22 DOF Webots 世界与控制器、133 项测试、五项任务无硬件闭环 5/5、任务卡与动作库规范。没有实物样机，没有实机实测数据。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0576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6608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断网后语音 / 人脸 / 二维码还能用吗？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6608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二维码解码与 TTS 是纯本地路径；人脸检测为本地 Haar，身份比对尚未实现。离线是设计目标且软件路径已具备，实机验证在样机阶段。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四项已经出了结果，其余写清怎么测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每个指标都写清「怎么测」，不留模糊。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 项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已有结果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14016"/>
            <a:ext cx="10668579" cy="117043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237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现在就有结果的四项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439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测试通过率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159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133 / 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439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python3 -m unittest discover -s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9807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五项任务软件闭环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1527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5 /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9807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run_demo.py --fast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439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伺服闭环收敛（20cm）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1159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7 轮 / 0.85cm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439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design/run_sim.py::servo_loop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807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鲁棒性边界（harsh / 对抗）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1527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9/12 · 4/12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9807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run_sim.py --sweep perception --episodes 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" y="3767328"/>
            <a:ext cx="10668579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" y="376732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3615" y="37673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3767328"/>
            <a:ext cx="463600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验证方式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" y="402336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双足连续行走距离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3615" y="402336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≥1.0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402336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带重力与接触的动力学世界 → 借机实测（当前世界零重力，不承担此项）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33425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334256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地面 QR 识别成功率 / 指令正确率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615" y="433425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 / ≥95%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334256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 m；10 组指令回放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3135" y="4645152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人脸检测成功率（身份比对未实现）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3615" y="4645152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5295" y="4645152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固定光照、≤1.5 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495604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物品抓取成功率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3615" y="4956048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5295" y="4956048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轻物 ≤100 g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1695" y="52669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53135" y="526694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视觉定位踢球成功率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3615" y="5266944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05295" y="5266944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球距 10–20 cm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61695" y="55778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3135" y="557784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离线运行时间 / 本地 TTS 延迟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3615" y="557784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≥30 min / ≤1 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05295" y="557784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样机满电实测；TTS 延迟现可在 macOS 实测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61695" y="588873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1695" y="3547872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口径：下表的「当前结果」列在样机测试前保持空白；目标值可在仿真/借机阶段按实际调参更新。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四个阶段，每个阶段都有出口条件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阶段二至四的时间点依赖官方赛程，不在此页承诺具体日期。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139696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77440"/>
            <a:ext cx="0" cy="118872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63079" y="2139696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63079" y="2377440"/>
            <a:ext cx="0" cy="118872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64464" y="2139696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64464" y="2377440"/>
            <a:ext cx="0" cy="118872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65849" y="2139696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65849" y="2377440"/>
            <a:ext cx="0" cy="118872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7415" y="2487168"/>
            <a:ext cx="2209944" cy="105155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711" y="2487168"/>
            <a:ext cx="2045352" cy="1051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一 · 方案设计与报名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" y="2487168"/>
            <a:ext cx="0" cy="105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3108799" y="2775204"/>
            <a:ext cx="2209944" cy="105155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095" y="2775204"/>
            <a:ext cx="2045352" cy="1051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二 · 仿真与借机验证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" y="2775204"/>
            <a:ext cx="0" cy="105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410184" y="3063240"/>
            <a:ext cx="2209944" cy="105155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2480" y="3063240"/>
            <a:ext cx="2045352" cy="1051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三 · 硬件自组与离线实测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" y="3063240"/>
            <a:ext cx="0" cy="105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11569" y="3351276"/>
            <a:ext cx="2209944" cy="105155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3865" y="3351276"/>
            <a:ext cx="2045352" cy="1051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四 · 全流程彩排与优化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" y="3351276"/>
            <a:ext cx="0" cy="105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0150114" y="2139696"/>
            <a:ext cx="1280160" cy="142646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8130" y="2249424"/>
            <a:ext cx="1042415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出口条件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材料可复现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8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（行走 ≥1 m 在阶段三）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22/22 绑定 + 五任务连续两轮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五任务各跑通一次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连续两次成功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374904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风险与应对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1695" y="4023360"/>
            <a:ext cx="10668579" cy="347472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" y="4023360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上肢+躯干 = 10 压线，夹爪是否计入上肢关节口径未定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2375" y="4023360"/>
            <a:ext cx="50267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报名前向组委会书面确认；若口径收紧，优先增加躯干自由度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4407408"/>
            <a:ext cx="1066857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863" y="4407408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技能层开环、缺雅可比；闭环待移植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02375" y="4407408"/>
            <a:ext cx="50267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 run_sim.py 的闭环搬进 kick.py，并标定像素—角度映射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791456"/>
            <a:ext cx="1066857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2863" y="4791456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当前 Webots 世界为零重力运动学世界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2375" y="4791456"/>
            <a:ext cx="50267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不承担「行走 ≥1 m」指标；其验证需新建带重力与接触的动力学世界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5175504"/>
            <a:ext cx="1066857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" y="5175504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人脸身份比对模块缺失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2375" y="5175504"/>
            <a:ext cx="50267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阶段二第一优先项，先做 5 人以内的局部特征比对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5559552"/>
            <a:ext cx="1066857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2863" y="5559552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双足步态不稳定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2375" y="5559552"/>
            <a:ext cx="50267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仿真先行；先调髋/踝参数再上整机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三档口径写清楚，逐项算得出来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设计目标清单，尚未采购。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¥3105–3745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全口径 BOM 合计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672084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32304"/>
            <a:ext cx="14630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2319" y="2432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组件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9679" y="2432304"/>
            <a:ext cx="3657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数量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8319" y="2432304"/>
            <a:ext cx="204825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选型 / 规格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9455" y="2432304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单价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243230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小计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" y="2688336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2319" y="2688336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总线舵机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9679" y="2688336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8319" y="2688336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ST3215 / LD-1501MG 级别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99455" y="2688336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8135" y="2688336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¥1980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2948940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2948940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2319" y="2948940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下层控制板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9679" y="2948940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8319" y="2948940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STM32（F103/F405 级别）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9455" y="2948940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8135" y="2948940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1695" y="3209544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3135" y="3209544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2319" y="3209544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边缘计算板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19679" y="3209544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8319" y="3209544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树莓派 4B / Orange Pi 5 级别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99455" y="3209544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¥300–600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8135" y="3209544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¥300–600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1695" y="3470148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53135" y="3470148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2319" y="3470148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轴 IMU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9679" y="3470148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8319" y="3470148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MPU6050 / BMI160 级别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99455" y="3470148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68135" y="3470148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1695" y="3730752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3135" y="3730752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2319" y="3730752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单目摄像头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19679" y="3730752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8319" y="3730752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USB / UVC 广角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99455" y="3730752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68135" y="3730752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61695" y="3991356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53135" y="3991356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2319" y="3991356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麦克风 + 扬声器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19679" y="3991356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68319" y="3991356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USB 麦 / 3W 喇叭 + 功放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99455" y="3991356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68135" y="3991356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¥40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61695" y="4251960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53135" y="4251960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82319" y="4251960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锂电池 + 电源模块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9679" y="4251960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8319" y="4251960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2S/3S ≥7.4 V + BEC 降压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99455" y="4251960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¥110–150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68135" y="4251960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¥110–150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61695" y="4512564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53135" y="4512564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2319" y="4512564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3D 打印结构件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19679" y="4512564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68319" y="4512564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PLA / PETG 含损耗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99455" y="4512564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¥300–600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68135" y="4512564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¥300–600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61695" y="4773168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853135" y="4773168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82319" y="4773168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螺丝 / 轴承 / 线材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19679" y="4773168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68319" y="4773168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M2 / M3 + 杜邦线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99455" y="4773168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68135" y="4773168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¥100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61695" y="5033772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53135" y="5033772"/>
            <a:ext cx="146303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82319" y="5033772"/>
            <a:ext cx="155448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夹爪 / 末端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19679" y="5033772"/>
            <a:ext cx="365759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68319" y="5033772"/>
            <a:ext cx="2048255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3D 打印 + 摩擦片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99455" y="5033772"/>
            <a:ext cx="68580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8135" y="5033772"/>
            <a:ext cx="822960" cy="2606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¥160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61695" y="5294376"/>
            <a:ext cx="67208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7863840" y="2432304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65008" y="2560320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全口径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65008" y="2743200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¥3105–3745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65008" y="3017520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舵机 + 控制板 + 电源 + 3D 打印 + 传感器 + 杂项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63840" y="3401568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65008" y="352958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新增采购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65008" y="3712464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¥2755–3095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5008" y="3986784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扣除实验室已有的边缘计算板与 STM32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63840" y="4370832"/>
            <a:ext cx="3566160" cy="877824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65008" y="4498848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含备用舵机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65008" y="468172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¥2935–3455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65008" y="495604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额外 2–4 只备用舵机，避免现场损坏无替换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61695" y="5449824"/>
            <a:ext cx="10668579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1151" y="5449824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设计目标清单，尚未采购。具体型号在样机阶段按扭矩 / 重量 / 供电需求确认；三档口径的差额来源已在右侧写明。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50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五个方向、五个接口：谁定义关节角度，谁保证关节真的转到了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交付物按「已完成 / 进行中 / 规划中」分别标注。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76272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7627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何浩睿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7615" y="2176272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项目负责人 · 机械与步态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2175" y="2176272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机构拓扑、3D 打印装配、舵机选型与扭矩校核、双足运动学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4175" y="2176272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机构三视图、装配件、步态参数表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834640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834640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8346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周柏宇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7615" y="2834640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项目统筹 · 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2175" y="2834640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大赛申报与材料统筹、答辩汇报、软硬件联调组织与验收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175" y="2834640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申报材料、答辩稿、联调记录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93008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93008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93008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胡晟瑞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7615" y="3493008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算法研发 · 视觉感知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2175" y="3493008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人脸检测与特征匹配、二维码解码、目标检测、视觉伺服控制律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4175" y="3493008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感知模块、控制律参数、识别数据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51376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51376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51376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王旭琪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7615" y="4151376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系统架构 · 交互与仿真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2175" y="4151376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大脑 FSM 与任务卡规范、技能库接口、离线语音、Webots 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4175" y="4151376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编排层代码、任务卡规范、仿真工程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809744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809744"/>
            <a:ext cx="41148" cy="603504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80974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张景昆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07615" y="4809744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小脑控制 · 嵌入式联调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2175" y="4809744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STM32 舵机总线驱动与 22 路标定、IMU 采集与姿态解算、串口协议、上电自检与失稳保护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4175" y="4809744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小脑固件、通信协议、标定记录、测试数据表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541264"/>
            <a:ext cx="10668579" cy="4754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541264"/>
            <a:ext cx="1022966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接口边界：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何浩睿定义「关节应该转到什么角度」，张景昆保证「关节确实转到了、并且系统知道它转到了」——以「关节目标角序列 + IMU 姿态回传」为界，并行推进、互不阻塞。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6350">
            <a:solidFill>
              <a:srgbClr val="0A25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61695" y="1005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06  验证与推进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1481328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接下来 90 天，我们要把三件事做完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695" y="2432304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1695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439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借到同构双足平台，跑出一段真机视频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439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把「软件能跑」变成「机器人在动」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9328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7072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7072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在 Webots 里标定出连续行走 ≥1 m 的步态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7072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把设计模型变成可复现的仿真结果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6961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4705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4705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移植一个已跑通的闭环，补齐两个缺失模块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4705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 run_sim.py 的闭环搬进技能层；补人脸身份比对与目标检测器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12700">
            <a:solidFill>
              <a:srgbClr val="1E4A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1695" y="51389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A.T.R.I. 桌面自主人形智能</a:t>
            </a:r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｜　中国国际大学生创新大赛（2026）· 陕西赛区特色专项 · 小人形组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5486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西安交通大学　｜　项目团队：何浩睿 · 周柏宇 · 胡晟瑞 · 王旭琪 · 张景昆　｜　指导教师：陈妍 · 李璐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053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恳请各位专家评委批评指正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delay" delay="indefinite"/>
                      </p:stCondLst>
                      <p:childTnLst>
                        <p:par>
                          <p:cTn id="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evt="delay" delay="indefinite"/>
                      </p:stCondLst>
                      <p:childTnLst>
                        <p:par>
                          <p:cTn id="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evt="delay" delay="indefinite"/>
                      </p:stCondLst>
                      <p:childTnLst>
                        <p:par>
                          <p:cTn id="1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evt="delay" delay="indefinite"/>
                      </p:stCondLst>
                      <p:childTnLst>
                        <p:par>
                          <p:cTn id="1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evt="delay" delay="indefinite"/>
                      </p:stCondLst>
                      <p:childTnLst>
                        <p:par>
                          <p:cTn id="2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evt="delay" delay="indefinite"/>
                      </p:stCondLst>
                      <p:childTnLst>
                        <p:par>
                          <p:cTn id="2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evt="delay" delay="indefinite"/>
                      </p:stCondLst>
                      <p:childTnLst>
                        <p:par>
                          <p:cTn id="3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evt="delay" delay="indefinite"/>
                      </p:stCondLst>
                      <p:childTnLst>
                        <p:par>
                          <p:cTn id="3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evt="delay" delay="indefinite"/>
                      </p:stCondLst>
                      <p:childTnLst>
                        <p:par>
                          <p:cTn id="4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evt="delay" delay="indefinite"/>
                      </p:stCondLst>
                      <p:childTnLst>
                        <p:par>
                          <p:cTn id="4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evt="delay" delay="indefinite"/>
                      </p:stCondLst>
                      <p:childTnLst>
                        <p:par>
                          <p:cTn id="5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evt="delay" delay="indefinite"/>
                      </p:stCondLst>
                      <p:childTnLst>
                        <p:par>
                          <p:cTn id="5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evt="delay" delay="indefinite"/>
                      </p:stCondLst>
                      <p:childTnLst>
                        <p:par>
                          <p:cTn id="64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evt="delay" delay="indefinite"/>
                      </p:stCondLst>
                      <p:childTnLst>
                        <p:par>
                          <p:cTn id="69" fill="hold">
                            <p:stCondLst>
                              <p:cond evt="delay" delay="6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evt="delay"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evt="delay"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