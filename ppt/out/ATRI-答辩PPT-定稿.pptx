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74980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中国国际大学生创新大赛（2026）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　陕西赛区特色专项 · 人形机器人专项 · 小人形组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95" y="157276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 spc="15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A.T.R.I.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695" y="2450592"/>
            <a:ext cx="5852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0" i="0" spc="15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桌面自主人形智能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695" y="301752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24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AUTONOMOUS TABLETOP ROBOTIC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3511296"/>
            <a:ext cx="658368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" y="3749039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一台能自己看、自己想、自己走的桌面双足机器人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426110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22 DOF</a:t>
            </a:r>
            <a:r>
              <a:rPr sz="110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　·　</a:t>
            </a:r>
            <a:r>
              <a:rPr sz="15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47.5 cm</a:t>
            </a:r>
            <a:r>
              <a:rPr sz="110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　·　</a:t>
            </a:r>
            <a:r>
              <a:rPr sz="15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133 项测试通过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557" y="4903470"/>
            <a:ext cx="5289804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61695" y="4864608"/>
            <a:ext cx="77724" cy="7772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3590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65486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17381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69276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21172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3067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24963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76858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28754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80649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32544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84440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36335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88231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40126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92022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43917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95812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47708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99603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51499" y="4864608"/>
            <a:ext cx="77724" cy="7772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" y="5029200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22 个主动自由度</a:t>
            </a:r>
            <a:r>
              <a:rPr sz="9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　双腿 10 · 双臂 8 · 躯干 2 · 头部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695" y="5449824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项目团队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695" y="5641848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何浩睿 · 周柏宇 · 胡晟瑞 · 王旭琪 · 张景昆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1695" y="5943600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指导教师　陈妍 · 李璐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84848" y="658368"/>
            <a:ext cx="0" cy="5541264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01_关节编号图.png"/>
          <p:cNvPicPr>
            <a:picLocks noChangeAspect="1"/>
          </p:cNvPicPr>
          <p:nvPr/>
        </p:nvPicPr>
        <p:blipFill>
          <a:blip r:embed="rId2"/>
          <a:srcRect l="3819" r="10870"/>
          <a:stretch>
            <a:fillRect/>
          </a:stretch>
        </p:blipFill>
        <p:spPr>
          <a:xfrm>
            <a:off x="6949440" y="1005840"/>
            <a:ext cx="5074920" cy="42062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49440" y="53583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22 关节结构运动学图</a:t>
            </a: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　图号 ATRI-DWG-001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559552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软件栈已跑通五项任务闭环；样机在晋级后制造。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00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项目概要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项目概要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02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五项赛题共用一套任务系统，软件栈已经跑通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左边是要解决的问题，中间是已经做出来的东西，右边是当前推进到哪一步。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204825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要解决的问题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1695" y="2322576"/>
            <a:ext cx="3017520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1695" y="246888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4031" y="2468880"/>
            <a:ext cx="2615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设备贵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4031" y="2724912"/>
            <a:ext cx="26151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教育型小型双足套件多在数千至万元级，一个班 20 台就是十万级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" y="3584448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4031" y="3584448"/>
            <a:ext cx="2615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算法散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" y="3840480"/>
            <a:ext cx="26151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人脸、循迹、抓取、步态散在四五套互不相通的工程里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" y="4700016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4031" y="4700016"/>
            <a:ext cx="2615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断网瘫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4031" y="4956048"/>
            <a:ext cx="26151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依赖云端推理的方案，赛场一断网就失效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8399" y="2048256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已经做出来的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08399" y="2322576"/>
            <a:ext cx="4160520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108399" y="2468880"/>
            <a:ext cx="19431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08399" y="2468880"/>
            <a:ext cx="41148" cy="157276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7855" y="2596896"/>
            <a:ext cx="15773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22</a:t>
            </a:r>
            <a:r>
              <a:rPr sz="15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 DOF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7855" y="3236976"/>
            <a:ext cx="15773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主动自由度：双腿 10 + 双臂 8 + 躯干 2 + 头部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5819" y="2468880"/>
            <a:ext cx="19431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5819" y="2468880"/>
            <a:ext cx="41148" cy="157276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5275" y="2596896"/>
            <a:ext cx="15773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133</a:t>
            </a:r>
            <a:r>
              <a:rPr sz="15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 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5275" y="3236976"/>
            <a:ext cx="15773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测试全通过 = 软件行为 51 + 设计模型与工程图 82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8399" y="4206240"/>
            <a:ext cx="19431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08399" y="4206240"/>
            <a:ext cx="41148" cy="157276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7855" y="4334255"/>
            <a:ext cx="15773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5/5</a:t>
            </a:r>
            <a:r>
              <a:rPr sz="15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7855" y="4974336"/>
            <a:ext cx="15773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五项任务无硬件闭环演示全部通过，可当场复现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5819" y="4206240"/>
            <a:ext cx="194310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25819" y="4206240"/>
            <a:ext cx="41148" cy="157276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5275" y="4334255"/>
            <a:ext cx="15773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¥2100</a:t>
            </a:r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 –2800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5275" y="4974336"/>
            <a:ext cx="15773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新增采购（全口径 ¥2788–3456；差额为借用主控与已有电池）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8103" y="2048256"/>
            <a:ext cx="2831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推进到哪一步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98103" y="2322576"/>
            <a:ext cx="2831897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598103" y="2468880"/>
            <a:ext cx="2831896" cy="105156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44407" y="2596896"/>
            <a:ext cx="7457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35847" y="2596896"/>
            <a:ext cx="599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0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4407" y="2907792"/>
            <a:ext cx="25392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软件栈 + 设计模型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4407" y="3145536"/>
            <a:ext cx="2539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133 项测试、5/5 闭环、22 关节设计模型与 4 张工程图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8103" y="3593592"/>
            <a:ext cx="2831896" cy="105156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44407" y="3721608"/>
            <a:ext cx="7457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35847" y="3721608"/>
            <a:ext cx="599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0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4407" y="4032504"/>
            <a:ext cx="25392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仿真验证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44407" y="4270248"/>
            <a:ext cx="2539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闭环控制律已跑出收敛序列与鲁棒性边界；Webots 22 DOF 运动学联调通过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8103" y="4718304"/>
            <a:ext cx="2831896" cy="105156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44407" y="4846320"/>
            <a:ext cx="7457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35847" y="4846320"/>
            <a:ext cx="599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44407" y="5157216"/>
            <a:ext cx="25392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实物样机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44407" y="5394960"/>
            <a:ext cx="2539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晋级后启动采购、3D 打印与装配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00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项目概要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项目概要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03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六章，从「为什么做」走到「谁来做、要多少钱」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每页只挂一个主状态标签；行内细则用小标。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139696"/>
            <a:ext cx="7223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695" y="2139696"/>
            <a:ext cx="41148" cy="56692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9439" y="2139696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2943" y="2139696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立项基础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615" y="2139696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为什么要在此时此地做这台机器人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6735" y="2139696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P04–P10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1695" y="2798064"/>
            <a:ext cx="7223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1695" y="2798064"/>
            <a:ext cx="41148" cy="56692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9439" y="2798064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2943" y="2798064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面向市场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0615" y="279806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卖给谁、市场多大、凭什么赢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6735" y="2798064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P11–P15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1695" y="3456432"/>
            <a:ext cx="7223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1695" y="3456432"/>
            <a:ext cx="41148" cy="56692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" y="3456432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2943" y="3456432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技术架构与实现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0615" y="3456432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怎么做的、技术硬在哪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6735" y="3456432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P16–P31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1695" y="4114800"/>
            <a:ext cx="7223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1695" y="4114800"/>
            <a:ext cx="41148" cy="56692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9439" y="4114800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2943" y="4114800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五项任务闭环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0615" y="4114800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五项赛题具体怎么跑通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6735" y="4114800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P32–P39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1695" y="4773168"/>
            <a:ext cx="7223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1695" y="4773168"/>
            <a:ext cx="41148" cy="56692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9439" y="4773168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2943" y="4773168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特色与创新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50615" y="4773168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我们独特在哪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96735" y="4773168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P40–P44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1695" y="5431536"/>
            <a:ext cx="7223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1695" y="5431536"/>
            <a:ext cx="41148" cy="56692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9439" y="5431536"/>
            <a:ext cx="548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2943" y="5431536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验证与推进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50615" y="5431536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做到哪步、谁在做、要多少钱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96735" y="5431536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P45–P51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20" y="2139696"/>
            <a:ext cx="3154680" cy="3749039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13064" y="2359152"/>
            <a:ext cx="26791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状态标注制度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513064" y="2651760"/>
            <a:ext cx="2679192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513064" y="2834640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 已完成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13064" y="3054096"/>
            <a:ext cx="267919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仓库里有代码、测试或工程图可查证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13064" y="3566160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 进行中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13064" y="3785616"/>
            <a:ext cx="267919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已启动、有中间产物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13064" y="4297680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 规划中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13064" y="4517136"/>
            <a:ext cx="267919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方案已定、尚未落地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13064" y="5029200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◇ 设计目标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13064" y="5248656"/>
            <a:ext cx="267919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有设计模型与图纸，无实物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3035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070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91055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2140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5176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82111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12463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4281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7316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3387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64223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94575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24927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8563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1598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4633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7668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0704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66774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19809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30352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60704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91055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21408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651760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182111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712463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242816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773168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303520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833872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364223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05840" y="210312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0" i="0">
                <a:solidFill>
                  <a:srgbClr val="1B3A5C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5" y="3584448"/>
            <a:ext cx="731520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3877056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为什么要在此时、此地，做一台桌面双足机器人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95604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立项基础 · P04–P10</a:t>
            </a:r>
          </a:p>
        </p:txBody>
      </p:sp>
      <p:sp>
        <p:nvSpPr>
          <p:cNvPr id="42" name="Oval 41"/>
          <p:cNvSpPr/>
          <p:nvPr/>
        </p:nvSpPr>
        <p:spPr>
          <a:xfrm>
            <a:off x="10835640" y="1417320"/>
            <a:ext cx="91440" cy="914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881360" y="14630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0835640" y="16002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881360" y="16459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835640" y="17830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881360" y="18288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835640" y="19659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0881360" y="20116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835640" y="21488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0881360" y="21945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0835640" y="23317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0881360" y="2377439"/>
            <a:ext cx="0" cy="137161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835640" y="25146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0881360" y="25603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0835640" y="26974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0881360" y="27432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0835640" y="28803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881360" y="29260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0835640" y="30632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881360" y="31089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835640" y="32461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0881360" y="3291839"/>
            <a:ext cx="0" cy="137161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0835640" y="34290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0881360" y="34747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0835640" y="36118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0881360" y="36576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0835640" y="37947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0881360" y="38404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0835640" y="39776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0881360" y="40233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10835640" y="41605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10881360" y="42062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0835640" y="43434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0881360" y="43891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0835640" y="45262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10881360" y="45720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10835640" y="47091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10881360" y="47548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0835640" y="48920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10881360" y="49377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0835640" y="50749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881360" y="51206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0835640" y="52578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立项基础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1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05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政策、区域、赛事三条线，在同一年交汇到同一个点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这三件事同时要求同一件东西：一台便宜、能拆开讲原理、能跑完整任务链的机器人。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2026.4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具身智能列入本科专业目录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761488"/>
            <a:ext cx="3373313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695" y="2761488"/>
            <a:ext cx="3373313" cy="4114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7727" y="3035808"/>
            <a:ext cx="28612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国家政策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7727" y="3401568"/>
            <a:ext cx="2861249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17727" y="3566160"/>
            <a:ext cx="286124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2026 年 4 月「具身智能」列入普通高等学校本科专业目录，西安交通大学为首批获批建设高校之一，同年秋季开始本科招生。新专业需要能成班开出的实验设备。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9328" y="2761488"/>
            <a:ext cx="3373313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9328" y="2761488"/>
            <a:ext cx="3373313" cy="4114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5360" y="3035808"/>
            <a:ext cx="28612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区域政策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65360" y="3401568"/>
            <a:ext cx="2861249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65360" y="3566160"/>
            <a:ext cx="286124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陕西省推进「人工智能+教育」行动计划，需要可落地的教学载体，而不只是课程与平台。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56961" y="2761488"/>
            <a:ext cx="3373313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56961" y="2761488"/>
            <a:ext cx="3373313" cy="4114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2993" y="3035808"/>
            <a:ext cx="28612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赛事规则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12993" y="3401568"/>
            <a:ext cx="2861249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12993" y="3566160"/>
            <a:ext cx="286124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人形机器人专项设小人形组，五项任务清单（人脸识别 / 二维码循迹 / 物品搬运 / 体育运动 / 娱乐休闲）本身就是一份可验收的教学大纲。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695" y="5468112"/>
            <a:ext cx="10668579" cy="42062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151" y="5468112"/>
            <a:ext cx="1022966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三条线指向同一个缺口——</a:t>
            </a:r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缺少一台「买得起、拆得开、跑得完」的桌面双足平台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立项基础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1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06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想开一门双足实验课，第一道坎不是教学法，是预算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价格门槛不降下来，「成班开课」这四个字就不成立。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¥2100–2800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新增采购 ／ 全口径 ¥2788–3456（一个班 20 台 ≈ 4.2–6.9 万）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8855" y="4663440"/>
            <a:ext cx="7651059" cy="0"/>
          </a:xfrm>
          <a:prstGeom prst="line">
            <a:avLst/>
          </a:prstGeom>
          <a:ln w="1270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98855" y="4663440"/>
            <a:ext cx="0" cy="54864"/>
          </a:xfrm>
          <a:prstGeom prst="line">
            <a:avLst/>
          </a:prstGeom>
          <a:ln w="1270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4535" y="47365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¥10^3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59278" y="4663440"/>
            <a:ext cx="0" cy="54864"/>
          </a:xfrm>
          <a:prstGeom prst="line">
            <a:avLst/>
          </a:prstGeom>
          <a:ln w="1270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84958" y="47365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¥10^4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19702" y="4663440"/>
            <a:ext cx="0" cy="54864"/>
          </a:xfrm>
          <a:prstGeom prst="line">
            <a:avLst/>
          </a:prstGeom>
          <a:ln w="1270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45382" y="47365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¥10^5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" y="261518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全尺寸人形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19472" y="2834640"/>
            <a:ext cx="2139144" cy="423671"/>
          </a:xfrm>
          <a:prstGeom prst="rect">
            <a:avLst/>
          </a:prstGeom>
          <a:solidFill>
            <a:srgbClr val="C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0056" y="2834640"/>
            <a:ext cx="899857" cy="423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一个班 20 台 = 百万级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" y="314858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教育型小型双足套件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37999" y="3368040"/>
            <a:ext cx="1163607" cy="423671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3047" y="3368040"/>
            <a:ext cx="4256867" cy="423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一个班 20 台 ≈ 十万级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" y="3681983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A.T.R.I. 方案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84982" y="3901440"/>
            <a:ext cx="382365" cy="423671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8788" y="3901440"/>
            <a:ext cx="6191126" cy="423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一个班 20 台 ≈ 4.2–5.6 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1695" y="4956048"/>
            <a:ext cx="10668579" cy="91440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1151" y="5084064"/>
            <a:ext cx="1022966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把单价压到两千元级（新增采购），是「能开课」与「只能演示」的分界线。</a:t>
            </a:r>
          </a:p>
          <a:p>
            <a:pPr algn="l">
              <a:spcBef>
                <a:spcPts val="6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口径：本方案为设计目标清单，BOM 逐项见 P49，尚未采购；竞品价格为公开产品页口径，非实测。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立项基础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1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07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五项任务、五套工程——学生学到的是五个互不相通的孤岛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现状不是「没有算法」，而是算法之间没有共同的骨架。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2048256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现状：五套工程各自为政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359152"/>
            <a:ext cx="914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" y="2359152"/>
            <a:ext cx="9144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独立工程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相机初始化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状态管理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主循环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8391" y="2359152"/>
            <a:ext cx="914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58391" y="2359152"/>
            <a:ext cx="9144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独立工程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相机初始化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状态管理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主循环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55087" y="2359152"/>
            <a:ext cx="914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5087" y="2359152"/>
            <a:ext cx="9144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独立工程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相机初始化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状态管理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主循环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51783" y="2359152"/>
            <a:ext cx="914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51783" y="2359152"/>
            <a:ext cx="9144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独立工程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相机初始化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状态管理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主循环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8479" y="2359152"/>
            <a:ext cx="914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48479" y="2359152"/>
            <a:ext cx="9144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独立工程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相机初始化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状态管理</a:t>
            </a:r>
          </a:p>
          <a:p>
            <a:pPr algn="ctr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主循环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6615" y="2834640"/>
            <a:ext cx="502920" cy="0"/>
          </a:xfrm>
          <a:prstGeom prst="line">
            <a:avLst/>
          </a:prstGeom>
          <a:ln w="20320">
            <a:solidFill>
              <a:srgbClr val="E45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22415" y="2048256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本方案：一个底座 + 五个插件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22415" y="2359152"/>
            <a:ext cx="914400" cy="457200"/>
          </a:xfrm>
          <a:prstGeom prst="rect">
            <a:avLst/>
          </a:prstGeom>
          <a:solidFill>
            <a:srgbClr val="E8F0F7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2415" y="235915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技能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19111" y="2359152"/>
            <a:ext cx="914400" cy="457200"/>
          </a:xfrm>
          <a:prstGeom prst="rect">
            <a:avLst/>
          </a:prstGeom>
          <a:solidFill>
            <a:srgbClr val="E8F0F7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9111" y="235915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技能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15807" y="2359152"/>
            <a:ext cx="914400" cy="457200"/>
          </a:xfrm>
          <a:prstGeom prst="rect">
            <a:avLst/>
          </a:prstGeom>
          <a:solidFill>
            <a:srgbClr val="E8F0F7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15807" y="235915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技能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12503" y="2359152"/>
            <a:ext cx="914400" cy="457200"/>
          </a:xfrm>
          <a:prstGeom prst="rect">
            <a:avLst/>
          </a:prstGeom>
          <a:solidFill>
            <a:srgbClr val="E8F0F7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2503" y="235915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技能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09199" y="2359152"/>
            <a:ext cx="914400" cy="457200"/>
          </a:xfrm>
          <a:prstGeom prst="rect">
            <a:avLst/>
          </a:prstGeom>
          <a:solidFill>
            <a:srgbClr val="E8F0F7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09199" y="235915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技能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22415" y="2944368"/>
            <a:ext cx="4937760" cy="38404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22415" y="2944368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JSON 任务卡  →  FSM 状态机  →  技能库</a:t>
            </a:r>
          </a:p>
        </p:txBody>
      </p:sp>
      <p:sp>
        <p:nvSpPr>
          <p:cNvPr id="35" name="Oval 34"/>
          <p:cNvSpPr/>
          <p:nvPr/>
        </p:nvSpPr>
        <p:spPr>
          <a:xfrm>
            <a:off x="761695" y="3753611"/>
            <a:ext cx="50292" cy="5029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4575" y="36850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换任务要改主程序　</a:t>
            </a: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实验之间无法对照</a:t>
            </a:r>
          </a:p>
        </p:txBody>
      </p:sp>
      <p:sp>
        <p:nvSpPr>
          <p:cNvPr id="37" name="Oval 36"/>
          <p:cNvSpPr/>
          <p:nvPr/>
        </p:nvSpPr>
        <p:spPr>
          <a:xfrm>
            <a:off x="761695" y="4229100"/>
            <a:ext cx="50292" cy="5029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4575" y="4160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无法评测系统能力　</a:t>
            </a: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只能评测某个脚本能不能跑</a:t>
            </a:r>
          </a:p>
        </p:txBody>
      </p:sp>
      <p:sp>
        <p:nvSpPr>
          <p:cNvPr id="39" name="Oval 38"/>
          <p:cNvSpPr/>
          <p:nvPr/>
        </p:nvSpPr>
        <p:spPr>
          <a:xfrm>
            <a:off x="761695" y="4704588"/>
            <a:ext cx="50292" cy="5029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4575" y="463600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学到一次性脚本　</a:t>
            </a: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不是可扩展的系统设计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639312"/>
            <a:ext cx="5120640" cy="164592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3803904"/>
            <a:ext cx="4681728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任务 = 一份 JSON 文件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能力 = 一个技能模块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调度 = 一个状态机</a:t>
            </a:r>
          </a:p>
          <a:p>
            <a:pPr algn="l">
              <a:spcBef>
                <a:spcPts val="1400"/>
              </a:spcBef>
            </a:pPr>
            <a:r>
              <a:rPr sz="9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底座已在仓库中实现并通过 133 项测试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立项基础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1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08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比赛现场拔掉网线的那一刻，很多方案就失效了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全离线不是技术炫技，是赛题要求下的工程必选项。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204825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云端推理链路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340864"/>
            <a:ext cx="191425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" y="2340864"/>
            <a:ext cx="180453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相机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21675" y="2578608"/>
            <a:ext cx="182880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50275" y="2340864"/>
            <a:ext cx="191425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5139" y="2340864"/>
            <a:ext cx="180453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上传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10254" y="2578608"/>
            <a:ext cx="182880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138854" y="2340864"/>
            <a:ext cx="191425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3718" y="2340864"/>
            <a:ext cx="180453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云推理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8834" y="2578608"/>
            <a:ext cx="182880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27434" y="2340864"/>
            <a:ext cx="191425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2298" y="2340864"/>
            <a:ext cx="180453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下发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87414" y="2578608"/>
            <a:ext cx="182880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516014" y="2340864"/>
            <a:ext cx="191425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0878" y="2340864"/>
            <a:ext cx="180453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" y="290779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✕ 网络抖动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9175" y="290779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✕ 限速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6655" y="290779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✕ 服务变更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4135" y="290779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✕ 数据外传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" y="327355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本方案：整条链路在一个盒子里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1695" y="3566160"/>
            <a:ext cx="1914259" cy="475488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" y="3566160"/>
            <a:ext cx="180453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相机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21675" y="3803904"/>
            <a:ext cx="182880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950275" y="3566160"/>
            <a:ext cx="1914259" cy="475488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05139" y="3566160"/>
            <a:ext cx="180453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板载推理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10254" y="3803904"/>
            <a:ext cx="182880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138854" y="3566160"/>
            <a:ext cx="1914259" cy="475488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93718" y="3566160"/>
            <a:ext cx="180453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FSM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098834" y="3803904"/>
            <a:ext cx="182880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327434" y="3566160"/>
            <a:ext cx="1914259" cy="475488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82298" y="3566160"/>
            <a:ext cx="180453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小脑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287414" y="3803904"/>
            <a:ext cx="182880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9516014" y="3566160"/>
            <a:ext cx="1914259" cy="475488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70878" y="3566160"/>
            <a:ext cx="180453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舵机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695" y="4133087"/>
            <a:ext cx="106685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全程 0 次网络出站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1695" y="4553712"/>
            <a:ext cx="10668579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9439" y="4736592"/>
            <a:ext cx="10193091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代价与边界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本地小模型的识别精度不如云端大模型。我们用固定光照 + 固定颜色目标先把稳定性做上去，再逐步扩展工况。教学场景对数据外传敏感，离线同时解决了这一层顾虑。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立项基础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1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09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小型双足机器人，如何在有限算力和断网条件下，用统一任务描述完成多任务自主执行？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这一句是后面所有技术工作的靶心。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322576"/>
            <a:ext cx="337331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695" y="2322576"/>
            <a:ext cx="3373313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7727" y="2615184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子问题一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7727" y="2889504"/>
            <a:ext cx="286124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怎么描述任务，才能让五项任务共用一套程序？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7727" y="4059936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见 P21–P23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9328" y="2322576"/>
            <a:ext cx="337331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9328" y="2322576"/>
            <a:ext cx="3373313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5360" y="2615184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子问题二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5360" y="2889504"/>
            <a:ext cx="286124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怎么在无 GPU 的板载算力上完成感知与决策？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5360" y="4059936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见 P26–P28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6961" y="2322576"/>
            <a:ext cx="3373313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56961" y="2322576"/>
            <a:ext cx="3373313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2993" y="2615184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子问题三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2993" y="2889504"/>
            <a:ext cx="286124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怎么让动作跟着视觉反馈走？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2993" y="4059936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见 P28、P37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" y="4937760"/>
            <a:ext cx="106685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全片「具身智能」一词出现不超过 3 次，每次紧跟一个具体机制。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立项基础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1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10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项目立项的四条硬标准，后面每一章都要对得上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这四条是我们给自己定的验收线，也是这份材料的组织逻辑。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231136"/>
            <a:ext cx="1066857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695" y="2231136"/>
            <a:ext cx="41148" cy="786384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015" y="2231136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8975" y="2231136"/>
            <a:ext cx="14630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合规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4895" y="2231136"/>
            <a:ext cx="60350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过得了检录：尺寸 / 关节 / 电压 / 传感器逐项核验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7234" y="2231136"/>
            <a:ext cx="12801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P18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1695" y="3054096"/>
            <a:ext cx="1066857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1695" y="3054096"/>
            <a:ext cx="41148" cy="786384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6015" y="3054096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8975" y="3054096"/>
            <a:ext cx="14630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能跑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895" y="3054096"/>
            <a:ext cx="60350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五项任务在同一台机器上闭环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7234" y="3054096"/>
            <a:ext cx="12801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P32–P39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1695" y="3877056"/>
            <a:ext cx="1066857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1695" y="3877056"/>
            <a:ext cx="41148" cy="786384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015" y="3877056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58975" y="3877056"/>
            <a:ext cx="14630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便宜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4895" y="3877056"/>
            <a:ext cx="60350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新增采购控制在两千元级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7234" y="3877056"/>
            <a:ext cx="12801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P49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1695" y="4700016"/>
            <a:ext cx="1066857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1695" y="4700016"/>
            <a:ext cx="41148" cy="786384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6015" y="4700016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58975" y="4700016"/>
            <a:ext cx="14630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可复现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4895" y="4700016"/>
            <a:ext cx="60350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设计、代码、仿真、日志在同一套仓库里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7234" y="4700016"/>
            <a:ext cx="12801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P48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695" y="5614416"/>
            <a:ext cx="106685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口径：四条为项目自设标准，不是官方评分维度；官方评分细则尚未发布。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3035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070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91055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2140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5176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82111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12463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4281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7316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3387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64223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94575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24927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8563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1598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4633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7668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0704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66774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19809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30352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60704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91055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21408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651760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182111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712463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242816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773168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303520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833872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364223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05840" y="210312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0" i="0">
                <a:solidFill>
                  <a:srgbClr val="1B3A5C"/>
                </a:solidFill>
                <a:latin typeface="Source Han Sans SC Heavy"/>
                <a:ea typeface="Source Han Sans SC Heavy"/>
                <a:cs typeface="Source Han Sans SC Heavy"/>
              </a:rPr>
              <a:t>02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5" y="3584448"/>
            <a:ext cx="731520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3877056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同样的预算，别人卖硬件，我们交付能完成任务的系统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95604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面向市场 · P11–P15</a:t>
            </a:r>
          </a:p>
        </p:txBody>
      </p:sp>
      <p:sp>
        <p:nvSpPr>
          <p:cNvPr id="42" name="Oval 41"/>
          <p:cNvSpPr/>
          <p:nvPr/>
        </p:nvSpPr>
        <p:spPr>
          <a:xfrm>
            <a:off x="10835640" y="1417320"/>
            <a:ext cx="91440" cy="914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881360" y="14630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0835640" y="16002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881360" y="16459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835640" y="17830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881360" y="18288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835640" y="19659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0881360" y="20116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835640" y="21488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0881360" y="21945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0835640" y="23317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0881360" y="2377439"/>
            <a:ext cx="0" cy="137161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835640" y="25146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0881360" y="25603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0835640" y="26974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0881360" y="27432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0835640" y="28803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881360" y="29260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0835640" y="30632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881360" y="31089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835640" y="32461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0881360" y="3291839"/>
            <a:ext cx="0" cy="137161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0835640" y="34290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0881360" y="34747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0835640" y="36118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0881360" y="36576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0835640" y="37947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0881360" y="38404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0835640" y="39776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0881360" y="40233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10835640" y="41605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10881360" y="42062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0835640" y="43434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0881360" y="43891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0835640" y="45262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10881360" y="45720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10835640" y="47091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10881360" y="47548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0835640" y="48920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10881360" y="49377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0835640" y="50749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881360" y="51206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0835640" y="52578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02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面向市场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2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12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三层真实需求，指向同一台机器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首先它是一台小型双足机器人，其次它统一执行五项任务，最后它才是教学平台。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194560"/>
            <a:ext cx="3373313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695" y="2194560"/>
            <a:ext cx="3373313" cy="4114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7727" y="2450592"/>
            <a:ext cx="28612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高校专业课教师与学生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7727" y="3054096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具身智能 / 自动化 / 机器人工程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7727" y="3364992"/>
            <a:ext cx="2861249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17727" y="3511296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7727" y="3749040"/>
            <a:ext cx="286124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低成本、可复现、能拆开讲原理的实验设备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7727" y="4443984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本项目的应答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7727" y="4681728"/>
            <a:ext cx="286124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22 个关节每个都能单独下发角度并回读，实验可切片到单关节级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9328" y="2194560"/>
            <a:ext cx="3373313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09328" y="2194560"/>
            <a:ext cx="3373313" cy="4114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5360" y="2450592"/>
            <a:ext cx="28612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人形机器人专项竞赛队伍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360" y="3054096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换场次不用重写代码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65360" y="3364992"/>
            <a:ext cx="2861249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65360" y="3511296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需求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5360" y="3749040"/>
            <a:ext cx="286124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覆盖五项任务的训练平台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5360" y="4443984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本项目的应答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5360" y="4681728"/>
            <a:ext cx="286124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任务卡换一个 JSON 文件就是一套新赛题配置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56961" y="2194560"/>
            <a:ext cx="3373313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56961" y="2194560"/>
            <a:ext cx="3373313" cy="41148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2993" y="2450592"/>
            <a:ext cx="286124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创新工坊与实验室二次开发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2993" y="3054096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接口清楚、能加自己的模块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12993" y="3364992"/>
            <a:ext cx="2861249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12993" y="3511296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需求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2993" y="3749040"/>
            <a:ext cx="286124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可扩展的开发底座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2993" y="4443984"/>
            <a:ext cx="286124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本项目的应答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2993" y="4681728"/>
            <a:ext cx="286124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技能库插件式注册，感知后端可替换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695" y="5577840"/>
            <a:ext cx="106685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口径：用户画像为设计阶段设定，尚未开展用户访谈；访谈计划在 P48 阶段二。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02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面向市场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2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13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不吹 TAM，只算一条能走通的路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下面是自下而上的模型与全部假设，参数欢迎质疑。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185416"/>
            <a:ext cx="6035040" cy="608075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999" y="2185416"/>
            <a:ext cx="5742431" cy="608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陕西省普通高校</a:t>
            </a: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　约 90 所（公开统计口径，待逐校核实）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65199" y="2939796"/>
            <a:ext cx="4828032" cy="608075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1503" y="2939796"/>
            <a:ext cx="4535424" cy="608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开设相关专业</a:t>
            </a: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　自动化 / 机器人工程 / 人工智能 ≈ 40 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8703" y="3694176"/>
            <a:ext cx="3621023" cy="608075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15007" y="3694176"/>
            <a:ext cx="3328415" cy="608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首批试点院校</a:t>
            </a: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　有具身智能实验室建设意向 5–8 所（估算，需调研验证）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1856" y="4448555"/>
            <a:ext cx="2534716" cy="608075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8160" y="4448555"/>
            <a:ext cx="2242108" cy="608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单校首批订单</a:t>
            </a: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　2–5 台 × ¥2100–2800 ≈ 0.42–1.40 万元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2139696"/>
            <a:ext cx="4251960" cy="301752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1" y="2359152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测算结果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1" y="2706624"/>
            <a:ext cx="3739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2.1–11.2</a:t>
            </a:r>
            <a:r>
              <a:rPr sz="13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万元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1" y="3273552"/>
            <a:ext cx="3739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首批试点院校合计可及规模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34071" y="3657600"/>
            <a:ext cx="3739896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34071" y="3803904"/>
            <a:ext cx="373989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先证明「第一批客户是谁、第一单怎么签」，</a:t>
            </a:r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而不是给一个撑不起来的 TAM。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1695" y="5340096"/>
            <a:ext cx="1066857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51" y="5340096"/>
            <a:ext cx="1022966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口径：</a:t>
            </a: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本页全部为设计阶段的估算模型，非已签约订单、非市场调研结论。标注「待核实」的参数需在阶段二通过走访补齐。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02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面向市场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2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14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两千元级 + 高开放度，这一格目前人不多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我们不是在做更便宜的同类产品，是在补一个没有被占据的位置。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10335" y="5266944"/>
            <a:ext cx="5760720" cy="0"/>
          </a:xfrm>
          <a:prstGeom prst="line">
            <a:avLst/>
          </a:prstGeom>
          <a:ln w="1270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10335" y="2468880"/>
            <a:ext cx="0" cy="2798064"/>
          </a:xfrm>
          <a:prstGeom prst="line">
            <a:avLst/>
          </a:prstGeom>
          <a:ln w="1270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93615" y="5358383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整机价格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8895" y="21945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软件开放度 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8623" y="4203679"/>
            <a:ext cx="1958644" cy="1007303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1775" y="4258543"/>
            <a:ext cx="19586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当前空白区</a:t>
            </a:r>
          </a:p>
        </p:txBody>
      </p:sp>
      <p:sp>
        <p:nvSpPr>
          <p:cNvPr id="16" name="Oval 15"/>
          <p:cNvSpPr/>
          <p:nvPr/>
        </p:nvSpPr>
        <p:spPr>
          <a:xfrm>
            <a:off x="6559905" y="3817620"/>
            <a:ext cx="100584" cy="10058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029" y="3767327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全尺寸人形</a:t>
            </a:r>
          </a:p>
        </p:txBody>
      </p:sp>
      <p:sp>
        <p:nvSpPr>
          <p:cNvPr id="18" name="Oval 17"/>
          <p:cNvSpPr/>
          <p:nvPr/>
        </p:nvSpPr>
        <p:spPr>
          <a:xfrm>
            <a:off x="4946904" y="4824923"/>
            <a:ext cx="100584" cy="10058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0027" y="4774631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教育型小型双足</a:t>
            </a:r>
          </a:p>
        </p:txBody>
      </p:sp>
      <p:sp>
        <p:nvSpPr>
          <p:cNvPr id="20" name="Oval 19"/>
          <p:cNvSpPr/>
          <p:nvPr/>
        </p:nvSpPr>
        <p:spPr>
          <a:xfrm>
            <a:off x="3909974" y="4377232"/>
            <a:ext cx="100584" cy="100584"/>
          </a:xfrm>
          <a:prstGeom prst="ellipse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994" y="432694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成品竞赛套件</a:t>
            </a:r>
          </a:p>
        </p:txBody>
      </p:sp>
      <p:sp>
        <p:nvSpPr>
          <p:cNvPr id="22" name="Oval 21"/>
          <p:cNvSpPr/>
          <p:nvPr/>
        </p:nvSpPr>
        <p:spPr>
          <a:xfrm>
            <a:off x="2527401" y="3034162"/>
            <a:ext cx="100584" cy="100584"/>
          </a:xfrm>
          <a:prstGeom prst="ellipse">
            <a:avLst/>
          </a:prstGeom>
          <a:solidFill>
            <a:srgbClr val="5B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87421" y="298387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自组 18DOF 套件</a:t>
            </a:r>
          </a:p>
        </p:txBody>
      </p:sp>
      <p:sp>
        <p:nvSpPr>
          <p:cNvPr id="24" name="Oval 23"/>
          <p:cNvSpPr/>
          <p:nvPr/>
        </p:nvSpPr>
        <p:spPr>
          <a:xfrm>
            <a:off x="1605686" y="3761658"/>
            <a:ext cx="100584" cy="100584"/>
          </a:xfrm>
          <a:prstGeom prst="ellipse">
            <a:avLst/>
          </a:prstGeom>
          <a:solidFill>
            <a:srgbClr val="8FB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65706" y="371136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二手整机 ¥1000–2500</a:t>
            </a:r>
          </a:p>
        </p:txBody>
      </p:sp>
      <p:sp>
        <p:nvSpPr>
          <p:cNvPr id="26" name="Oval 25"/>
          <p:cNvSpPr/>
          <p:nvPr/>
        </p:nvSpPr>
        <p:spPr>
          <a:xfrm>
            <a:off x="1836115" y="2754355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96135" y="2704063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A.T.R.I.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194560"/>
            <a:ext cx="384048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27264" y="2450592"/>
            <a:ext cx="3364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诚实的麻烦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27264" y="2834640"/>
            <a:ext cx="336499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自组 18DOF 套件（¥2800–3500）在价格与开放度上与我们处在同一区域。</a:t>
            </a:r>
          </a:p>
          <a:p>
            <a:pPr algn="l">
              <a:lnSpc>
                <a:spcPct val="145000"/>
              </a:lnSpc>
              <a:spcBef>
                <a:spcPts val="1200"/>
              </a:spcBef>
            </a:pPr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真正拉开距离的只有一项：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统一任务编排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对手需要逐任务写脚本；我们换一份 JSON。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" y="5541264"/>
            <a:ext cx="106685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口径：坐标为依公开产品资料的定性判断，非精确测评。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02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面向市场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2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15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能力逐条对比，差距写在表里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自评只区分「已验证 / 部分验证 / 未验证」，不给能力打分。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176272"/>
            <a:ext cx="10668579" cy="36576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" y="217627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4775" y="217627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价格带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7815" y="2176272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自由度合规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5135" y="217627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软件开放度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295" y="217627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统一任务编排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8375" y="2176272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断网运行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4255" y="217627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成熟度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" y="2542032"/>
            <a:ext cx="1508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全尺寸人形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4775" y="2542032"/>
            <a:ext cx="1280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数万–十余万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7815" y="2542032"/>
            <a:ext cx="12344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超尺寸上限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5135" y="2542032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295" y="2542032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需自建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8375" y="2542032"/>
            <a:ext cx="1143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一般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2542032"/>
            <a:ext cx="15544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已验证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1695" y="3054096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3135" y="3054096"/>
            <a:ext cx="1508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教育型小型双足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775" y="3054096"/>
            <a:ext cx="1280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数千–万元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7815" y="3054096"/>
            <a:ext cx="12344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部分低于 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5135" y="3054096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5295" y="3054096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8375" y="3054096"/>
            <a:ext cx="1143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部分依赖云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4255" y="3054096"/>
            <a:ext cx="15544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已验证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61695" y="3566160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3135" y="3566160"/>
            <a:ext cx="1508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成品竞赛套件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4775" y="3566160"/>
            <a:ext cx="1280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¥2800–6000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07815" y="3566160"/>
            <a:ext cx="12344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合规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25135" y="3566160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5295" y="356616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逐任务写脚本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8375" y="3566160"/>
            <a:ext cx="1143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一般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14255" y="3566160"/>
            <a:ext cx="15544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已验证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61695" y="4078224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3135" y="4078224"/>
            <a:ext cx="1508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A.T.R.I.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4775" y="4078224"/>
            <a:ext cx="1280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¥2100–2800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07815" y="4078224"/>
            <a:ext cx="12344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22 DOF 合规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25135" y="4078224"/>
            <a:ext cx="1097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5295" y="407822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有（统一 FSM）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8375" y="4078224"/>
            <a:ext cx="1143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全离线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4255" y="4078224"/>
            <a:ext cx="15544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部分验证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61695" y="4590288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761695" y="4078224"/>
            <a:ext cx="10668579" cy="512064"/>
          </a:xfrm>
          <a:prstGeom prst="rect">
            <a:avLst/>
          </a:prstGeom>
          <a:noFill/>
          <a:ln w="1905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1695" y="4526280"/>
            <a:ext cx="5166360" cy="118872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1151" y="4690872"/>
            <a:ext cx="4727448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差距说明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对手在「开箱即用、结构成熟度」上是已验证的；我们的软件侧部分验证，硬件侧完全未验证。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72784" y="4526280"/>
            <a:ext cx="5157216" cy="11887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4690872"/>
            <a:ext cx="471830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CC0DC"/>
                </a:solidFill>
                <a:latin typeface="Source Han Sans SC Heavy"/>
                <a:ea typeface="Source Han Sans SC Heavy"/>
                <a:cs typeface="Source Han Sans SC Heavy"/>
              </a:rPr>
              <a:t>差异化一句话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b="0" i="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交付的不是一台机器人，是一条从「任务怎么描述」到「关节怎么动」的链路。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3035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070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91055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2140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5176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82111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12463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4281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7316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3387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64223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94575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24927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8563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1598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4633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7668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0704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66774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19809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30352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60704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91055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21408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651760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182111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712463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242816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773168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303520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833872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364223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05840" y="210312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0" i="0">
                <a:solidFill>
                  <a:srgbClr val="1B3A5C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5" y="3584448"/>
            <a:ext cx="731520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3877056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从相机出帧到关节到位，中间发生了什么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95604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技术架构与实现 · P16–P31</a:t>
            </a:r>
          </a:p>
        </p:txBody>
      </p:sp>
      <p:sp>
        <p:nvSpPr>
          <p:cNvPr id="42" name="Oval 41"/>
          <p:cNvSpPr/>
          <p:nvPr/>
        </p:nvSpPr>
        <p:spPr>
          <a:xfrm>
            <a:off x="10835640" y="1417320"/>
            <a:ext cx="91440" cy="914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881360" y="14630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0835640" y="16002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881360" y="16459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835640" y="17830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881360" y="18288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835640" y="19659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0881360" y="20116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835640" y="21488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0881360" y="21945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0835640" y="23317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0881360" y="2377439"/>
            <a:ext cx="0" cy="137161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835640" y="25146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0881360" y="25603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0835640" y="26974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0881360" y="27432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0835640" y="28803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881360" y="29260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0835640" y="30632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881360" y="31089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835640" y="32461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0881360" y="3291839"/>
            <a:ext cx="0" cy="137161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0835640" y="34290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0881360" y="34747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0835640" y="36118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0881360" y="36576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0835640" y="37947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0881360" y="38404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0835640" y="39776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0881360" y="40233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10835640" y="41605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10881360" y="42062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0835640" y="43434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0881360" y="43891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0835640" y="45262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10881360" y="45720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10835640" y="47091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10881360" y="47548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0835640" y="48920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10881360" y="49377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0835640" y="50749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881360" y="51206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0835640" y="52578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17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五层架构，一次任务走 8 步，两条边界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上层不关心关节怎么转，下层不关心任务是什么，两层之间只传一份 JSON 协议。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8 步</a:t>
            </a:r>
            <a:r>
              <a:rPr sz="13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全程 0 次网络出站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505456"/>
            <a:ext cx="1097280" cy="493776"/>
          </a:xfrm>
          <a:prstGeom prst="rect">
            <a:avLst/>
          </a:prstGeom>
          <a:solidFill>
            <a:srgbClr val="5B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" y="2505456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任务层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47672" y="2505456"/>
            <a:ext cx="73609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9112" y="2578608"/>
            <a:ext cx="137708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1" y="2578608"/>
            <a:ext cx="128564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人脸识别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89350" y="2578608"/>
            <a:ext cx="137708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5070" y="2578608"/>
            <a:ext cx="128564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二维码循迹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9588" y="2578608"/>
            <a:ext cx="137708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5308" y="2578608"/>
            <a:ext cx="128564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物品搬运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9827" y="2578608"/>
            <a:ext cx="137708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5547" y="2578608"/>
            <a:ext cx="128564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体育运动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40065" y="2578608"/>
            <a:ext cx="137708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5785" y="2578608"/>
            <a:ext cx="128564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娱乐交互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64040" y="2505456"/>
            <a:ext cx="0" cy="493776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64040" y="2505456"/>
            <a:ext cx="128016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2999232"/>
            <a:ext cx="128016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701784" y="2505456"/>
            <a:ext cx="172821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赛题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五项任务清单</a:t>
            </a:r>
          </a:p>
          <a:p>
            <a:pPr algn="l">
              <a:spcBef>
                <a:spcPts val="300"/>
              </a:spcBef>
            </a:pPr>
            <a:r>
              <a:rPr sz="8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 已完成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1695" y="3081528"/>
            <a:ext cx="1097280" cy="493776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1695" y="3081528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编排层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3081528"/>
            <a:ext cx="7360920" cy="493776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39112" y="3154680"/>
            <a:ext cx="161620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84831" y="3154680"/>
            <a:ext cx="152476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JSON 任务卡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91889" y="3328416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893058" y="3154680"/>
            <a:ext cx="161620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8778" y="3154680"/>
            <a:ext cx="152476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任务调度器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545836" y="3328416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747004" y="3154680"/>
            <a:ext cx="161620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92724" y="3154680"/>
            <a:ext cx="152476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有限状态机 FSM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99781" y="3328416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600950" y="3154680"/>
            <a:ext cx="161620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46670" y="3154680"/>
            <a:ext cx="152476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技能库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1695" y="3657600"/>
            <a:ext cx="1097280" cy="493776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1695" y="3657600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感知交互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47672" y="3657600"/>
            <a:ext cx="7360920" cy="493776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39112" y="3730752"/>
            <a:ext cx="1554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84831" y="3730752"/>
            <a:ext cx="14630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单目相机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630168" y="3904487"/>
            <a:ext cx="164591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831335" y="3730752"/>
            <a:ext cx="1554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77055" y="3730752"/>
            <a:ext cx="14630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视觉检测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3730752"/>
            <a:ext cx="1554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3730752"/>
            <a:ext cx="14630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麦克风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717536" y="3904487"/>
            <a:ext cx="164591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7918704" y="3730752"/>
            <a:ext cx="1554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4" y="3730752"/>
            <a:ext cx="14630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离线语音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1695" y="4233672"/>
            <a:ext cx="1097280" cy="493776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1695" y="4233672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控制层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4233672"/>
            <a:ext cx="7360920" cy="493776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039112" y="4306824"/>
            <a:ext cx="172593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84831" y="4306824"/>
            <a:ext cx="163449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步态生成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56482" y="4306824"/>
            <a:ext cx="172593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02202" y="4306824"/>
            <a:ext cx="163449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动作库回放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73852" y="4306824"/>
            <a:ext cx="172593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19572" y="4306824"/>
            <a:ext cx="163449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视觉伺服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91222" y="4306824"/>
            <a:ext cx="172593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36942" y="4306824"/>
            <a:ext cx="163449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姿态闭环·失稳保护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464040" y="3081528"/>
            <a:ext cx="0" cy="1069848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464040" y="3081528"/>
            <a:ext cx="128016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464040" y="4151376"/>
            <a:ext cx="128016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9701784" y="3081528"/>
            <a:ext cx="1728215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大脑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边缘计算板 · Linux</a:t>
            </a:r>
          </a:p>
          <a:p>
            <a:pPr algn="l">
              <a:spcBef>
                <a:spcPts val="300"/>
              </a:spcBef>
            </a:pPr>
            <a:r>
              <a:rPr sz="8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 已完成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464040" y="4233672"/>
            <a:ext cx="0" cy="493776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464040" y="4233672"/>
            <a:ext cx="128016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464040" y="4727448"/>
            <a:ext cx="128016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9701784" y="4233672"/>
            <a:ext cx="172821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小脑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STM32 + 6 轴 IMU</a:t>
            </a:r>
          </a:p>
          <a:p>
            <a:pPr algn="l">
              <a:spcBef>
                <a:spcPts val="300"/>
              </a:spcBef>
            </a:pPr>
            <a:r>
              <a:rPr sz="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 进行中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1695" y="4809744"/>
            <a:ext cx="1097280" cy="493776"/>
          </a:xfrm>
          <a:prstGeom prst="rect">
            <a:avLst/>
          </a:prstGeom>
          <a:solidFill>
            <a:srgbClr val="5B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1695" y="4809744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执行层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47672" y="4809744"/>
            <a:ext cx="73609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039112" y="4882896"/>
            <a:ext cx="7178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84831" y="4882896"/>
            <a:ext cx="7086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"/>
                <a:ea typeface="Source Han Sans SC"/>
                <a:cs typeface="Source Han Sans SC"/>
              </a:rPr>
              <a:t>串行总线　→　22 路总线舵机（双腿 10 · 双臂 8 · 躯干 2 · 头部 2）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464040" y="4809744"/>
            <a:ext cx="0" cy="493776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464040" y="4809744"/>
            <a:ext cx="128016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464040" y="5303520"/>
            <a:ext cx="128016" cy="0"/>
          </a:xfrm>
          <a:prstGeom prst="line">
            <a:avLst/>
          </a:prstGeom>
          <a:ln w="1905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9701784" y="4809744"/>
            <a:ext cx="172821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执行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22 路串行总线</a:t>
            </a:r>
          </a:p>
          <a:p>
            <a:pPr algn="l">
              <a:spcBef>
                <a:spcPts val="300"/>
              </a:spcBef>
            </a:pPr>
            <a:r>
              <a:rPr sz="80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 规划中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1695" y="5413248"/>
            <a:ext cx="10668579" cy="6400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2863" y="5449824"/>
            <a:ext cx="102662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一次任务的 8 步通路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2863" y="5632704"/>
            <a:ext cx="10638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相机出帧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08399" y="5632704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46143" y="5632704"/>
            <a:ext cx="10638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感知推理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91679" y="5632704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29423" y="5632704"/>
            <a:ext cx="10638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任务卡匹配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4960" y="5632704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12704" y="5632704"/>
            <a:ext cx="10638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FSM 流转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58240" y="5632704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95984" y="5632704"/>
            <a:ext cx="10638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技能执行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41521" y="5632704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79265" y="5632704"/>
            <a:ext cx="10638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小脑解算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24801" y="5632704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62545" y="5632704"/>
            <a:ext cx="10638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总线下发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708081" y="5632704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945825" y="5632704"/>
            <a:ext cx="10638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IMU 反馈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62863" y="5870448"/>
            <a:ext cx="102662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注：第 1 步（取帧）与第 6–8 步当前尚无对应代码，为设计路径；第 2–5 步已实现。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364687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456127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18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赛题约束基本合规；真正的风险在质量与力矩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尺寸与电气逐条过检；但整机质量超出原设计预算 37%，腿部关节力矩已越过所选舵机的额定值。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115%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腿部关节力矩 ／ STS3215 额定值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32304"/>
            <a:ext cx="10668579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" y="243230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约束项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3335" y="2432304"/>
            <a:ext cx="29260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大赛要求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2295" y="2432304"/>
            <a:ext cx="35661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本项目设计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1335" y="2432304"/>
            <a:ext cx="20299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余量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" y="267004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高度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3335" y="2670048"/>
            <a:ext cx="29260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≤ 60 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2295" y="2670048"/>
            <a:ext cx="35661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47.5 cm（关节链几何累加）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1335" y="2670048"/>
            <a:ext cx="20299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+12.5 cm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1695" y="2907791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3135" y="2907791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体宽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3335" y="2907791"/>
            <a:ext cx="29260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≤ 30 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2295" y="2907791"/>
            <a:ext cx="35661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19.0 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1335" y="2907791"/>
            <a:ext cx="20299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+11.0 cm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1695" y="3145535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3135" y="3145535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深度（自设参考）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3335" y="3145535"/>
            <a:ext cx="29260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官方未列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2295" y="3145535"/>
            <a:ext cx="35661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12.3 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1335" y="3145535"/>
            <a:ext cx="20299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—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1695" y="3383279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3135" y="3383279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臂长（单侧）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3335" y="3383279"/>
            <a:ext cx="29260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≤ 30 cm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2295" y="3383279"/>
            <a:ext cx="35661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12.25 cm（肩关节→夹爪末端直线距离）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11335" y="3383279"/>
            <a:ext cx="20299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+17.75 cm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61695" y="3621023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3135" y="3621023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关节数量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53335" y="3621023"/>
            <a:ext cx="29260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总数 ≥18 / 每腿 ≥4 / 上肢+躯干 ≥10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62295" y="3621023"/>
            <a:ext cx="35661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22 = 10 + 8 + 2 + 2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1335" y="3621023"/>
            <a:ext cx="20299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上肢躯干 10 = 10，无余量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61695" y="3858767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53135" y="3858767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传感配置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53335" y="3858767"/>
            <a:ext cx="29260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IMU + 摄像头 + 麦克风 + 扬声器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62295" y="3858767"/>
            <a:ext cx="35661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6 轴 IMU + 单目广角 + 环形麦 + 扬声器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11335" y="3858767"/>
            <a:ext cx="20299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满足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1695" y="4096511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53135" y="4096511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供电电压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53335" y="4096511"/>
            <a:ext cx="29260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锂电池、≥ 7.4 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62295" y="4096511"/>
            <a:ext cx="35661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11.1 V 3S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11335" y="4096511"/>
            <a:ext cx="20299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+3.7 V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61695" y="4334255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53135" y="4334255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场地适配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53335" y="4334255"/>
            <a:ext cx="29260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2400×2400 mm，含 5 个任务区域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62295" y="4334255"/>
            <a:ext cx="35661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任务卡按区域编号切换技能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11335" y="4334255"/>
            <a:ext cx="20299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满足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61695" y="4571999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53135" y="4571999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整机质量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53335" y="4571999"/>
            <a:ext cx="29260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官方未设上限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62295" y="4571999"/>
            <a:ext cx="35661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2263 g（结构 552 + 舵机 1210 + 电子件 351 + 线束紧固件 150）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11335" y="4571999"/>
            <a:ext cx="20299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超原设计预算 1650 g 的 37.2%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61695" y="4809743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53135" y="4809743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腿部关节力矩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53335" y="4809743"/>
            <a:ext cx="29260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官方未设上限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62295" y="4809743"/>
            <a:ext cx="35661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1.152 N·m（真实总重等比放大 ×1.372）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11335" y="4809743"/>
            <a:ext cx="20299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占 STS3215 额定 1.0 N·m 的 115%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61695" y="5047487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761695" y="5175503"/>
            <a:ext cx="10668579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1151" y="5248655"/>
            <a:ext cx="1022966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两处必须讲清楚：</a:t>
            </a:r>
          </a:p>
          <a:p>
            <a:pPr algn="l">
              <a:lnSpc>
                <a:spcPct val="128000"/>
              </a:lnSpc>
              <a:spcBef>
                <a:spcPts val="300"/>
              </a:spcBef>
            </a:pPr>
            <a:r>
              <a:rPr sz="9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① 合规口径——</a:t>
            </a: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官方若</a:t>
            </a:r>
            <a:r>
              <a:rPr sz="9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不把夹爪计入「上肢关节」</a:t>
            </a: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，则上肢 + 躯干 = 3×2 + 2 = 8 &lt; 10，直接不合格。我们的设计把夹爪（编号 17/21）计入上肢，此口径需向组委会书面确认。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② 力矩余量——</a:t>
            </a: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按真实总重放大后腿部需要 1.152 N·m，已越过 STS3215 额定 1.0 N·m。三条出路见 P49，结论是「余量已耗尽，必须实测」。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529791" y="6016752"/>
            <a:ext cx="90449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21231" y="6016752"/>
            <a:ext cx="7581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◇</a:t>
            </a:r>
            <a:r>
              <a:rPr sz="10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 设计目标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19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22 个关节，编号、限位、轴向、设计扭矩全部同源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结构图由设计模型投影生成；右侧明细表逐行取自同一份模型。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1_关节编号图-视图区.png"/>
          <p:cNvPicPr>
            <a:picLocks noChangeAspect="1"/>
          </p:cNvPicPr>
          <p:nvPr/>
        </p:nvPicPr>
        <p:blipFill>
          <a:blip r:embed="rId2"/>
          <a:srcRect t="5372" b="5372"/>
          <a:stretch>
            <a:fillRect/>
          </a:stretch>
        </p:blipFill>
        <p:spPr>
          <a:xfrm>
            <a:off x="761695" y="2048256"/>
            <a:ext cx="4160520" cy="2907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1695" y="5029200"/>
            <a:ext cx="4160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22 关节编号图</a:t>
            </a: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　图号 ATRI-DWG-001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7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原图合规框未含臂长，本页不引用其结论（合规见 P18）。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048256"/>
            <a:ext cx="6309360" cy="25603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2048256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7" y="2048256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关节名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5" y="2048256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限位（deg）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6063" y="2048256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轴向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77855" y="2048256"/>
            <a:ext cx="10607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设计扭矩 N·m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2304288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7" y="2304288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head_yaw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5" y="2304288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−90 ~ +90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3" y="2304288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7855" y="2304288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1.0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20640" y="2446020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12079" y="2446020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7" y="2446020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head_pitch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5" y="2446020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−45 ~ +45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6063" y="2446020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7855" y="2446020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1.0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20640" y="2587752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212079" y="2587752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87567" y="2587752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trunk_roll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5" y="2587752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−10 ~ +10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3" y="2587752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77855" y="2587752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2.0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120640" y="2729484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212079" y="2729484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87567" y="2729484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trunk_pitch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5" y="2729484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−15 ~ +15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6063" y="2729484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77855" y="2729484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2.0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120640" y="2871215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212079" y="2871215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7" y="2871215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left_hip_yaw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3295" y="2871215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−45 ~ +45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56063" y="2871215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77855" y="2871215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2.5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120640" y="3012947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212079" y="3012947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87567" y="3012947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left_hip_roll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83295" y="3012947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−25 ~ +25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56063" y="3012947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77855" y="3012947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2.5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120640" y="3154679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212079" y="3154679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87567" y="3154679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left_hip_pitch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83295" y="3154679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−60 ~ +60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56063" y="3154679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5" y="3154679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3.0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120640" y="3296411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212079" y="3296411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87567" y="3296411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left_knee_pitch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83295" y="3296411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 ~ +90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56063" y="3296411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77855" y="3296411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3.0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120640" y="3438143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212079" y="3438143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87567" y="3438143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left_ankle_pitch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83295" y="3438143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−40 ~ +40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56063" y="3438143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77855" y="3438143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2.0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120640" y="3579875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212079" y="3579875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87567" y="3579875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right_hip_yaw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83295" y="3579875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−45 ~ +45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56063" y="3579875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Z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77855" y="3579875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2.5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120640" y="3721607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212079" y="3721607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87567" y="3721607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right_hip_roll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83295" y="3721607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−25 ~ +25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56063" y="3721607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77855" y="3721607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2.5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5120640" y="3863339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212079" y="3863339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87567" y="3863339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right_hip_pitch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83295" y="3863339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−60 ~ +60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56063" y="3863339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77855" y="3863339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3.0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120640" y="4005071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212079" y="4005071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87567" y="4005071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right_knee_pitch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83295" y="4005071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 ~ +90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56063" y="4005071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77855" y="4005071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3.0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5120640" y="4146803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212079" y="4146803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87567" y="4146803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right_ankle_pitch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83295" y="4146803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−40 ~ +40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56063" y="4146803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77855" y="4146803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2.0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120640" y="4288536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5212079" y="4288536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87567" y="4288536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left_shoulder_pitch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83295" y="4288536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−90 ~ +90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56063" y="4288536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77855" y="4288536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1.5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5120640" y="4430268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5212079" y="4430268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87567" y="4430268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left_shoulder_roll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83295" y="4430268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−90 ~ +90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656063" y="4430268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X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277855" y="4430268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1.5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5120640" y="4572000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5212079" y="4572000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687567" y="4572000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left_elbow_pitch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83295" y="4572000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−120 ~ 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656063" y="4572000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277855" y="4572000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1.0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5120640" y="4713732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5212079" y="4713732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687567" y="4713732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left_gripper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83295" y="4713732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 ~ +60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56063" y="4713732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277855" y="4713732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0.4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5120640" y="4855464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5212079" y="4855464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687567" y="4855464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right_shoulder_pitch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083295" y="4855464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−90 ~ +90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656063" y="4855464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77855" y="4855464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1.5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5120640" y="4997196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5212079" y="4997196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687567" y="4997196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right_shoulder_roll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83295" y="4997196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−90 ~ +90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656063" y="4997196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X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277855" y="4997196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1.5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5120640" y="5138928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5212079" y="5138928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87567" y="5138928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right_elbow_pitch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083295" y="5138928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−120 ~ 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656063" y="5138928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77855" y="5138928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1.0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5120640" y="5280660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5212079" y="5280660"/>
            <a:ext cx="29260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687567" y="5280660"/>
            <a:ext cx="221284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right_gripper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083295" y="5280660"/>
            <a:ext cx="1389888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 ~ +60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656063" y="5280660"/>
            <a:ext cx="438912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Y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77855" y="5280660"/>
            <a:ext cx="1060704" cy="141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0.4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5120640" y="5422392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761695" y="5449824"/>
            <a:ext cx="106685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代码里有三条断言强制校验：len(JOINTS) == 22 ｜ 关节 id 必须是 0..21 ｜ 分组自由度之和必须等于 22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61695" y="5650992"/>
            <a:ext cx="106685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口径：限位与轴向取自 design/robot_model.json（config.py::JOINTS 只有 id/group/limit/rest，无轴向）；「设计扭矩」为模型标称值；按真实总重核算后腿部关节需求 1.152 N·m 已越过所选舵机额定 1.0 N·m，详见 P18 与 P49。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20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少掉的每一个自由度，都是一个主动的工程取舍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这三条取舍的结果，就是 47.5 cm 这组规格。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−2 个关节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踝 1 DOF、无独立腕关节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68880"/>
            <a:ext cx="3373313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695" y="2468880"/>
            <a:ext cx="3373313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439" y="2706624"/>
            <a:ext cx="28978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踝关节只保留 1 个（俯仰）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9439" y="3310128"/>
            <a:ext cx="2897825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99439" y="3456432"/>
            <a:ext cx="289782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9439" y="3675888"/>
            <a:ext cx="289782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省下重量、成本与结构复杂度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9439" y="4425696"/>
            <a:ext cx="289782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代价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9439" y="4645152"/>
            <a:ext cx="289782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侧向扰动容忍度下降。当前步态生成器里没有髋 roll 参与补偿，横向稳定依赖宽足距与实机整定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9328" y="2468880"/>
            <a:ext cx="3373313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09328" y="2468880"/>
            <a:ext cx="3373313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7072" y="2706624"/>
            <a:ext cx="28978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末端不设独立腕关节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47072" y="3310128"/>
            <a:ext cx="2897825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47072" y="3456432"/>
            <a:ext cx="289782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收益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7072" y="3675888"/>
            <a:ext cx="289782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减少 2 个关节，单侧臂长压到 12.25 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7072" y="4425696"/>
            <a:ext cx="289782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代价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7072" y="4645152"/>
            <a:ext cx="289782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抓取姿态受限，只能做「正对目标」的抓取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7072" y="5394960"/>
            <a:ext cx="289782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目标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7072" y="5614416"/>
            <a:ext cx="289782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只做桌面轻物抓取（≤100 g）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56961" y="2468880"/>
            <a:ext cx="3373313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56961" y="2468880"/>
            <a:ext cx="3373313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4705" y="2706624"/>
            <a:ext cx="289782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躯干保留 2 个自由度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94705" y="3310128"/>
            <a:ext cx="2897825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94705" y="3456432"/>
            <a:ext cx="289782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收益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4705" y="3675888"/>
            <a:ext cx="289782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给重心补偿留余量，行程 ±10° / ±15° 是微调量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4705" y="4425696"/>
            <a:ext cx="289782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风险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4705" y="4645152"/>
            <a:ext cx="289782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上肢 + 躯干 = 10 正好压线，口径需组委会确认（见 P18）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29791" y="6016752"/>
            <a:ext cx="90449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21231" y="6016752"/>
            <a:ext cx="75819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◇</a:t>
            </a:r>
            <a:r>
              <a:rPr sz="105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 设计目标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21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一个任务六个状态，非法跳转直接报错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状态机保证任务不会走到一半状态不明。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6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个状态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747772"/>
            <a:ext cx="1958151" cy="566928"/>
          </a:xfrm>
          <a:prstGeom prst="rect">
            <a:avLst/>
          </a:prstGeom>
          <a:solidFill>
            <a:srgbClr val="E8F0F7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" y="2747772"/>
            <a:ext cx="18849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STANDBY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待机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7278" y="3031236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39302" y="2747772"/>
            <a:ext cx="1958151" cy="566928"/>
          </a:xfrm>
          <a:prstGeom prst="rect">
            <a:avLst/>
          </a:prstGeom>
          <a:solidFill>
            <a:srgbClr val="E8F0F7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5878" y="2747772"/>
            <a:ext cx="18849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ENTERING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任务进入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24885" y="3031236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116909" y="2747772"/>
            <a:ext cx="1958151" cy="566928"/>
          </a:xfrm>
          <a:prstGeom prst="rect">
            <a:avLst/>
          </a:prstGeom>
          <a:solidFill>
            <a:srgbClr val="E8F0F7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3485" y="2747772"/>
            <a:ext cx="18849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EXECUTING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技能执行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02492" y="3031236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294516" y="2747772"/>
            <a:ext cx="1958151" cy="566928"/>
          </a:xfrm>
          <a:prstGeom prst="rect">
            <a:avLst/>
          </a:prstGeom>
          <a:solidFill>
            <a:srgbClr val="E8F0F7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1092" y="2747772"/>
            <a:ext cx="18849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FEEDBACK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结果反馈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80099" y="3031236"/>
            <a:ext cx="164592" cy="0"/>
          </a:xfrm>
          <a:prstGeom prst="line">
            <a:avLst/>
          </a:prstGeom>
          <a:ln w="12700">
            <a:solidFill>
              <a:srgbClr val="1264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472123" y="2747772"/>
            <a:ext cx="19581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2E9E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8699" y="2747772"/>
            <a:ext cx="18849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DONE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完成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554" y="3625596"/>
            <a:ext cx="1188720" cy="329184"/>
          </a:xfrm>
          <a:prstGeom prst="rect">
            <a:avLst/>
          </a:prstGeom>
          <a:noFill/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554" y="3625596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ERROR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18377" y="3314700"/>
            <a:ext cx="0" cy="475488"/>
          </a:xfrm>
          <a:prstGeom prst="line">
            <a:avLst/>
          </a:prstGeom>
          <a:ln w="9525">
            <a:solidFill>
              <a:srgbClr val="E45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5984" y="3314700"/>
            <a:ext cx="0" cy="475488"/>
          </a:xfrm>
          <a:prstGeom prst="line">
            <a:avLst/>
          </a:prstGeom>
          <a:ln w="9525">
            <a:solidFill>
              <a:srgbClr val="E45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73591" y="3314700"/>
            <a:ext cx="0" cy="475488"/>
          </a:xfrm>
          <a:prstGeom prst="line">
            <a:avLst/>
          </a:prstGeom>
          <a:ln w="9525">
            <a:solidFill>
              <a:srgbClr val="E45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73591" y="3790188"/>
            <a:ext cx="1967963" cy="0"/>
          </a:xfrm>
          <a:prstGeom prst="line">
            <a:avLst/>
          </a:prstGeom>
          <a:ln w="9525">
            <a:solidFill>
              <a:srgbClr val="E45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1695" y="3625596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任一环节异常 → ERROR（保留完整状态历史）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1695" y="4261104"/>
            <a:ext cx="5989320" cy="144018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695" y="4261104"/>
            <a:ext cx="32004" cy="1440180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287" y="4389120"/>
            <a:ext cx="5715000" cy="1184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69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_TRANSITIONS = {</a:t>
            </a:r>
          </a:p>
          <a:p>
            <a:pPr algn="l">
              <a:lnSpc>
                <a:spcPct val="102069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FSMState.STANDBY:   {FSMState.ENTERING},</a:t>
            </a:r>
          </a:p>
          <a:p>
            <a:pPr algn="l">
              <a:lnSpc>
                <a:spcPct val="102069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FSMState.ENTERING:  {FSMState.EXECUTING, FSMState.ERROR},</a:t>
            </a:r>
          </a:p>
          <a:p>
            <a:pPr algn="l">
              <a:lnSpc>
                <a:spcPct val="102069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FSMState.EXECUTING: {FSMState.FEEDBACK,  FSMState.ERROR},</a:t>
            </a:r>
          </a:p>
          <a:p>
            <a:pPr algn="l">
              <a:lnSpc>
                <a:spcPct val="102069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FSMState.FEEDBACK:  {FSMState.DONE,      FSMState.ERROR},</a:t>
            </a:r>
          </a:p>
          <a:p>
            <a:pPr algn="l">
              <a:lnSpc>
                <a:spcPct val="102069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FSMState.DONE: set(), FSMState.ERROR: set(),</a:t>
            </a:r>
          </a:p>
          <a:p>
            <a:pPr algn="l">
              <a:lnSpc>
                <a:spcPct val="102069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4261104"/>
            <a:ext cx="4343400" cy="14401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24344" y="4443984"/>
            <a:ext cx="3867912" cy="1074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设计要点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异常收敛到 ERROR，并保留完整 history——走过的每一个状态都记录在案，便于复盘。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非法跳转（例如 STANDBY 直接到 DONE）会抛 FSMError，不允许静默通过。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22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换一项任务，换一个 JSON 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任务变成数据，调度交给引擎。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5 张任务卡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每张 5 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68880"/>
            <a:ext cx="10668579" cy="150418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695" y="2468880"/>
            <a:ext cx="32004" cy="1504188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287" y="2596896"/>
            <a:ext cx="10394259" cy="1248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915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T-01 人脸识别    {"skills":["face"],  "params":{"face_db":"config/face_db.json",</a:t>
            </a:r>
          </a:p>
          <a:p>
            <a:pPr algn="l">
              <a:lnSpc>
                <a:spcPct val="113915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              "expect_names":["测试员A","测试员B"], "tts":true}, "timeout_s":60}</a:t>
            </a:r>
          </a:p>
          <a:p>
            <a:pPr algn="l">
              <a:lnSpc>
                <a:spcPct val="113915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T-02 二维码循迹  {"skills":["qr"],    "params":{"default_payload":{"action":"walk","steps":3}},</a:t>
            </a:r>
          </a:p>
          <a:p>
            <a:pPr algn="l">
              <a:lnSpc>
                <a:spcPct val="113915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              "timeout_s":60}</a:t>
            </a:r>
          </a:p>
          <a:p>
            <a:pPr algn="l">
              <a:lnSpc>
                <a:spcPct val="113915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T-03 物品搬运    {"skills":["carry"], "params":{"target":"红块","distance_cm":8.0}, "timeout_s":90}</a:t>
            </a:r>
          </a:p>
          <a:p>
            <a:pPr algn="l">
              <a:lnSpc>
                <a:spcPct val="113915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T-04 体育运动    {"skills":["kick"],  "params":{}, "timeout_s":60}</a:t>
            </a:r>
          </a:p>
          <a:p>
            <a:pPr algn="l">
              <a:lnSpc>
                <a:spcPct val="113915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T-05 娱乐交互    {"skills":["dance"], "params":{"keyword":"跳舞","bars":2}, "timeout_s":60}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1695" y="3968496"/>
            <a:ext cx="10668579" cy="84124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151" y="4096511"/>
            <a:ext cx="10229667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字段规范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必填 task_id / name / skills；可选 params / timeout_s（默认 120 秒）。skills 必须非空列表；技能名合法性校验见 P23；timeout_s 必须是数字。违反任一条抛 TaskCardError，不允许带病启动。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23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五个技能共用一个接口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技能之间互不知道对方存在，都只跟 ctx 打交道。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048256"/>
            <a:ext cx="4206240" cy="38404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" y="2048256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Skill（基类：name + run(ctx)）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1695" y="2560320"/>
            <a:ext cx="80467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" y="2560320"/>
            <a:ext cx="8046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FaceSkill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12087" y="2560320"/>
            <a:ext cx="80467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2087" y="2560320"/>
            <a:ext cx="8046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QRCodeSkill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2479" y="2560320"/>
            <a:ext cx="80467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2479" y="2560320"/>
            <a:ext cx="8046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CarrySkill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2871" y="2560320"/>
            <a:ext cx="80467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2871" y="2560320"/>
            <a:ext cx="8046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KickSkill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3263" y="2560320"/>
            <a:ext cx="80467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3263" y="2560320"/>
            <a:ext cx="8046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DanceSkill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1695" y="3127248"/>
            <a:ext cx="4206240" cy="221284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439" y="3310128"/>
            <a:ext cx="3730752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SkillContext 提供的四样东西</a:t>
            </a:r>
          </a:p>
          <a:p>
            <a:pPr algn="l">
              <a:spcBef>
                <a:spcPts val="1000"/>
              </a:spcBef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params　任务卡传来的业务参数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perception　感知后端（可替换）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cerebellum　运动控制接口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tts_engine　语音播报接口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2048256"/>
            <a:ext cx="6035040" cy="3840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2048256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新增一个技能要改三处（诚实版）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596896"/>
            <a:ext cx="60350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14416" y="2596896"/>
            <a:ext cx="365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2596896"/>
            <a:ext cx="51023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写一个类继承 Skill，实现 run(ctx)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3474720"/>
            <a:ext cx="60350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14416" y="3474720"/>
            <a:ext cx="365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3474720"/>
            <a:ext cx="51023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在 Brain.skills 里注册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4352544"/>
            <a:ext cx="60350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14416" y="4352544"/>
            <a:ext cx="3657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4352544"/>
            <a:ext cx="51023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把技能名加进 task_card.py 的 VALID_SKILLS——这是一个冻结集合，不加会被 TaskCardError: unknown skills 拦下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60" y="5230368"/>
            <a:ext cx="6035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14416" y="5230368"/>
            <a:ext cx="559612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已知缺陷：</a:t>
            </a: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白名单里的 idle 没有对应实现，运行时会抛「未注册的技能: idle」。修法是把 VALID_SKILLS 改为由 Brain.skills.keys() 动态派生（约 5 行）。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24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步态是每个周期现算出来的 40 帧关节角序列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摆动腿与支撑腿相差半个相位。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40 帧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/ 周期 · 20 ms 控制周期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7495" y="2990088"/>
            <a:ext cx="4754880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47495" y="3566160"/>
            <a:ext cx="4754880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8855" y="2889504"/>
            <a:ext cx="4937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左腿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" y="3465576"/>
            <a:ext cx="4937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CC0DC"/>
                </a:solidFill>
                <a:latin typeface="Source Han Sans SC Heavy"/>
                <a:ea typeface="Source Han Sans SC Heavy"/>
                <a:cs typeface="Source Han Sans SC Heavy"/>
              </a:rPr>
              <a:t>右腿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7495" y="2990088"/>
            <a:ext cx="0" cy="576072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47495" y="2976449"/>
            <a:ext cx="39624" cy="58971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87119" y="2976449"/>
            <a:ext cx="0" cy="60334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487119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1487119" y="2962847"/>
            <a:ext cx="39624" cy="61695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6743" y="2962847"/>
            <a:ext cx="0" cy="63055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526743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1526743" y="2949320"/>
            <a:ext cx="39624" cy="644080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566367" y="2949320"/>
            <a:ext cx="0" cy="65760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566367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1566367" y="2935905"/>
            <a:ext cx="39624" cy="67102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05991" y="2935905"/>
            <a:ext cx="0" cy="68443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605991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1605991" y="2922638"/>
            <a:ext cx="39624" cy="697704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645615" y="2922638"/>
            <a:ext cx="0" cy="71097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645615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1645615" y="2909556"/>
            <a:ext cx="39624" cy="72405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85239" y="2909556"/>
            <a:ext cx="0" cy="73713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685239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1685239" y="2896695"/>
            <a:ext cx="39624" cy="749996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724863" y="2896695"/>
            <a:ext cx="0" cy="76285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724863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1724863" y="2884090"/>
            <a:ext cx="39624" cy="77546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764487" y="2884090"/>
            <a:ext cx="0" cy="78806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764487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1764487" y="2871776"/>
            <a:ext cx="39624" cy="80038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804111" y="2871776"/>
            <a:ext cx="0" cy="81269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804111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1804111" y="2859786"/>
            <a:ext cx="39624" cy="824685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843735" y="2859786"/>
            <a:ext cx="0" cy="836676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843735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1843735" y="2848152"/>
            <a:ext cx="39624" cy="848310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883359" y="2848152"/>
            <a:ext cx="0" cy="85994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883359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1883359" y="2836908"/>
            <a:ext cx="39624" cy="871187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922983" y="2836908"/>
            <a:ext cx="0" cy="88243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922983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1922983" y="2826084"/>
            <a:ext cx="39624" cy="893255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962607" y="2826084"/>
            <a:ext cx="0" cy="90407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962607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1962607" y="2815709"/>
            <a:ext cx="39624" cy="914454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002231" y="2815709"/>
            <a:ext cx="0" cy="92482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2002231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2002231" y="2805813"/>
            <a:ext cx="39624" cy="934725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41855" y="2805813"/>
            <a:ext cx="0" cy="94462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041855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2041855" y="2796421"/>
            <a:ext cx="39624" cy="95401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81479" y="2796421"/>
            <a:ext cx="0" cy="96340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2081479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2081479" y="2787560"/>
            <a:ext cx="39624" cy="972266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121103" y="2787560"/>
            <a:ext cx="0" cy="98112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2121103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2121103" y="2779254"/>
            <a:ext cx="39624" cy="98943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160727" y="2779254"/>
            <a:ext cx="0" cy="99773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2160727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2160727" y="2771527"/>
            <a:ext cx="39624" cy="1005466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00351" y="2771527"/>
            <a:ext cx="0" cy="101319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2200351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 flipV="1">
            <a:off x="2200351" y="2764398"/>
            <a:ext cx="39624" cy="102032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239975" y="2764398"/>
            <a:ext cx="0" cy="102745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2239975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2239975" y="2757888"/>
            <a:ext cx="39624" cy="103396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279599" y="2757888"/>
            <a:ext cx="0" cy="104047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2279599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 flipV="1">
            <a:off x="2279599" y="2752014"/>
            <a:ext cx="39624" cy="1046345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319223" y="2752014"/>
            <a:ext cx="0" cy="105221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2319223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 flipV="1">
            <a:off x="2319223" y="2746793"/>
            <a:ext cx="39624" cy="1057440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358847" y="2746793"/>
            <a:ext cx="0" cy="106266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2358847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 flipV="1">
            <a:off x="2358847" y="2742238"/>
            <a:ext cx="39624" cy="1067216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398471" y="2742238"/>
            <a:ext cx="0" cy="107177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2398471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2398471" y="2738363"/>
            <a:ext cx="39624" cy="1075646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438095" y="2738363"/>
            <a:ext cx="0" cy="107952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438095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2438095" y="2735178"/>
            <a:ext cx="39624" cy="1082706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477719" y="2735178"/>
            <a:ext cx="0" cy="108589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2477719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 flipV="1">
            <a:off x="2477719" y="2732692"/>
            <a:ext cx="39624" cy="1088377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517343" y="2732692"/>
            <a:ext cx="0" cy="109086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2517343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V="1">
            <a:off x="2517343" y="2730911"/>
            <a:ext cx="39624" cy="1092644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556967" y="2730911"/>
            <a:ext cx="0" cy="109442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2556967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 flipV="1">
            <a:off x="2556967" y="2729841"/>
            <a:ext cx="39624" cy="1095495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596591" y="2729841"/>
            <a:ext cx="0" cy="109656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2596591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 flipV="1">
            <a:off x="2596591" y="2729484"/>
            <a:ext cx="39624" cy="109692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636215" y="2729484"/>
            <a:ext cx="0" cy="1097280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2636215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2636215" y="2729841"/>
            <a:ext cx="39624" cy="109692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675839" y="2729841"/>
            <a:ext cx="0" cy="109656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2675839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2675839" y="2730911"/>
            <a:ext cx="39624" cy="1095495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715463" y="2730911"/>
            <a:ext cx="0" cy="109442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715463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 flipV="1">
            <a:off x="2715463" y="2732692"/>
            <a:ext cx="39624" cy="1092644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755087" y="2732692"/>
            <a:ext cx="0" cy="109086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2755087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 flipV="1">
            <a:off x="2755087" y="2735178"/>
            <a:ext cx="39624" cy="1088377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794711" y="2735178"/>
            <a:ext cx="0" cy="108589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2794711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 flipV="1">
            <a:off x="2794711" y="2738363"/>
            <a:ext cx="39624" cy="1082706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834335" y="2738363"/>
            <a:ext cx="0" cy="107952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2834335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 flipV="1">
            <a:off x="2834335" y="2742238"/>
            <a:ext cx="39624" cy="1075646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873959" y="2742238"/>
            <a:ext cx="0" cy="107177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2873959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 flipV="1">
            <a:off x="2873959" y="2746793"/>
            <a:ext cx="39624" cy="1067216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913583" y="2746793"/>
            <a:ext cx="0" cy="106266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2913583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 flipV="1">
            <a:off x="2913583" y="2752014"/>
            <a:ext cx="39624" cy="1057440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953207" y="2752014"/>
            <a:ext cx="0" cy="105221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2953207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 flipV="1">
            <a:off x="2953207" y="2757888"/>
            <a:ext cx="39624" cy="1046345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992831" y="2757888"/>
            <a:ext cx="0" cy="104047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2992831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 flipV="1">
            <a:off x="2992831" y="2764398"/>
            <a:ext cx="39624" cy="103396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032455" y="2764398"/>
            <a:ext cx="0" cy="102745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3032455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 flipV="1">
            <a:off x="3032455" y="2771527"/>
            <a:ext cx="39624" cy="102032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3072079" y="2771527"/>
            <a:ext cx="0" cy="101319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/>
          <p:cNvSpPr/>
          <p:nvPr/>
        </p:nvSpPr>
        <p:spPr>
          <a:xfrm>
            <a:off x="3072079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 flipV="1">
            <a:off x="3072079" y="2779254"/>
            <a:ext cx="39624" cy="1005466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3111703" y="2779254"/>
            <a:ext cx="0" cy="99773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3111703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 flipV="1">
            <a:off x="3111703" y="2787560"/>
            <a:ext cx="39624" cy="98943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3151327" y="2787560"/>
            <a:ext cx="0" cy="98112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/>
          <p:cNvSpPr/>
          <p:nvPr/>
        </p:nvSpPr>
        <p:spPr>
          <a:xfrm>
            <a:off x="3151327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 flipV="1">
            <a:off x="3151327" y="2796421"/>
            <a:ext cx="39624" cy="972266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190951" y="2796421"/>
            <a:ext cx="0" cy="96340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46"/>
          <p:cNvSpPr/>
          <p:nvPr/>
        </p:nvSpPr>
        <p:spPr>
          <a:xfrm>
            <a:off x="3190951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 flipV="1">
            <a:off x="3190951" y="2805813"/>
            <a:ext cx="39624" cy="95401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230575" y="2805813"/>
            <a:ext cx="0" cy="94462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3230575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51" name="Connector 150"/>
          <p:cNvCxnSpPr/>
          <p:nvPr/>
        </p:nvCxnSpPr>
        <p:spPr>
          <a:xfrm flipV="1">
            <a:off x="3230575" y="2815709"/>
            <a:ext cx="39624" cy="934725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270199" y="2815709"/>
            <a:ext cx="0" cy="92482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270199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 flipV="1">
            <a:off x="3270199" y="2826084"/>
            <a:ext cx="39624" cy="914454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3309823" y="2826084"/>
            <a:ext cx="0" cy="90407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ctangle 155"/>
          <p:cNvSpPr/>
          <p:nvPr/>
        </p:nvSpPr>
        <p:spPr>
          <a:xfrm>
            <a:off x="3309823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 flipV="1">
            <a:off x="3309823" y="2836908"/>
            <a:ext cx="39624" cy="893255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3349447" y="2836908"/>
            <a:ext cx="0" cy="88243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ctangle 158"/>
          <p:cNvSpPr/>
          <p:nvPr/>
        </p:nvSpPr>
        <p:spPr>
          <a:xfrm>
            <a:off x="3349447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 flipV="1">
            <a:off x="3349447" y="2848152"/>
            <a:ext cx="39624" cy="871187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3389071" y="2848152"/>
            <a:ext cx="0" cy="85994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 161"/>
          <p:cNvSpPr/>
          <p:nvPr/>
        </p:nvSpPr>
        <p:spPr>
          <a:xfrm>
            <a:off x="3389071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 flipV="1">
            <a:off x="3389071" y="2859786"/>
            <a:ext cx="39624" cy="848309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3428695" y="2859786"/>
            <a:ext cx="0" cy="836676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ectangle 164"/>
          <p:cNvSpPr/>
          <p:nvPr/>
        </p:nvSpPr>
        <p:spPr>
          <a:xfrm>
            <a:off x="3428695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66" name="Connector 165"/>
          <p:cNvCxnSpPr/>
          <p:nvPr/>
        </p:nvCxnSpPr>
        <p:spPr>
          <a:xfrm flipV="1">
            <a:off x="3428695" y="2871776"/>
            <a:ext cx="39624" cy="824686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3468319" y="2871776"/>
            <a:ext cx="0" cy="81269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ctangle 167"/>
          <p:cNvSpPr/>
          <p:nvPr/>
        </p:nvSpPr>
        <p:spPr>
          <a:xfrm>
            <a:off x="3468319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69" name="Connector 168"/>
          <p:cNvCxnSpPr/>
          <p:nvPr/>
        </p:nvCxnSpPr>
        <p:spPr>
          <a:xfrm flipV="1">
            <a:off x="3468319" y="2884090"/>
            <a:ext cx="39624" cy="80038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3507943" y="2884090"/>
            <a:ext cx="0" cy="78806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/>
          <p:cNvSpPr/>
          <p:nvPr/>
        </p:nvSpPr>
        <p:spPr>
          <a:xfrm>
            <a:off x="3507943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 flipV="1">
            <a:off x="3507943" y="2896695"/>
            <a:ext cx="39624" cy="77546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3547567" y="2896695"/>
            <a:ext cx="0" cy="76285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3547567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 flipV="1">
            <a:off x="3547567" y="2909556"/>
            <a:ext cx="39624" cy="749996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3587191" y="2909556"/>
            <a:ext cx="0" cy="73713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 176"/>
          <p:cNvSpPr/>
          <p:nvPr/>
        </p:nvSpPr>
        <p:spPr>
          <a:xfrm>
            <a:off x="3587191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 flipV="1">
            <a:off x="3587191" y="2922638"/>
            <a:ext cx="39624" cy="72405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3626815" y="2922638"/>
            <a:ext cx="0" cy="71097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3626815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 flipV="1">
            <a:off x="3626815" y="2935905"/>
            <a:ext cx="39624" cy="697704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3666439" y="2935905"/>
            <a:ext cx="0" cy="68443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3666439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 flipV="1">
            <a:off x="3666439" y="2949320"/>
            <a:ext cx="39624" cy="67102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3706063" y="2949320"/>
            <a:ext cx="0" cy="65760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ectangle 185"/>
          <p:cNvSpPr/>
          <p:nvPr/>
        </p:nvSpPr>
        <p:spPr>
          <a:xfrm>
            <a:off x="3706063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3706063" y="2962847"/>
            <a:ext cx="39624" cy="644080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3745687" y="2962847"/>
            <a:ext cx="0" cy="63055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ectangle 188"/>
          <p:cNvSpPr/>
          <p:nvPr/>
        </p:nvSpPr>
        <p:spPr>
          <a:xfrm>
            <a:off x="3745687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 flipV="1">
            <a:off x="3745687" y="2976449"/>
            <a:ext cx="39624" cy="61695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3785311" y="2976449"/>
            <a:ext cx="0" cy="60334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tangle 191"/>
          <p:cNvSpPr/>
          <p:nvPr/>
        </p:nvSpPr>
        <p:spPr>
          <a:xfrm>
            <a:off x="3785311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3785311" y="2990088"/>
            <a:ext cx="39624" cy="589710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3824935" y="2990088"/>
            <a:ext cx="0" cy="576072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3824935" y="2729484"/>
            <a:ext cx="43281" cy="5212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96" name="Connector 195"/>
          <p:cNvCxnSpPr/>
          <p:nvPr/>
        </p:nvCxnSpPr>
        <p:spPr>
          <a:xfrm flipV="1">
            <a:off x="3824935" y="3003726"/>
            <a:ext cx="39624" cy="562434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3864559" y="3003726"/>
            <a:ext cx="0" cy="54879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3864559" y="3017328"/>
            <a:ext cx="39624" cy="53519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3904183" y="3017328"/>
            <a:ext cx="0" cy="52159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3904183" y="3030855"/>
            <a:ext cx="39624" cy="508064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3943807" y="3030855"/>
            <a:ext cx="0" cy="49453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3943807" y="3044270"/>
            <a:ext cx="39624" cy="48112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3983431" y="3044270"/>
            <a:ext cx="0" cy="46770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3983431" y="3057537"/>
            <a:ext cx="39624" cy="454440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4023055" y="3057537"/>
            <a:ext cx="0" cy="44117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4023055" y="3070619"/>
            <a:ext cx="39624" cy="42809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4062679" y="3070619"/>
            <a:ext cx="0" cy="41500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4062679" y="3083480"/>
            <a:ext cx="39624" cy="402148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4102303" y="3083480"/>
            <a:ext cx="0" cy="38928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4102303" y="3096085"/>
            <a:ext cx="39624" cy="37668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4141927" y="3096085"/>
            <a:ext cx="0" cy="36407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4141927" y="3108399"/>
            <a:ext cx="39624" cy="35176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4181551" y="3108399"/>
            <a:ext cx="0" cy="33944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4181551" y="3120390"/>
            <a:ext cx="39624" cy="327458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4221175" y="3120390"/>
            <a:ext cx="0" cy="315468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4221175" y="3132023"/>
            <a:ext cx="39624" cy="303835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4260799" y="3132023"/>
            <a:ext cx="0" cy="29220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4260799" y="3143267"/>
            <a:ext cx="39624" cy="280957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4300423" y="3143267"/>
            <a:ext cx="0" cy="26971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4300423" y="3154091"/>
            <a:ext cx="39624" cy="258889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4340047" y="3154091"/>
            <a:ext cx="0" cy="24806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4340047" y="3164466"/>
            <a:ext cx="39624" cy="237690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4379671" y="3164466"/>
            <a:ext cx="0" cy="22731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4379671" y="3174362"/>
            <a:ext cx="39624" cy="217419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4419295" y="3174362"/>
            <a:ext cx="0" cy="20752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4419295" y="3183754"/>
            <a:ext cx="39624" cy="19813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4458919" y="3183754"/>
            <a:ext cx="0" cy="18873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4458919" y="3192615"/>
            <a:ext cx="39624" cy="179878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4498543" y="3192615"/>
            <a:ext cx="0" cy="17101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4498543" y="3200921"/>
            <a:ext cx="39624" cy="16271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4538167" y="3200921"/>
            <a:ext cx="0" cy="15440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4538167" y="3208648"/>
            <a:ext cx="39624" cy="146678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4577791" y="3208648"/>
            <a:ext cx="0" cy="13895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4577791" y="3215777"/>
            <a:ext cx="39624" cy="13182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4617415" y="3215777"/>
            <a:ext cx="0" cy="12469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4617415" y="3222287"/>
            <a:ext cx="39624" cy="11818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4657039" y="3222287"/>
            <a:ext cx="0" cy="11167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4657039" y="3228161"/>
            <a:ext cx="39624" cy="105799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4696663" y="3228161"/>
            <a:ext cx="0" cy="9992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4696663" y="3233382"/>
            <a:ext cx="39624" cy="94704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4736287" y="3233382"/>
            <a:ext cx="0" cy="8948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4736287" y="3237937"/>
            <a:ext cx="39624" cy="84928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4775911" y="3237937"/>
            <a:ext cx="0" cy="8037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4775911" y="3241812"/>
            <a:ext cx="39624" cy="76498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4815535" y="3241812"/>
            <a:ext cx="0" cy="7262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4815535" y="3244997"/>
            <a:ext cx="39624" cy="69438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4855159" y="3244997"/>
            <a:ext cx="0" cy="6625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4855159" y="3247483"/>
            <a:ext cx="39624" cy="63767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4894783" y="3247483"/>
            <a:ext cx="0" cy="6128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4894783" y="3249264"/>
            <a:ext cx="39624" cy="59500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4934407" y="3249264"/>
            <a:ext cx="0" cy="5771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4934407" y="3250334"/>
            <a:ext cx="39624" cy="56649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4974031" y="3250334"/>
            <a:ext cx="0" cy="5557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4974031" y="3250692"/>
            <a:ext cx="39624" cy="5522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5013655" y="3250692"/>
            <a:ext cx="0" cy="54864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5013655" y="3250334"/>
            <a:ext cx="39624" cy="5522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5053279" y="3250334"/>
            <a:ext cx="0" cy="5557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5053279" y="3249264"/>
            <a:ext cx="39624" cy="56649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5092903" y="3249264"/>
            <a:ext cx="0" cy="5771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5092903" y="3247483"/>
            <a:ext cx="39624" cy="59500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5132527" y="3247483"/>
            <a:ext cx="0" cy="6128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5132527" y="3244997"/>
            <a:ext cx="39624" cy="63767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5172151" y="3244997"/>
            <a:ext cx="0" cy="6625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5172151" y="3241812"/>
            <a:ext cx="39624" cy="69438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5211775" y="3241812"/>
            <a:ext cx="0" cy="7262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5211775" y="3237937"/>
            <a:ext cx="39624" cy="76498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5251399" y="3237937"/>
            <a:ext cx="0" cy="8037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5251399" y="3233382"/>
            <a:ext cx="39624" cy="84928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5291023" y="3233382"/>
            <a:ext cx="0" cy="8948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5291023" y="3228161"/>
            <a:ext cx="39624" cy="94704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5330647" y="3228161"/>
            <a:ext cx="0" cy="9992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5330647" y="3222287"/>
            <a:ext cx="39624" cy="105799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5370271" y="3222287"/>
            <a:ext cx="0" cy="11167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5370271" y="3215777"/>
            <a:ext cx="39624" cy="11818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5409895" y="3215777"/>
            <a:ext cx="0" cy="12469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5409895" y="3208648"/>
            <a:ext cx="39624" cy="13182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5449519" y="3208648"/>
            <a:ext cx="0" cy="13895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5449519" y="3200921"/>
            <a:ext cx="39624" cy="146678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5489143" y="3200921"/>
            <a:ext cx="0" cy="15440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5489143" y="3192615"/>
            <a:ext cx="39624" cy="16271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5528767" y="3192615"/>
            <a:ext cx="0" cy="17101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5528767" y="3183754"/>
            <a:ext cx="39624" cy="179878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5568391" y="3183754"/>
            <a:ext cx="0" cy="18873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5568391" y="3174362"/>
            <a:ext cx="39624" cy="19813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5608015" y="3174362"/>
            <a:ext cx="0" cy="20752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5608015" y="3164466"/>
            <a:ext cx="39624" cy="217419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5647639" y="3164466"/>
            <a:ext cx="0" cy="22731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5647639" y="3154091"/>
            <a:ext cx="39624" cy="237690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5687263" y="3154091"/>
            <a:ext cx="0" cy="24806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5687263" y="3143267"/>
            <a:ext cx="39624" cy="258889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5726887" y="3143267"/>
            <a:ext cx="0" cy="26971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5726887" y="3132023"/>
            <a:ext cx="39624" cy="280957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5766511" y="3132023"/>
            <a:ext cx="0" cy="29220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5766511" y="3120390"/>
            <a:ext cx="39624" cy="303834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5806135" y="3120390"/>
            <a:ext cx="0" cy="315468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5806135" y="3108399"/>
            <a:ext cx="39624" cy="327459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5845759" y="3108399"/>
            <a:ext cx="0" cy="33944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5845759" y="3096085"/>
            <a:ext cx="39624" cy="35176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5885383" y="3096085"/>
            <a:ext cx="0" cy="36407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5885383" y="3083480"/>
            <a:ext cx="39624" cy="37668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5925007" y="3083480"/>
            <a:ext cx="0" cy="38928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5925007" y="3070619"/>
            <a:ext cx="39624" cy="402148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5964631" y="3070619"/>
            <a:ext cx="0" cy="415009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5964631" y="3057537"/>
            <a:ext cx="39624" cy="428091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6004255" y="3057537"/>
            <a:ext cx="0" cy="441173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6004255" y="3044270"/>
            <a:ext cx="39624" cy="454440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6043879" y="3044270"/>
            <a:ext cx="0" cy="46770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6043879" y="3030855"/>
            <a:ext cx="39624" cy="481122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6083503" y="3030855"/>
            <a:ext cx="0" cy="494537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6083503" y="3017328"/>
            <a:ext cx="39624" cy="508064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6123127" y="3017328"/>
            <a:ext cx="0" cy="521591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6123127" y="3003726"/>
            <a:ext cx="39624" cy="53519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6162751" y="3003726"/>
            <a:ext cx="0" cy="548795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6162751" y="2990088"/>
            <a:ext cx="39624" cy="562433"/>
          </a:xfrm>
          <a:prstGeom prst="line">
            <a:avLst/>
          </a:prstGeom>
          <a:ln w="2032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6202375" y="2990088"/>
            <a:ext cx="0" cy="576072"/>
          </a:xfrm>
          <a:prstGeom prst="line">
            <a:avLst/>
          </a:prstGeom>
          <a:ln w="2032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TextBox 315"/>
          <p:cNvSpPr txBox="1"/>
          <p:nvPr/>
        </p:nvSpPr>
        <p:spPr>
          <a:xfrm>
            <a:off x="761695" y="411480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步态相位图：左腿（深蓝）与右腿（浅蓝）正弦相位相差 π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446520" y="1828800"/>
            <a:ext cx="4983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参数取自 config/robot.json::motion.gait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6446520" y="2048256"/>
            <a:ext cx="4983480" cy="2926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6537959" y="2048256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参数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7818119" y="2048256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当前值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8778240" y="2048256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含义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6537959" y="234086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步长系数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7818119" y="2340864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2.0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8778240" y="2340864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生成公式的线性系数（隐含 4°/cm）</a:t>
            </a:r>
          </a:p>
        </p:txBody>
      </p:sp>
      <p:cxnSp>
        <p:nvCxnSpPr>
          <p:cNvPr id="325" name="Connector 324"/>
          <p:cNvCxnSpPr/>
          <p:nvPr/>
        </p:nvCxnSpPr>
        <p:spPr>
          <a:xfrm>
            <a:off x="6446520" y="2670048"/>
            <a:ext cx="498348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TextBox 325"/>
          <p:cNvSpPr txBox="1"/>
          <p:nvPr/>
        </p:nvSpPr>
        <p:spPr>
          <a:xfrm>
            <a:off x="6537959" y="267004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抬脚系数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7818119" y="2670048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1.2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8778240" y="2670048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生成公式的线性系数（隐含 12°/cm）</a:t>
            </a:r>
          </a:p>
        </p:txBody>
      </p:sp>
      <p:cxnSp>
        <p:nvCxnSpPr>
          <p:cNvPr id="329" name="Connector 328"/>
          <p:cNvCxnSpPr/>
          <p:nvPr/>
        </p:nvCxnSpPr>
        <p:spPr>
          <a:xfrm>
            <a:off x="6446520" y="2999232"/>
            <a:ext cx="498348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TextBox 329"/>
          <p:cNvSpPr txBox="1"/>
          <p:nvPr/>
        </p:nvSpPr>
        <p:spPr>
          <a:xfrm>
            <a:off x="6537959" y="2999232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步态周期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7818119" y="2999232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0.8 s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8778240" y="2999232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一个完整左右交替周期</a:t>
            </a:r>
          </a:p>
        </p:txBody>
      </p:sp>
      <p:cxnSp>
        <p:nvCxnSpPr>
          <p:cNvPr id="333" name="Connector 332"/>
          <p:cNvCxnSpPr/>
          <p:nvPr/>
        </p:nvCxnSpPr>
        <p:spPr>
          <a:xfrm>
            <a:off x="6446520" y="3328415"/>
            <a:ext cx="498348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4" name="TextBox 333"/>
          <p:cNvSpPr txBox="1"/>
          <p:nvPr/>
        </p:nvSpPr>
        <p:spPr>
          <a:xfrm>
            <a:off x="6537959" y="3328415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控制周期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7818119" y="3328415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20 ms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8778240" y="3328415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每周期采样 40 帧</a:t>
            </a:r>
          </a:p>
        </p:txBody>
      </p:sp>
      <p:cxnSp>
        <p:nvCxnSpPr>
          <p:cNvPr id="337" name="Connector 336"/>
          <p:cNvCxnSpPr/>
          <p:nvPr/>
        </p:nvCxnSpPr>
        <p:spPr>
          <a:xfrm>
            <a:off x="6446520" y="3657599"/>
            <a:ext cx="498348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TextBox 337"/>
          <p:cNvSpPr txBox="1"/>
          <p:nvPr/>
        </p:nvSpPr>
        <p:spPr>
          <a:xfrm>
            <a:off x="6537959" y="3657599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6 步总帧数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7818119" y="3657599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240 帧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8778240" y="3657599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6 × 40</a:t>
            </a:r>
          </a:p>
        </p:txBody>
      </p:sp>
      <p:cxnSp>
        <p:nvCxnSpPr>
          <p:cNvPr id="341" name="Connector 340"/>
          <p:cNvCxnSpPr/>
          <p:nvPr/>
        </p:nvCxnSpPr>
        <p:spPr>
          <a:xfrm>
            <a:off x="6446520" y="3986783"/>
            <a:ext cx="498348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Rectangle 341"/>
          <p:cNvSpPr/>
          <p:nvPr/>
        </p:nvSpPr>
        <p:spPr>
          <a:xfrm>
            <a:off x="761695" y="4389120"/>
            <a:ext cx="10668579" cy="1484985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761695" y="4389120"/>
            <a:ext cx="32004" cy="1484985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926287" y="4517136"/>
            <a:ext cx="10394259" cy="12289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276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phase = 2.0 * math.pi * t</a:t>
            </a:r>
          </a:p>
          <a:p>
            <a:pPr algn="l">
              <a:lnSpc>
                <a:spcPct val="104276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left_amp  = max(0.0, math.sin(phase))</a:t>
            </a:r>
          </a:p>
          <a:p>
            <a:pPr algn="l">
              <a:lnSpc>
                <a:spcPct val="104276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right_amp = max(0.0, math.sin(phase + math.pi))</a:t>
            </a:r>
          </a:p>
          <a:p>
            <a:pPr algn="l">
              <a:lnSpc>
                <a:spcPct val="104276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frame = {"left_hip_pitch":   8.0 * left_amp  * step_length_cm / 2.0,</a:t>
            </a:r>
          </a:p>
          <a:p>
            <a:pPr algn="l">
              <a:lnSpc>
                <a:spcPct val="104276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     "left_knee_pitch": 12.0 * left_amp  * step_height_cm,</a:t>
            </a:r>
          </a:p>
          <a:p>
            <a:pPr algn="l">
              <a:lnSpc>
                <a:spcPct val="104276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     "left_ankle_pitch": -6.0 * left_amp,</a:t>
            </a:r>
          </a:p>
          <a:p>
            <a:pPr algn="l">
              <a:lnSpc>
                <a:spcPct val="104276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     "trunk_pitch": 1.5 * math.sin(phase),</a:t>
            </a:r>
          </a:p>
          <a:p>
            <a:pPr algn="l">
              <a:lnSpc>
                <a:spcPct val="104276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     "trunk_roll":  1.0 * math.sin(phase / 2.0)}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25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仿真里标定出来的动作，能原样搬到实机上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动作和代码解耦——调一个动作不需要改 Python，只需要改 JSON。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2048256"/>
            <a:ext cx="19142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Webots 标定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7667" y="2048256"/>
            <a:ext cx="219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411" y="2048256"/>
            <a:ext cx="19142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导出关键帧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382" y="2048256"/>
            <a:ext cx="219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26" y="2048256"/>
            <a:ext cx="19142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动作库校验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5098" y="2048256"/>
            <a:ext cx="219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2842" y="2048256"/>
            <a:ext cx="19142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play_action() 回放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8814" y="2048256"/>
            <a:ext cx="219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6558" y="2048256"/>
            <a:ext cx="19142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实机迁移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695" y="2706624"/>
            <a:ext cx="5532120" cy="2926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" y="2706624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字段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1975" y="270662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约束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" y="2999232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schema_version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1975" y="2999232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必须为 "1.0"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695" y="3328415"/>
            <a:ext cx="553212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3135" y="3328415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action_id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1975" y="3328415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不能为空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695" y="3657599"/>
            <a:ext cx="553212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3135" y="3657599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frames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1975" y="3657599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非空数组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1695" y="3986783"/>
            <a:ext cx="553212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3135" y="3986783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frames[i].duration_s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01975" y="3986783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必须大于 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61695" y="4315968"/>
            <a:ext cx="553212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3135" y="4315968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frames[i].joints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01975" y="4315968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键必须来自 22 个合法关节名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61695" y="4645152"/>
            <a:ext cx="553212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629400" y="2706624"/>
            <a:ext cx="48006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48856" y="2871216"/>
            <a:ext cx="436168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为什么这样设计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动作与代码解耦：调一个动作只改 JSON，并跑一遍校验器。校验不通过的动作库不会被回放，避免把坏数据灌进舵机。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1695" y="4608576"/>
            <a:ext cx="10668579" cy="1225296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9439" y="4754880"/>
            <a:ext cx="10193091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姿态闭环与失稳保护</a:t>
            </a:r>
            <a:r>
              <a:rPr sz="9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　○ 规划中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控制周期 20 ms 读一次姿态；倾角超阈值立即切断舵机扭矩；落地瞬间不做姿态修正，避免震荡；上电自检逐路读取舵机位置与预期位姿比对。以上均为设计，尚无代码与实测。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26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上层技能代码不知道底下用的是 Mock 还是真摄像头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无硬件时用 Mock 跑通全链路；有硬件时换一个后端对象，上层一行代码不改。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048256"/>
            <a:ext cx="3931920" cy="402336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" y="2048256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PerceptionBackend（抽象）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1695" y="2615184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" y="261518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MockPerception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3375" y="2615184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3375" y="261518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OpenCVPerception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1695" y="3255264"/>
            <a:ext cx="3931920" cy="118872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9439" y="3419856"/>
            <a:ext cx="345643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统一返回结构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PerceptionResult</a:t>
            </a:r>
          </a:p>
          <a:p>
            <a:pPr algn="l">
              <a:spcBef>
                <a:spcPts val="3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(kind, data, confidence, raw)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048256"/>
            <a:ext cx="6309360" cy="310896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9" y="2048256"/>
            <a:ext cx="19202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9" y="2048256"/>
            <a:ext cx="40233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返回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2359152"/>
            <a:ext cx="19202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detect_face(frame)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2359152"/>
            <a:ext cx="40233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{found, bbox} + confidence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20640" y="2761488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12079" y="2761488"/>
            <a:ext cx="19202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detect_qr(frame)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9" y="2761488"/>
            <a:ext cx="40233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{found, payload} + confidence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20640" y="3163824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12079" y="3163824"/>
            <a:ext cx="19202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detect_ball(frame)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199" y="3163824"/>
            <a:ext cx="40233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{found, x_cm, distance_cm, bbox, center_px}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20640" y="3566160"/>
            <a:ext cx="6309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120640" y="3785616"/>
            <a:ext cx="630936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0096" y="3931920"/>
            <a:ext cx="587044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设计要点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raw 保留后端原始返回值（OpenCV 的 points / contour），便于替换算法与排查误检。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27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三种目标，三套方法，参数写死以便复现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三路检测共用同一个返回结构，所以上层技能只写一次调用逻辑。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048256"/>
            <a:ext cx="10668579" cy="29260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" y="2048256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7575" y="2048256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人脸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9375" y="2048256"/>
            <a:ext cx="30632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二维码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495" y="2048256"/>
            <a:ext cx="30358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" y="2340864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原理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7575" y="2340864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Haar Cascade 检测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9375" y="2340864"/>
            <a:ext cx="30632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QRCodeDetector
detectAndDecode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495" y="2340864"/>
            <a:ext cx="303580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HSV 颜色分割
+ 最大轮廓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1695" y="2889504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3135" y="2889504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预处理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7575" y="2889504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转灰度 + 直方图均衡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9375" y="2889504"/>
            <a:ext cx="30632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内置透视矫正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495" y="2889504"/>
            <a:ext cx="303580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inRange 二值化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695" y="3438144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3135" y="3438144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关键参数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7575" y="3438144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scaleFactor=1.1
minNeighbors=5
minSize=30×30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9375" y="3438144"/>
            <a:ext cx="30632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解码结果按 JSON 解析
失败原样返回字符串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495" y="3438144"/>
            <a:ext cx="303580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绿区间 (35,80,80)–(85,255,255)
RETR_EXTERNAL 取最大轮廓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1695" y="3986784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3135" y="3986784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7575" y="3986784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bbox + confidence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9375" y="3986784"/>
            <a:ext cx="30632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结构化 payload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495" y="3986784"/>
            <a:ext cx="303580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x_cm / distance_cm
bbox / center_px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1695" y="4535424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53135" y="4535424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测距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7575" y="4535424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59375" y="4535424"/>
            <a:ext cx="30632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5495" y="4535424"/>
            <a:ext cx="303580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针孔模型 d = D·f / d_px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61695" y="5084064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61695" y="5248656"/>
            <a:ext cx="1066857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1151" y="5340096"/>
            <a:ext cx="10229667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必须说明：</a:t>
            </a:r>
            <a:r>
              <a:rPr sz="1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detect_face 只返回人脸位置，不返回身份</a:t>
            </a: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——身份识别需要单独的特征比对模块，见 P34。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cv2 为懒加载可选依赖，CI 默认不装；三路检测均未做真实摄像头实测。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28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闭环控制律已经跑出收敛序列，缺的是把它搬进技能层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设计数据包里有一个可复现的闭环；技能层目前还是一次开环修正。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12/12 · 9/12 · 4/12</a:t>
            </a:r>
            <a:r>
              <a:rPr sz="11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带噪感知下的成功数（ideal / harsh / adversarial）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" y="246888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技能层 kick.py：一次开环修正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1695" y="2706624"/>
            <a:ext cx="5074920" cy="112471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695" y="2706624"/>
            <a:ext cx="32004" cy="1124712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" y="283464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994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obs = ctx.perceive("ball")        # 只检测一次</a:t>
            </a:r>
          </a:p>
          <a:p>
            <a:pPr algn="l">
              <a:lnSpc>
                <a:spcPct val="110994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if abs(ball_x) &gt; 1.0:             # 单次判断</a:t>
            </a:r>
          </a:p>
          <a:p>
            <a:pPr algn="l">
              <a:lnSpc>
                <a:spcPct val="110994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yaw = max(-10.0, min(10.0, ball_x / 2.0))</a:t>
            </a:r>
          </a:p>
          <a:p>
            <a:pPr algn="l">
              <a:lnSpc>
                <a:spcPct val="110994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ctx.cerebellum.set_pose({"left_hip_yaw": yaw, ...})</a:t>
            </a:r>
          </a:p>
          <a:p>
            <a:pPr algn="l">
              <a:lnSpc>
                <a:spcPct val="110994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ctx.cerebellum.kick(...)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" y="3767328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没有 while，没有二次检测，没有收敛判据。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±10° 限幅在任务区间内几乎总是饱和：球距 10 cm 时 |x|&gt;1.76 cm 即饱和，20 cm 时 &gt;3.53 cm 即饱和——单次修正不可能收敛，这是几何决定的。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468880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设计数据包 run_sim.py：真闭环（已实现）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706624"/>
            <a:ext cx="5166360" cy="112471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706624"/>
            <a:ext cx="32004" cy="1124712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2834640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994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while 迭代 &lt; max_iter 且 未超时:</a:t>
            </a:r>
          </a:p>
          <a:p>
            <a:pPr algn="l">
              <a:lnSpc>
                <a:spcPct val="110994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obs = 重新检测球位</a:t>
            </a:r>
          </a:p>
          <a:p>
            <a:pPr algn="l">
              <a:lnSpc>
                <a:spcPct val="110994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if |x| &lt;= tol_cm: break      # 收敛出口</a:t>
            </a:r>
          </a:p>
          <a:p>
            <a:pPr algn="l">
              <a:lnSpc>
                <a:spcPct val="110994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yaw = clamp(gain * x, ±max_step)</a:t>
            </a:r>
          </a:p>
          <a:p>
            <a:pPr algn="l">
              <a:lnSpc>
                <a:spcPct val="110994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    调整朝向；振荡则自动降增益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67328"/>
            <a:ext cx="5166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实测收敛序列</a:t>
            </a: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　seed 20260910 · 与 design/README.md §5.1 同源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968496"/>
            <a:ext cx="5166360" cy="25603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39684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初始偏移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396849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轮次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96849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误差序列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16768" y="3968496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末误差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4224528"/>
            <a:ext cx="685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5.0 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59" y="4224528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4224528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5.00 → 2.42 → 1.45 → 0.38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4224528"/>
            <a:ext cx="6217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0.38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63640" y="4572000"/>
            <a:ext cx="5166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55079" y="4572000"/>
            <a:ext cx="685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12.0 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4572000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8" y="457200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12.00 → 7.92 → 4.20 → 1.76 → 1.48 → 0.48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16768" y="4572000"/>
            <a:ext cx="6217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0.48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63640" y="4919472"/>
            <a:ext cx="5166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355079" y="4919472"/>
            <a:ext cx="685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20.0 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59" y="4919472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0688" y="491947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20.00 → 15.92 → 12.16 → 7.82 → 4.50 → 1.99 → 0.35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16768" y="4919472"/>
            <a:ext cx="6217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0.35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263640" y="5266944"/>
            <a:ext cx="516636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61695" y="5303520"/>
            <a:ext cx="10668579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2E9E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1151" y="5394960"/>
            <a:ext cx="1022966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鲁棒性边界：</a:t>
            </a: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python3 design/run_sim.py --sweep perception --episodes 12 → ideal 12/12 ｜ nominal 12/12 ｜ harsh 9/12 ｜ adversarial 4/12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这是本项目唯一的量化证据：它给出的是失效边界，而不只是「能跑」。当前缺口是移植——把这段循环搬进 skills/kick.py，不是从零写。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29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语音是接口不是依赖；工程质量是可查的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下面四项都可以当场执行复现。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133 项测试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核心 0 第三方依赖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68880"/>
            <a:ext cx="505996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695" y="2468880"/>
            <a:ext cx="41148" cy="100584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439" y="2615184"/>
            <a:ext cx="46027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核心零第三方依赖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439" y="2889504"/>
            <a:ext cx="460276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atri 包全部 import 只有 abc / argparse / dataclasses / enum / json / math / pathlib / subprocess / sys / time / typing；cv2、qrcode 为懒加载可选依赖。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984" y="2468880"/>
            <a:ext cx="505996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984" y="2468880"/>
            <a:ext cx="41148" cy="100584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728" y="2615184"/>
            <a:ext cx="46027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133 项测试 · 构成拆开说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3728" y="2889504"/>
            <a:ext cx="460276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软件行为 51 项 + 设计模型 / 工程图 / 几何断言 82 项（占 61.7%）。软件行为部分覆盖 FSM / 任务卡 / 技能 / 感知 / 语音 / 动作库 / 配置。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695" y="3584448"/>
            <a:ext cx="505996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1695" y="3584448"/>
            <a:ext cx="41148" cy="100584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9439" y="3730752"/>
            <a:ext cx="46027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CI 三版本矩阵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439" y="4005072"/>
            <a:ext cx="460276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GitHub Actions 在 Python 3.9 / 3.11 / 3.12 上跑编译 + 测试 + 无硬件闭环演示。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984" y="3584448"/>
            <a:ext cx="5059969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5984" y="3584448"/>
            <a:ext cx="41148" cy="100584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3728" y="3730752"/>
            <a:ext cx="46027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协作规范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3728" y="4005072"/>
            <a:ext cx="460276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改前 pull、小步 commit、禁 force push、功能分支；设计与代码同源。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1695" y="4718304"/>
            <a:ext cx="6035040" cy="1271016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1695" y="4718304"/>
            <a:ext cx="32004" cy="1271016"/>
          </a:xfrm>
          <a:prstGeom prst="rect">
            <a:avLst/>
          </a:prstGeom>
          <a:solidFill>
            <a:srgbClr val="9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" y="4846320"/>
            <a:ext cx="5760720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69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$ python3 -m unittest discover -s tests</a:t>
            </a:r>
          </a:p>
          <a:p>
            <a:pPr algn="l">
              <a:lnSpc>
                <a:spcPct val="102069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Ran 133 tests in 0.045s</a:t>
            </a:r>
          </a:p>
          <a:p>
            <a:pPr algn="l">
              <a:lnSpc>
                <a:spcPct val="102069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OK</a:t>
            </a:r>
          </a:p>
          <a:p>
            <a:pPr algn="l">
              <a:lnSpc>
                <a:spcPct val="102069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/>
            </a:r>
          </a:p>
          <a:p>
            <a:pPr algn="l">
              <a:lnSpc>
                <a:spcPct val="102069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$ python3 run_demo.py --fast</a:t>
            </a:r>
          </a:p>
          <a:p>
            <a:pPr algn="l">
              <a:lnSpc>
                <a:spcPct val="102069"/>
              </a:lnSpc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闭环演示完成: 5/5 项任务通过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4718304"/>
            <a:ext cx="4297680" cy="12710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51775" y="4864608"/>
            <a:ext cx="3858768" cy="978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语音链路的当前状态</a:t>
            </a:r>
          </a:p>
          <a:p>
            <a:pPr algn="l">
              <a:lnSpc>
                <a:spcPct val="138000"/>
              </a:lnSpc>
              <a:spcBef>
                <a:spcPts val="600"/>
              </a:spcBef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KeywordRecognizer 与 TTS 均为抽象接口，现有 Mock 实现保证演示可复现。VoiceService 尚未接入 Brain；</a:t>
            </a:r>
          </a:p>
          <a:p>
            <a:pPr algn="l">
              <a:lnSpc>
                <a:spcPct val="138000"/>
              </a:lnSpc>
              <a:spcBef>
                <a:spcPts val="300"/>
              </a:spcBef>
            </a:pPr>
            <a:r>
              <a:rPr sz="9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全仓无音频播放代码</a:t>
            </a: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，「音乐播放」为设计目标。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30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同一份代码，三个后端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单个平台受阻时，另外两个继续推进。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1 份代码</a:t>
            </a:r>
            <a:r>
              <a:rPr sz="13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· 3 个后端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5504" y="2468880"/>
            <a:ext cx="7680960" cy="786384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504" y="2468880"/>
            <a:ext cx="76809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atri 包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Brain / FSM / Skills / Perception 接口 / Cerebellum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984" y="3255264"/>
            <a:ext cx="0" cy="274320"/>
          </a:xfrm>
          <a:prstGeom prst="line">
            <a:avLst/>
          </a:prstGeom>
          <a:ln w="1524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05712" y="3273552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只换这一个实现（Cerebellum 支持注入 sleeper）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53335" y="3529584"/>
            <a:ext cx="0" cy="219456"/>
          </a:xfrm>
          <a:prstGeom prst="line">
            <a:avLst/>
          </a:prstGeom>
          <a:ln w="1524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1695" y="3749040"/>
            <a:ext cx="338328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9E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2863" y="3895344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MockServoBus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863" y="4169664"/>
            <a:ext cx="2980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内存舵机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863" y="4462272"/>
            <a:ext cx="7203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4303" y="4462272"/>
            <a:ext cx="574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9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863" y="4791456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无硬件即可跑通全链路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2647" y="3529584"/>
            <a:ext cx="0" cy="219456"/>
          </a:xfrm>
          <a:prstGeom prst="line">
            <a:avLst/>
          </a:prstGeom>
          <a:ln w="1524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401007" y="3749040"/>
            <a:ext cx="338328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2175" y="3895344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WebotsServoBus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2175" y="4169664"/>
            <a:ext cx="2980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robot.step + 电机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02175" y="4462272"/>
            <a:ext cx="7203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3615" y="4462272"/>
            <a:ext cx="574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9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2175" y="4791456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atri_22dof.wbt（零重力运动学世界）+ 19 项离线桩测试；标定的是关节角序列与调度时序，不含重力与接触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31959" y="3529584"/>
            <a:ext cx="0" cy="219456"/>
          </a:xfrm>
          <a:prstGeom prst="line">
            <a:avLst/>
          </a:prstGeom>
          <a:ln w="15240">
            <a:solidFill>
              <a:srgbClr val="1264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040319" y="3749040"/>
            <a:ext cx="338328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1487" y="3895344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SerialServoBus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1487" y="4169664"/>
            <a:ext cx="2980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串口总线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41487" y="4462272"/>
            <a:ext cx="7203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2927" y="4462272"/>
            <a:ext cx="574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9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1487" y="4791456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样机阶段接入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1695" y="5358384"/>
            <a:ext cx="10668579" cy="56692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1151" y="5358384"/>
            <a:ext cx="1022966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口径：</a:t>
            </a: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仿真为运动学/解析验证（simulation: kinematic-analytical），不是物理动力学仿真；动力学参数标定列入阶段三。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64687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56127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技术架构与实现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3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31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六项真能执行的产物，每条都附命令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后面所有的「规划中」，都建立在这六项之上。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6 项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可执行产物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32304"/>
            <a:ext cx="10668579" cy="841248"/>
          </a:xfrm>
          <a:prstGeom prst="rect">
            <a:avLst/>
          </a:prstGeom>
          <a:solidFill>
            <a:srgbClr val="DCE9F4"/>
          </a:solidFill>
          <a:ln w="12700">
            <a:solidFill>
              <a:srgbClr val="126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1151" y="2542032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视觉伺服闭环 + 鲁棒性边界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python3 design/run_sim.py --sweep perception --episodes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9735" y="254203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12/12 · 12/12 · 9/12 · 4/12</a:t>
            </a:r>
          </a:p>
          <a:p>
            <a:pPr algn="r">
              <a:spcBef>
                <a:spcPts val="200"/>
              </a:spcBef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ideal / nominal / harsh / adversarial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1695" y="3383280"/>
            <a:ext cx="10668579" cy="310896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" y="3383280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已完成的产物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9455" y="3383280"/>
            <a:ext cx="56418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查证方式 / 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" y="3694176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133 项测试 + 三版本 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9455" y="3694176"/>
            <a:ext cx="56418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python3 -m unittest discover -s tests　→ Ran 133 tests … OK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1695" y="4114800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3135" y="4114800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五项任务无硬件闭环演示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99455" y="4114800"/>
            <a:ext cx="56418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python3 run_demo.py --fast　→ 闭环演示完成: 5/5 项任务通过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1695" y="4535424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3135" y="4535424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22 关节设计模型与 URDF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9455" y="4535424"/>
            <a:ext cx="56418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design/robot_model.json；python3 design/gen_urdf.py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1695" y="4956048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3135" y="4956048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4 张工程图（编号 / 三视图 / 尺寸链 / 舵机布局）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9455" y="4956048"/>
            <a:ext cx="56418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design/drawings/　图号 001 / 002 / 004 / 005，第 3 张暂缺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1695" y="5376672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3135" y="5376672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22 DOF Webots 运动学联调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9455" y="5376672"/>
            <a:ext cx="56418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webots/worlds/atri_22dof.wbt；19 项离线桩测试（完整运行需 Windows + Webots R2025a）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61695" y="5797296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3035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070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91055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2140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5176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82111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12463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4281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7316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3387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64223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94575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24927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8563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1598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4633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7668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0704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66774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19809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30352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60704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91055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21408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651760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182111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712463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242816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773168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303520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833872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364223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05840" y="210312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0" i="0">
                <a:solidFill>
                  <a:srgbClr val="1B3A5C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5" y="3584448"/>
            <a:ext cx="731520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3877056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五项赛题，五条实现路径，同一套底座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95604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五项任务闭环 · P32–P39</a:t>
            </a:r>
          </a:p>
        </p:txBody>
      </p:sp>
      <p:sp>
        <p:nvSpPr>
          <p:cNvPr id="42" name="Oval 41"/>
          <p:cNvSpPr/>
          <p:nvPr/>
        </p:nvSpPr>
        <p:spPr>
          <a:xfrm>
            <a:off x="10835640" y="1417320"/>
            <a:ext cx="91440" cy="914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881360" y="14630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0835640" y="16002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881360" y="16459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835640" y="17830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881360" y="18288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835640" y="19659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0881360" y="20116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835640" y="21488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0881360" y="21945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0835640" y="23317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0881360" y="2377439"/>
            <a:ext cx="0" cy="137161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835640" y="25146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0881360" y="25603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0835640" y="26974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0881360" y="27432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0835640" y="28803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881360" y="29260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0835640" y="30632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881360" y="31089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835640" y="32461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0881360" y="3291839"/>
            <a:ext cx="0" cy="137161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0835640" y="34290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0881360" y="34747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0835640" y="36118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0881360" y="36576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0835640" y="37947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0881360" y="38404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0835640" y="39776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0881360" y="40233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10835640" y="41605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10881360" y="42062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0835640" y="43434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0881360" y="43891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0835640" y="45262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10881360" y="45720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10835640" y="47091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10881360" y="47548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0835640" y="48920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10881360" y="49377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0835640" y="50749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881360" y="51206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0835640" y="52578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五项任务闭环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4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33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赛题要求 → 实现路径 → 考核指标 → 当前状态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标记为「待开发」的三处是流程中尚未实现真实感知或执行的环节，逐项在 P34–P38 说明。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194560"/>
            <a:ext cx="10668579" cy="310896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" y="2194560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赛题任务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1895" y="2194560"/>
            <a:ext cx="53949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实现路径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9735" y="2194560"/>
            <a:ext cx="2880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考核指标（目标值）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2194560"/>
            <a:ext cx="3383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" y="2505456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人脸识别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1895" y="2505456"/>
            <a:ext cx="53949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采集 → 人脸检测 → 身份比对待开发 → 本地 TTS 播报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9735" y="2505456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成功率 ≥90%（≤1.5 m）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2505456"/>
            <a:ext cx="33832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1695" y="3072384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3135" y="3072384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二维码循迹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1895" y="3072384"/>
            <a:ext cx="53949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捕获 → 透视矫正 → 解码 JSON → FSM 调度前进/转向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9735" y="3072384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识别 ≥90%；指令执行 ≥95%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3072384"/>
            <a:ext cx="33832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695" y="3639312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3135" y="3639312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物品搬运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61895" y="3639312"/>
            <a:ext cx="53949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目标检测待开发 → 视觉对齐 → 夹爪闭合 → 平移 → 释放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9735" y="3639312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抓取成功率 ≥80%（≤100 g）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3639312"/>
            <a:ext cx="33832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1695" y="4206240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3135" y="4206240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体育运动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61895" y="4206240"/>
            <a:ext cx="53949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检测球位 → 朝向伺服 → 腿部踢球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9735" y="4206240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踢球成功率 ≥70%（10–20 cm）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4206240"/>
            <a:ext cx="33832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◐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1695" y="4773168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53135" y="4773168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娱乐休闲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61895" y="4773168"/>
            <a:ext cx="53949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离线关键词 → 音频播放待开发 → 22 DOF 短舞序列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9735" y="4773168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连续执行完成度 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4773168"/>
            <a:ext cx="33832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◐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61695" y="5340096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61695" y="5340096"/>
            <a:ext cx="10668579" cy="56692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1151" y="5340096"/>
            <a:ext cx="1022966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五项任务的软件流程都已在无硬件闭环演示中跑通（5/5）；考核指标为目标值，实机指标全部待测。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五项任务闭环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4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34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当前只能看到「这里有一张脸」，认人还差一步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四步链路里，第一步已经跑通。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人脸检测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已可用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2215" y="202996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实现完成度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2215" y="2267712"/>
            <a:ext cx="553212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0291" y="2267712"/>
            <a:ext cx="553212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38367" y="2267712"/>
            <a:ext cx="553212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46443" y="2267712"/>
            <a:ext cx="553212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7671" y="22128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1/4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1695" y="2450592"/>
            <a:ext cx="4160520" cy="312724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151" y="2615184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① 流程链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1151" y="2907792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2591" y="2907792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摄像头采集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2227" y="3255264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1151" y="3429000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2591" y="3429000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人脸检测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2227" y="377647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1151" y="3950208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2591" y="3950208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特征比对（未实现）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2227" y="4297680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1151" y="4471416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2591" y="4471416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TTS 播报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" y="5321808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视觉：config/face_db.json 真实内容 + PerceptionResult 字段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30368" y="2450592"/>
            <a:ext cx="2916936" cy="29260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40096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● 已实现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13064" y="2450592"/>
            <a:ext cx="2916936" cy="292608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2792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○ 待开发</a:t>
            </a:r>
          </a:p>
        </p:txBody>
      </p:sp>
      <p:sp>
        <p:nvSpPr>
          <p:cNvPr id="35" name="Oval 34"/>
          <p:cNvSpPr/>
          <p:nvPr/>
        </p:nvSpPr>
        <p:spPr>
          <a:xfrm>
            <a:off x="5230368" y="2884932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76672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OpenCVPerception.detect_face() 用 Haar Cascade 返回 bbox + 置信度</a:t>
            </a:r>
          </a:p>
        </p:txBody>
      </p:sp>
      <p:sp>
        <p:nvSpPr>
          <p:cNvPr id="37" name="Oval 36"/>
          <p:cNvSpPr/>
          <p:nvPr/>
        </p:nvSpPr>
        <p:spPr>
          <a:xfrm>
            <a:off x="5230368" y="3634740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76672" y="356616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TTS 播报链路可用（Mock / macOS say）</a:t>
            </a:r>
          </a:p>
        </p:txBody>
      </p:sp>
      <p:sp>
        <p:nvSpPr>
          <p:cNvPr id="39" name="Oval 38"/>
          <p:cNvSpPr/>
          <p:nvPr/>
        </p:nvSpPr>
        <p:spPr>
          <a:xfrm>
            <a:off x="8513064" y="2884932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9368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config/face_db.json 从未被任何代码加载</a:t>
            </a:r>
          </a:p>
        </p:txBody>
      </p:sp>
      <p:sp>
        <p:nvSpPr>
          <p:cNvPr id="41" name="Oval 40"/>
          <p:cNvSpPr/>
          <p:nvPr/>
        </p:nvSpPr>
        <p:spPr>
          <a:xfrm>
            <a:off x="8513064" y="3451860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59368" y="338328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detect_face 不返回姓名；FaceSkill 取不到时回落到任务卡的默认名，置信度写死 0.93</a:t>
            </a:r>
          </a:p>
        </p:txBody>
      </p:sp>
      <p:sp>
        <p:nvSpPr>
          <p:cNvPr id="43" name="Oval 42"/>
          <p:cNvSpPr/>
          <p:nvPr/>
        </p:nvSpPr>
        <p:spPr>
          <a:xfrm>
            <a:off x="8513064" y="4201668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59368" y="4133088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现有 face_db.json 只有 2 条、4 维手写向量，不足以支撑识别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30368" y="5065776"/>
            <a:ext cx="6199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31536" y="5111496"/>
            <a:ext cx="57972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③ 考核指标　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识别成功率 ≥ 90%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固定光照、≤1.5 m；当前无实测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五项任务闭环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4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35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二维码不只是位置标签，它本身是一段指令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现场改路径 = 换一张二维码贴纸，不用刷机、不用重编译。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{"action":"walk","steps":3}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2215" y="202996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实现完成度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2215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8676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5136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1597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68058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7671" y="22128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3/5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695" y="2505456"/>
            <a:ext cx="3840480" cy="3072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qr_walk_step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383" y="2761488"/>
            <a:ext cx="1975104" cy="19751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81151" y="4846320"/>
            <a:ext cx="3401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qr_samples/qr_walk_steps3.png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151" y="5065776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真二维码样例 · 解码得 walk / steps=3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505456"/>
            <a:ext cx="3063239" cy="29260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2505456"/>
            <a:ext cx="284378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● 已实现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505456"/>
            <a:ext cx="3063239" cy="292608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8" y="2505456"/>
            <a:ext cx="284378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○ 待开发</a:t>
            </a:r>
          </a:p>
        </p:txBody>
      </p:sp>
      <p:sp>
        <p:nvSpPr>
          <p:cNvPr id="26" name="Oval 25"/>
          <p:cNvSpPr/>
          <p:nvPr/>
        </p:nvSpPr>
        <p:spPr>
          <a:xfrm>
            <a:off x="4937760" y="2939796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4064" y="2871216"/>
            <a:ext cx="29169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指令内嵌：二维码内容就是 JSON，支持 walk（带 steps）与 turn（带 deg）</a:t>
            </a:r>
          </a:p>
        </p:txBody>
      </p:sp>
      <p:sp>
        <p:nvSpPr>
          <p:cNvPr id="28" name="Oval 27"/>
          <p:cNvSpPr/>
          <p:nvPr/>
        </p:nvSpPr>
        <p:spPr>
          <a:xfrm>
            <a:off x="4937760" y="3506724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84064" y="3438144"/>
            <a:ext cx="29169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生成器：python3 -m atri.qrgen --action walk --steps 3 --output qr_walk.png</a:t>
            </a:r>
          </a:p>
        </p:txBody>
      </p:sp>
      <p:sp>
        <p:nvSpPr>
          <p:cNvPr id="30" name="Oval 29"/>
          <p:cNvSpPr/>
          <p:nvPr/>
        </p:nvSpPr>
        <p:spPr>
          <a:xfrm>
            <a:off x="4937760" y="4256532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84064" y="4187952"/>
            <a:ext cx="29169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qr_samples/ 下已有 3 张真实样例码（walk / turn / dance）</a:t>
            </a:r>
          </a:p>
        </p:txBody>
      </p:sp>
      <p:sp>
        <p:nvSpPr>
          <p:cNvPr id="32" name="Oval 31"/>
          <p:cNvSpPr/>
          <p:nvPr/>
        </p:nvSpPr>
        <p:spPr>
          <a:xfrm>
            <a:off x="8366760" y="2939796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13064" y="2871216"/>
            <a:ext cx="29169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真实摄像头取帧与解码路径一次都没执行过；本机未装 cv2，解码逻辑仅由 fake cv2 单元测试覆盖</a:t>
            </a:r>
          </a:p>
        </p:txBody>
      </p:sp>
      <p:sp>
        <p:nvSpPr>
          <p:cNvPr id="34" name="Oval 33"/>
          <p:cNvSpPr/>
          <p:nvPr/>
        </p:nvSpPr>
        <p:spPr>
          <a:xfrm>
            <a:off x="8366760" y="3689604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13064" y="3621024"/>
            <a:ext cx="29169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turn 指令当前用 set_pose(hip_yaw) 实现（转向问题见 P28）；超过 135° 会被静默限幅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4700016"/>
            <a:ext cx="6492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38928" y="4809744"/>
            <a:ext cx="608990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③ 考核指标　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识别 ≥90%　指令执行 ≥95%</a:t>
            </a:r>
          </a:p>
          <a:p>
            <a:pPr algn="l">
              <a:spcBef>
                <a:spcPts val="3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10 组指令回放；当前无实测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五项任务闭环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4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36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搬运的夹爪和步数换算已经写好，缺的是一双眼睛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抓取的前提是对齐，但当前还没有能提供对齐误差的检测器。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2/6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步已实现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2215" y="202996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实现完成度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2215" y="2267712"/>
            <a:ext cx="350520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27599" y="2267712"/>
            <a:ext cx="350520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32983" y="2267712"/>
            <a:ext cx="350520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38367" y="2267712"/>
            <a:ext cx="350520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43751" y="2267712"/>
            <a:ext cx="350520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9135" y="2267712"/>
            <a:ext cx="350520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7671" y="22128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2/6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695" y="2450592"/>
            <a:ext cx="4160520" cy="312724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151" y="2615184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① 流程链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1151" y="2907792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2591" y="2907792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视觉识别目标（未实现）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2227" y="3255264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1151" y="3429000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591" y="3429000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计算相对偏航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2227" y="377647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1151" y="3950208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2591" y="3950208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步态微调对齐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2227" y="4297680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1151" y="4471416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2591" y="4471416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夹爪闭合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32227" y="4818888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1151" y="4992624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2591" y="4992624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平移与释放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" y="5321808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视觉：搬运技能真实调用序列代码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30368" y="2450592"/>
            <a:ext cx="2916936" cy="29260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0096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● 已实现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13064" y="2450592"/>
            <a:ext cx="2916936" cy="292608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2792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○ 待开发</a:t>
            </a:r>
          </a:p>
        </p:txBody>
      </p:sp>
      <p:sp>
        <p:nvSpPr>
          <p:cNvPr id="40" name="Oval 39"/>
          <p:cNvSpPr/>
          <p:nvPr/>
        </p:nvSpPr>
        <p:spPr>
          <a:xfrm>
            <a:off x="5230368" y="2884932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76672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夹爪开合、平移步数换算：steps = max(2, int(distance_cm / 2.0))</a:t>
            </a:r>
          </a:p>
        </p:txBody>
      </p:sp>
      <p:sp>
        <p:nvSpPr>
          <p:cNvPr id="42" name="Oval 41"/>
          <p:cNvSpPr/>
          <p:nvPr/>
        </p:nvSpPr>
        <p:spPr>
          <a:xfrm>
            <a:off x="5230368" y="3634740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356616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调用序列 align → grasp → walk → release 已在闭环演示中跑通</a:t>
            </a:r>
          </a:p>
        </p:txBody>
      </p:sp>
      <p:sp>
        <p:nvSpPr>
          <p:cNvPr id="44" name="Oval 43"/>
          <p:cNvSpPr/>
          <p:nvPr/>
        </p:nvSpPr>
        <p:spPr>
          <a:xfrm>
            <a:off x="8513064" y="2884932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59368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感知后端没有 detect_object，ctx.perceive("object") 恒返回 {}，target / distance_cm 永远取任务卡默认值</a:t>
            </a:r>
          </a:p>
        </p:txBody>
      </p:sp>
      <p:sp>
        <p:nvSpPr>
          <p:cNvPr id="46" name="Oval 45"/>
          <p:cNvSpPr/>
          <p:nvPr/>
        </p:nvSpPr>
        <p:spPr>
          <a:xfrm>
            <a:off x="8513064" y="3817620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59368" y="374904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execute_motion("align", obs) 落到默认分支，写死一个姿态且丢弃 obs</a:t>
            </a:r>
          </a:p>
        </p:txBody>
      </p:sp>
      <p:sp>
        <p:nvSpPr>
          <p:cNvPr id="48" name="Oval 47"/>
          <p:cNvSpPr/>
          <p:nvPr/>
        </p:nvSpPr>
        <p:spPr>
          <a:xfrm>
            <a:off x="8513064" y="4567428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59368" y="4498848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全仓无任何检测器返回 target 字段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30368" y="5065776"/>
            <a:ext cx="6199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31536" y="5111496"/>
            <a:ext cx="57972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③ 考核指标　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抓取成功率 ≥ 80%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轻物 ≤100 g；当前无实测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五项任务闭环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4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37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球在哪，机器人转过去——但目前只转一次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闭环控制律已在设计数据包中跑通，尚未移植到技能层。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|x| &gt; 1.0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2215" y="202996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实现完成度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2215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8676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5136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1597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68058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7671" y="22128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2/5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695" y="2450592"/>
            <a:ext cx="4160520" cy="312724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" y="2615184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① 流程链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1151" y="2907792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2591" y="2907792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检测球位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2227" y="3255264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1151" y="3429000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591" y="3429000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计算横向误差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2227" y="377647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1151" y="3950208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2591" y="3950208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朝向伺服（单次）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32227" y="4297680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1151" y="4471416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2591" y="4471416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执行踢球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" y="5321808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视觉：atri/skills/kick.py 真实控制律代码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0368" y="2450592"/>
            <a:ext cx="2916936" cy="29260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0096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● 已实现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13064" y="2450592"/>
            <a:ext cx="2916936" cy="292608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○ 待开发</a:t>
            </a:r>
          </a:p>
        </p:txBody>
      </p:sp>
      <p:sp>
        <p:nvSpPr>
          <p:cNvPr id="36" name="Oval 35"/>
          <p:cNvSpPr/>
          <p:nvPr/>
        </p:nvSpPr>
        <p:spPr>
          <a:xfrm>
            <a:off x="5230368" y="2884932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76672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误差判据：|x| &gt; 1.0 cm 触发修正（阈值 0 会让机器人在噪声里抖）</a:t>
            </a:r>
          </a:p>
        </p:txBody>
      </p:sp>
      <p:sp>
        <p:nvSpPr>
          <p:cNvPr id="38" name="Oval 37"/>
          <p:cNvSpPr/>
          <p:nvPr/>
        </p:nvSpPr>
        <p:spPr>
          <a:xfrm>
            <a:off x="5230368" y="3451860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6672" y="338328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控制律：yaw = clamp(x / 2, −10°, +10°)，比例增益 1/2</a:t>
            </a:r>
          </a:p>
        </p:txBody>
      </p:sp>
      <p:sp>
        <p:nvSpPr>
          <p:cNvPr id="40" name="Oval 39"/>
          <p:cNvSpPr/>
          <p:nvPr/>
        </p:nvSpPr>
        <p:spPr>
          <a:xfrm>
            <a:off x="8513064" y="2884932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59368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技能层没有二次检测，是一次开环修正（闭环已实现于 design/run_sim.py，见 P28）</a:t>
            </a:r>
          </a:p>
        </p:txBody>
      </p:sp>
      <p:sp>
        <p:nvSpPr>
          <p:cNvPr id="42" name="Oval 41"/>
          <p:cNvSpPr/>
          <p:nvPr/>
        </p:nvSpPr>
        <p:spPr>
          <a:xfrm>
            <a:off x="8513064" y="3634740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59368" y="356616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x(cm) → yaw(deg) 缺雅可比；设计相机模型（640×480 / HFOV 70°）下控制律偏小约 2.5 倍</a:t>
            </a:r>
          </a:p>
        </p:txBody>
      </p:sp>
      <p:sp>
        <p:nvSpPr>
          <p:cNvPr id="44" name="Oval 43"/>
          <p:cNvSpPr/>
          <p:nvPr/>
        </p:nvSpPr>
        <p:spPr>
          <a:xfrm>
            <a:off x="8513064" y="4384548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59368" y="4315968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执行的是 hip_yaw，双脚着地时不改变机体朝向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30368" y="5065776"/>
            <a:ext cx="6199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31536" y="5111496"/>
            <a:ext cx="57972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③ 考核指标　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踢球成功率 ≥ 70%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球距 10–20 cm；当前无实测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五项任务闭环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4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38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关节轨迹已经能算，音乐还没有出声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舞蹈不是播视频，是每个关节按时间轴算出来的轨迹。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22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关节 · 时间轴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2215" y="202996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实现完成度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2215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08676" y="2267712"/>
            <a:ext cx="431596" cy="11887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5136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1597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68058" y="2267712"/>
            <a:ext cx="431596" cy="11887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7671" y="22128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2/5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695" y="2450592"/>
            <a:ext cx="4160520" cy="312724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" y="2615184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① 流程链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1151" y="2907792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2591" y="2907792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麦克风拾音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2227" y="3255264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1151" y="3429000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591" y="3429000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离线关键词识别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2227" y="377647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1151" y="3950208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2591" y="3950208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音频播放（未实现）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32227" y="4297680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1151" y="4471416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2591" y="4471416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22 DOF 短舞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32227" y="4818888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1151" y="4992624"/>
            <a:ext cx="372160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2591" y="4992624"/>
            <a:ext cx="35387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语音应答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" y="5321808"/>
            <a:ext cx="3721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视觉：cerebellum.dance() 真实帧生成代码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30368" y="2450592"/>
            <a:ext cx="2916936" cy="29260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0096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● 已实现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13064" y="2450592"/>
            <a:ext cx="2916936" cy="292608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22792" y="2450592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○ 待开发</a:t>
            </a:r>
          </a:p>
        </p:txBody>
      </p:sp>
      <p:sp>
        <p:nvSpPr>
          <p:cNvPr id="39" name="Oval 38"/>
          <p:cNvSpPr/>
          <p:nvPr/>
        </p:nvSpPr>
        <p:spPr>
          <a:xfrm>
            <a:off x="5230368" y="2884932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76672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关键词识别与 TTS 抽象接口：MockKeywordRecognizer / MockTTS / MacOSTTS</a:t>
            </a:r>
          </a:p>
        </p:txBody>
      </p:sp>
      <p:sp>
        <p:nvSpPr>
          <p:cNvPr id="41" name="Oval 40"/>
          <p:cNvSpPr/>
          <p:nvPr/>
        </p:nvSpPr>
        <p:spPr>
          <a:xfrm>
            <a:off x="5230368" y="3634740"/>
            <a:ext cx="45720" cy="457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76672" y="356616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舞蹈轨迹生成真实参数：head_yaw ±20°(2π)、head_pitch ±10°(4π)、trunk_roll ±4°、hip_pitch ∓8° 反相、shoulder_pitch ∓20° 反相、elbow_pitch −25°±15°</a:t>
            </a:r>
          </a:p>
        </p:txBody>
      </p:sp>
      <p:sp>
        <p:nvSpPr>
          <p:cNvPr id="43" name="Oval 42"/>
          <p:cNvSpPr/>
          <p:nvPr/>
        </p:nvSpPr>
        <p:spPr>
          <a:xfrm>
            <a:off x="8513064" y="2884932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59368" y="2816352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全仓无音频播放代码，只有 TTS 文本；「音乐播放」是设计目标</a:t>
            </a:r>
          </a:p>
        </p:txBody>
      </p:sp>
      <p:sp>
        <p:nvSpPr>
          <p:cNvPr id="45" name="Oval 44"/>
          <p:cNvSpPr/>
          <p:nvPr/>
        </p:nvSpPr>
        <p:spPr>
          <a:xfrm>
            <a:off x="8513064" y="3451860"/>
            <a:ext cx="45720" cy="45720"/>
          </a:xfrm>
          <a:prstGeom prst="ellipse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9368" y="3383280"/>
            <a:ext cx="2770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VoiceService 尚未接入 Brain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30368" y="5065776"/>
            <a:ext cx="6199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31536" y="5111496"/>
            <a:ext cx="57972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③ 考核指标　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连续执行完成度 100%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本地 TTS 响应延迟 ≤1 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五项任务闭环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4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39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这四块空白是计划内的，产出一项补一项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已跑通的部分全部可当场复现；没跑的写待测。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231136"/>
            <a:ext cx="5059969" cy="987552"/>
          </a:xfrm>
          <a:prstGeom prst="rect">
            <a:avLst/>
          </a:prstGeom>
          <a:solidFill>
            <a:srgbClr val="F7F9FB"/>
          </a:solidFill>
          <a:ln w="12700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" y="2505456"/>
            <a:ext cx="505996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仿真截图位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" y="2761488"/>
            <a:ext cx="505996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Webots 双足行走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2962656"/>
            <a:ext cx="50599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阶段二产出后补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984" y="2231136"/>
            <a:ext cx="5059969" cy="987552"/>
          </a:xfrm>
          <a:prstGeom prst="rect">
            <a:avLst/>
          </a:prstGeom>
          <a:solidFill>
            <a:srgbClr val="F7F9FB"/>
          </a:solidFill>
          <a:ln w="12700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5984" y="2505456"/>
            <a:ext cx="505996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实机截图位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984" y="2761488"/>
            <a:ext cx="505996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三项视觉任务实测画面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984" y="2962656"/>
            <a:ext cx="50599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阶段三产出后补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695" y="3364992"/>
            <a:ext cx="5059969" cy="987552"/>
          </a:xfrm>
          <a:prstGeom prst="rect">
            <a:avLst/>
          </a:prstGeom>
          <a:solidFill>
            <a:srgbClr val="F7F9FB"/>
          </a:solidFill>
          <a:ln w="12700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" y="3639312"/>
            <a:ext cx="505996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指标数据表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" y="3895344"/>
            <a:ext cx="505996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单项成功率与测试日期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" y="4096512"/>
            <a:ext cx="50599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每轮测试后更新，见 P47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5984" y="3364992"/>
            <a:ext cx="5059969" cy="987552"/>
          </a:xfrm>
          <a:prstGeom prst="rect">
            <a:avLst/>
          </a:prstGeom>
          <a:solidFill>
            <a:srgbClr val="F7F9FB"/>
          </a:solidFill>
          <a:ln w="12700">
            <a:solidFill>
              <a:srgbClr val="9CC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5984" y="3639312"/>
            <a:ext cx="505996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演示视频位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984" y="3895344"/>
            <a:ext cx="505996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3 分钟实物视频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984" y="4096512"/>
            <a:ext cx="50599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阶段三产出后补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695" y="4700016"/>
            <a:ext cx="10668579" cy="96926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439" y="4882896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现在就能拿出的证据</a:t>
            </a:r>
          </a:p>
          <a:p>
            <a:pPr algn="l">
              <a:spcBef>
                <a:spcPts val="500"/>
              </a:spcBef>
            </a:pPr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完整清单与命令见 P31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90118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视觉伺服鲁棒性边界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512064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12/12 · 9/12 · 4/12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490118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设计包测试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1" y="512064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133 项 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90118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五项任务闭环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78824" y="512064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5/5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3035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070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91055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2140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5176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82111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12463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4281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7316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3387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64223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94575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24927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8563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1598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4633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7668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0704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66774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19809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30352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60704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91055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21408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651760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182111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712463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242816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773168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303520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833872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364223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05840" y="210312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0" i="0">
                <a:solidFill>
                  <a:srgbClr val="1B3A5C"/>
                </a:solidFill>
                <a:latin typeface="Source Han Sans SC Heavy"/>
                <a:ea typeface="Source Han Sans SC Heavy"/>
                <a:cs typeface="Source Han Sans SC Heavy"/>
              </a:rPr>
              <a:t>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5" y="3584448"/>
            <a:ext cx="731520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3877056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我们的创新不在重新发明双足机器人，在任务如何被描述与执行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95604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特色与创新 · P40–P44</a:t>
            </a:r>
          </a:p>
        </p:txBody>
      </p:sp>
      <p:sp>
        <p:nvSpPr>
          <p:cNvPr id="42" name="Oval 41"/>
          <p:cNvSpPr/>
          <p:nvPr/>
        </p:nvSpPr>
        <p:spPr>
          <a:xfrm>
            <a:off x="10835640" y="1417320"/>
            <a:ext cx="91440" cy="914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881360" y="14630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0835640" y="16002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881360" y="16459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835640" y="17830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881360" y="18288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835640" y="19659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0881360" y="20116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835640" y="21488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0881360" y="21945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0835640" y="23317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0881360" y="2377439"/>
            <a:ext cx="0" cy="137161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835640" y="25146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0881360" y="25603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0835640" y="26974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0881360" y="27432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0835640" y="28803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881360" y="29260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0835640" y="30632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881360" y="31089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835640" y="32461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0881360" y="3291839"/>
            <a:ext cx="0" cy="137161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0835640" y="34290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0881360" y="34747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0835640" y="36118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0881360" y="36576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0835640" y="37947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0881360" y="38404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0835640" y="39776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0881360" y="40233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10835640" y="41605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10881360" y="42062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0835640" y="43434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0881360" y="43891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0835640" y="45262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10881360" y="45720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10835640" y="47091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10881360" y="47548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0835640" y="48920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10881360" y="49377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0835640" y="50749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881360" y="51206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0835640" y="52578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05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特色与创新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5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41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五项任务不是五套程序，是五份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把「任务」从代码里拿出来，变成可替换的数据。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5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张任务卡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" y="2523744"/>
            <a:ext cx="19142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统一任务描述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667" y="2523744"/>
            <a:ext cx="21945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411" y="2523744"/>
            <a:ext cx="19142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FSM 调度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382" y="2523744"/>
            <a:ext cx="21945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26" y="2523744"/>
            <a:ext cx="19142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技能库执行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5098" y="2523744"/>
            <a:ext cx="21945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2842" y="2523744"/>
            <a:ext cx="19142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感知反馈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8814" y="2523744"/>
            <a:ext cx="21945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558" y="2523744"/>
            <a:ext cx="19142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Source Han Sans SC Heavy"/>
                <a:ea typeface="Source Han Sans SC Heavy"/>
                <a:cs typeface="Source Han Sans SC Heavy"/>
              </a:rPr>
              <a:t>回到 FSM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" y="3090672"/>
            <a:ext cx="106685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task_cards/*.json　→　fsm.py　→　skills/*.py　→　perception/*.py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1695" y="3474720"/>
            <a:ext cx="10668579" cy="32918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" y="3474720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7775" y="3474720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常规做法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8255" y="3474720"/>
            <a:ext cx="3813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本方案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" y="3803904"/>
            <a:ext cx="2651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任务是什么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7775" y="3803904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一段主程序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8255" y="3803904"/>
            <a:ext cx="38130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一份 JSON 数据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1695" y="4279392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3135" y="4279392"/>
            <a:ext cx="2651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任务之间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7775" y="4279392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if 硬分叉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8255" y="4279392"/>
            <a:ext cx="38130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FSM 状态流转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61695" y="4754879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53135" y="4754879"/>
            <a:ext cx="2651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新增能力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7775" y="4754879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改主程序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8255" y="4754879"/>
            <a:ext cx="38130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加一个技能类 + 改一行白名单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61695" y="5230367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61695" y="5394960"/>
            <a:ext cx="10668579" cy="65836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1151" y="5394960"/>
            <a:ext cx="1022966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口径：本创新为系统架构层面，非算法原创。不宣称「完全不用改调度器」——白名单那一行目前仍需改（见 P23）。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05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特色与创新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5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42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把配置从电脑里搬到了地板上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现场改任务的成本，从「重编译」降到「换一张贴纸」。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换一张贴纸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512064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9439" y="2578608"/>
            <a:ext cx="4645152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常规做法</a:t>
            </a:r>
          </a:p>
          <a:p>
            <a:pPr algn="l">
              <a:lnSpc>
                <a:spcPct val="142000"/>
              </a:lnSpc>
              <a:spcBef>
                <a:spcPts val="800"/>
              </a:spcBef>
            </a:pPr>
            <a:r>
              <a:rPr sz="11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二维码 = 位置标识，路径写死在代码里。换一条路线就要改程序、重新烧录。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695" y="3968496"/>
            <a:ext cx="5120640" cy="1389888"/>
          </a:xfrm>
          <a:prstGeom prst="rect">
            <a:avLst/>
          </a:prstGeom>
          <a:solidFill>
            <a:srgbClr val="DCE9F4"/>
          </a:solidFill>
          <a:ln w="15875">
            <a:solidFill>
              <a:srgbClr val="126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9439" y="4096512"/>
            <a:ext cx="4645152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本方案</a:t>
            </a:r>
          </a:p>
          <a:p>
            <a:pPr algn="l">
              <a:lnSpc>
                <a:spcPct val="142000"/>
              </a:lnSpc>
              <a:spcBef>
                <a:spcPts val="800"/>
              </a:spcBef>
            </a:pPr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二维码 = 指令载体，内容就是 JSON。现场贴一张新码就是一条新路径。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450592"/>
            <a:ext cx="521208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450592"/>
            <a:ext cx="41148" cy="8778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569464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赛前改路线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834640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不用重编译、不用带电脑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419856"/>
            <a:ext cx="521208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419856"/>
            <a:ext cx="41148" cy="8778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538728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现场换任务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803904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同一台机器人切换成完全不同的任务序列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389120"/>
            <a:ext cx="521208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389120"/>
            <a:ext cx="41148" cy="8778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50799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教学场景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477316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学生改路径只需要改一张贴纸，理解成本几乎为零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1695" y="5394960"/>
            <a:ext cx="10668579" cy="65836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1151" y="5394960"/>
            <a:ext cx="1022966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二维码承载的是结构化指令，不是可执行代码；不做任意代码执行。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05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特色与创新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5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43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动作由误差决定，不是由固定坐标决定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这一条的闭环已经跑出收敛数据，缺的是把它搬进技能层。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±1.0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5120640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9439" y="2596896"/>
            <a:ext cx="4645152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固定脚本</a:t>
            </a:r>
          </a:p>
          <a:p>
            <a:pPr algn="l">
              <a:lnSpc>
                <a:spcPct val="142000"/>
              </a:lnSpc>
              <a:spcBef>
                <a:spcPts val="800"/>
              </a:spcBef>
            </a:pPr>
            <a:r>
              <a:rPr sz="11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目标必须在 A 点 → 播放动作 → 结束。位置不对就失败，没有任何补救。</a:t>
            </a:r>
          </a:p>
          <a:p>
            <a:pPr algn="l">
              <a:spcBef>
                <a:spcPts val="1200"/>
              </a:spcBef>
            </a:pP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判据：无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695" y="4279392"/>
            <a:ext cx="5120640" cy="1700784"/>
          </a:xfrm>
          <a:prstGeom prst="rect">
            <a:avLst/>
          </a:prstGeom>
          <a:solidFill>
            <a:srgbClr val="DCE9F4"/>
          </a:solidFill>
          <a:ln w="15875">
            <a:solidFill>
              <a:srgbClr val="126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9439" y="4425696"/>
            <a:ext cx="4645152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本方案</a:t>
            </a:r>
          </a:p>
          <a:p>
            <a:pPr algn="l">
              <a:lnSpc>
                <a:spcPct val="142000"/>
              </a:lnSpc>
              <a:spcBef>
                <a:spcPts val="800"/>
              </a:spcBef>
            </a:pPr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检测 → 算误差 → 判定 → 调整。动作由误差决定，不是由固定坐标决定。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9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判据：|x| &gt; 1.0 cm 触发修正；yaw = clamp(x/2, ±10°)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450592"/>
            <a:ext cx="521208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596896"/>
            <a:ext cx="4736592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边界（写清楚）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· 技能层仍是一次开环修正；闭环形态已实现于设计数据包，待移植（见 P28）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· 是比例控制，不是学习型策略；增益与阈值是工程整定值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· 缺相机到关节角的雅可比：按设计相机模型估算，控制律偏小约 2.5 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79392"/>
            <a:ext cx="5212080" cy="170078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4425696"/>
            <a:ext cx="4736592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这一条的现状</a:t>
            </a:r>
          </a:p>
          <a:p>
            <a:pPr algn="l">
              <a:lnSpc>
                <a:spcPct val="142000"/>
              </a:lnSpc>
              <a:spcBef>
                <a:spcPts val="800"/>
              </a:spcBef>
            </a:pPr>
            <a:r>
              <a:rPr sz="10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闭环控制律已在 design/run_sim.py 中实现并跑出收敛序列（seed 20260910：5 cm → 4 轮 → 0.38；12 cm → 6 轮 → 0.48；20 cm → 7 轮 → 0.35），带噪感知下 ideal 12/12、harsh 9/12、adversarial 4/12。</a:t>
            </a:r>
          </a:p>
          <a:p>
            <a:pPr algn="l">
              <a:lnSpc>
                <a:spcPct val="142000"/>
              </a:lnSpc>
              <a:spcBef>
                <a:spcPts val="600"/>
              </a:spcBef>
            </a:pPr>
            <a:r>
              <a:rPr sz="1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尚未接进技能层 kick.py——那是移植，不是从零写。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05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特色与创新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5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44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三个条件必须同时成立，少一个都不叫能进课堂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单看每一条都不稀奇，三条同时满足才是这个项目的位置。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3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个条件必须同时成立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10668579" cy="310896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" y="245059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9055" y="2450592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为什么必须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0975" y="2450592"/>
            <a:ext cx="49103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怎么做到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" y="2761488"/>
            <a:ext cx="14630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全离线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9055" y="2761488"/>
            <a:ext cx="3749039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赛场断网是常态；教学场景对数据外传有顾虑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0975" y="2761488"/>
            <a:ext cx="4910328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人脸检测 / 二维码解码 / TTS 全部板载，主流程零网络出站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695" y="3566160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3135" y="3566160"/>
            <a:ext cx="14630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两千八百元级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9055" y="3566160"/>
            <a:ext cx="3749039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万元级设备无法成班配置，「可复现」无从谈起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0975" y="3566160"/>
            <a:ext cx="4910328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标准总线舵机 + 3D 打印结构 + 借用实验室已有计算板，新增 ¥2100–2800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1695" y="4370832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3135" y="4370832"/>
            <a:ext cx="14630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可复现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99055" y="4370832"/>
            <a:ext cx="3749039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别人照着做不出来，就不算平台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0975" y="4370832"/>
            <a:ext cx="4910328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设计模型、代码、仿真、工程图、日志同一套 Git 仓库；核心零第三方依赖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1695" y="5175504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61695" y="5321808"/>
            <a:ext cx="10668579" cy="585216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1151" y="5321808"/>
            <a:ext cx="1022966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这三条互相约束——为了便宜要砍自由度，为了离线要压模型，为了可复现要限依赖。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3035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070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91055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2140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5176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82111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12463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4281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7316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3387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64223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94575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24927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8563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1598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4633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76688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07040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137392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667744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198096" y="0"/>
            <a:ext cx="0" cy="685800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30352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60704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91055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21408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651760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182111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712463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242816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773168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303520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833872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364223"/>
            <a:ext cx="12191969" cy="0"/>
          </a:xfrm>
          <a:prstGeom prst="line">
            <a:avLst/>
          </a:prstGeom>
          <a:ln w="6350">
            <a:solidFill>
              <a:srgbClr val="1430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05840" y="210312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0" i="0">
                <a:solidFill>
                  <a:srgbClr val="1B3A5C"/>
                </a:solidFill>
                <a:latin typeface="Source Han Sans SC Heavy"/>
                <a:ea typeface="Source Han Sans SC Heavy"/>
                <a:cs typeface="Source Han Sans SC Heavy"/>
              </a:rPr>
              <a:t>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5" y="3584448"/>
            <a:ext cx="731520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3877056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做到哪一步、谁在做、要多少钱、万一做不成怎么办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95604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验证与推进 · P45–P51</a:t>
            </a:r>
          </a:p>
        </p:txBody>
      </p:sp>
      <p:sp>
        <p:nvSpPr>
          <p:cNvPr id="42" name="Oval 41"/>
          <p:cNvSpPr/>
          <p:nvPr/>
        </p:nvSpPr>
        <p:spPr>
          <a:xfrm>
            <a:off x="10835640" y="1417320"/>
            <a:ext cx="91440" cy="914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881360" y="14630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0835640" y="16002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881360" y="16459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835640" y="17830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881360" y="18288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835640" y="19659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0881360" y="20116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835640" y="21488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0881360" y="21945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0835640" y="23317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0881360" y="2377439"/>
            <a:ext cx="0" cy="137161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835640" y="25146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0881360" y="25603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0835640" y="26974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0881360" y="27432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0835640" y="28803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881360" y="29260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0835640" y="30632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881360" y="31089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835640" y="32461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0881360" y="3291839"/>
            <a:ext cx="0" cy="137161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0835640" y="34290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0881360" y="34747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0835640" y="36118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0881360" y="36576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0835640" y="37947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0881360" y="38404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0835640" y="39776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0881360" y="40233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10835640" y="41605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10881360" y="42062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0835640" y="43434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0881360" y="438912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0835640" y="452628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10881360" y="457200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10835640" y="470916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10881360" y="475488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0835640" y="489204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10881360" y="493776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0835640" y="507492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881360" y="5120640"/>
            <a:ext cx="0" cy="137160"/>
          </a:xfrm>
          <a:prstGeom prst="line">
            <a:avLst/>
          </a:prstGeom>
          <a:ln w="12700">
            <a:solidFill>
              <a:srgbClr val="2E5A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0835640" y="5257800"/>
            <a:ext cx="91440" cy="91440"/>
          </a:xfrm>
          <a:prstGeom prst="ellipse">
            <a:avLst/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06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验证与推进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6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46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四个我们预判会被问到的问题，先给出答案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答法正在同步进 项目文档/答辩Q&amp;A.md；本页以下的答案以本稿为准。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194560"/>
            <a:ext cx="5169697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695" y="2194560"/>
            <a:ext cx="5169697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7727" y="2468880"/>
            <a:ext cx="465763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为什么晋级后才做样机？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17727" y="3145536"/>
            <a:ext cx="4657633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17727" y="3310128"/>
            <a:ext cx="4657633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</a:pPr>
            <a:r>
              <a:rPr sz="11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报名阶段以「方案设计 + 设计模型 + 软件栈 + 仿真」为交付，避免在无明确晋级信号前投入整机成本。推进顺序是 0 预算 → 借用平台 → 自组样机。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0576" y="2194560"/>
            <a:ext cx="5169697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0576" y="2194560"/>
            <a:ext cx="5169697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6608" y="2468880"/>
            <a:ext cx="465763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你们的创新到底是什么？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16608" y="3145536"/>
            <a:ext cx="4657634" cy="0"/>
          </a:xfrm>
          <a:prstGeom prst="line">
            <a:avLst/>
          </a:prstGeom>
          <a:ln w="12700">
            <a:solidFill>
              <a:srgbClr val="9CC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16608" y="3310128"/>
            <a:ext cx="4657633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</a:pPr>
            <a:r>
              <a:rPr sz="11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不做「重新发明双足机器人」的包装。技术主线是在有限算力与断网条件下，用统一任务描述驱动一台小型双足机器人完成五项赛题任务。原创性主要在系统架构与工程实现，不在算法。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1695" y="4754880"/>
            <a:ext cx="5169697" cy="124358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7727" y="4901184"/>
            <a:ext cx="465763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现在到底完成了什么？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727" y="5193792"/>
            <a:ext cx="4657633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22 关节设计模型与 4 张工程图、22 DOF Webots 世界与控制器、133 项测试、五项任务无硬件闭环 5/5、任务卡与动作库规范。没有实物样机，没有实机实测数据。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0576" y="4754880"/>
            <a:ext cx="5169697" cy="124358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6608" y="4901184"/>
            <a:ext cx="465763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断网后语音 / 人脸 / 二维码还能用吗？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6608" y="5193792"/>
            <a:ext cx="4657633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二维码解码与 TTS 是纯本地路径；人脸检测为本地 Haar，身份比对尚未实现。离线是设计目标且软件路径已具备，实机验证在样机阶段。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06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验证与推进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6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47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四项已经出了结果，其余写清怎么测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每个指标都写清「怎么测」，不留模糊。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4 项</a:t>
            </a:r>
            <a:r>
              <a:rPr sz="13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已有结果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14016"/>
            <a:ext cx="10668579" cy="1170432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9439" y="252374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现在就有结果的四项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9439" y="277977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测试通过率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1159" y="27523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133 / 133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9439" y="295351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python3 -m unittest discover -s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9807" y="277977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五项任务软件闭环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1527" y="27523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5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9807" y="295351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python3 run_demo.py --fast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439" y="3163824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伺服闭环收敛（20cm）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1159" y="31363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7 轮 / 0.85cm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439" y="3337560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design/run_sim.py::servo_loop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9807" y="3163824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鲁棒性边界（harsh / 对抗）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1527" y="31363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9/12 · 4/12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9807" y="3337560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run_sim.py --sweep perception --episodes 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1695" y="3767328"/>
            <a:ext cx="10668579" cy="256032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135" y="376732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3615" y="37673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目标值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3767328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验证方式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" y="4023360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双足连续行走距离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3615" y="402336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≥1.0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5295" y="4023360"/>
            <a:ext cx="463600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带重力与接触的动力学世界 → 借机实测（当前世界零重力，不承担此项）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61695" y="4334256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53135" y="4334256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地面 QR 识别成功率 / 指令正确率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615" y="433425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≥90% / ≥95%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5295" y="4334256"/>
            <a:ext cx="463600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固定光照、≤1 m；10 组指令回放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61695" y="4645152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3135" y="4645152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人脸检测成功率（身份比对未实现）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3615" y="464515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≥90%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5295" y="4645152"/>
            <a:ext cx="463600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固定光照、≤1.5 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61695" y="4956048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53135" y="495604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物品抓取成功率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3615" y="4956048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≥80%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05295" y="4956048"/>
            <a:ext cx="463600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轻物 ≤100 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61695" y="5266944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53135" y="526694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视觉定位踢球成功率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93615" y="5266944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≥70%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05295" y="5266944"/>
            <a:ext cx="463600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球距 10–20 cm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61695" y="5577840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53135" y="5577840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离线运行时间 / 本地 TTS 延迟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3615" y="557784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≥30 min / ≤1 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05295" y="5577840"/>
            <a:ext cx="463600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样机满电实测；TTS 延迟现可在 macOS 实测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61695" y="5888736"/>
            <a:ext cx="10668579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61695" y="3547872"/>
            <a:ext cx="106685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口径：下表的「当前结果」列在样机测试前保持空白；目标值可在仿真/借机阶段按实际调参更新。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06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验证与推进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6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48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四个阶段，每个阶段都有出口条件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阶段二至四的时间点依赖官方赛程，不在此页承诺具体日期。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2121408"/>
            <a:ext cx="2301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阶段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1695" y="2359152"/>
            <a:ext cx="0" cy="91440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63079" y="2121408"/>
            <a:ext cx="2301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阶段 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079" y="2359152"/>
            <a:ext cx="0" cy="91440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64464" y="2121408"/>
            <a:ext cx="2301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阶段 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64464" y="2359152"/>
            <a:ext cx="0" cy="91440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65849" y="2121408"/>
            <a:ext cx="2301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阶段 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65849" y="2359152"/>
            <a:ext cx="0" cy="91440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07415" y="2468880"/>
            <a:ext cx="2209944" cy="36575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" y="2468880"/>
            <a:ext cx="2045352" cy="36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一 · 方案设计与报名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" y="2468880"/>
            <a:ext cx="0" cy="36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3108799" y="2688336"/>
            <a:ext cx="2209944" cy="36575"/>
          </a:xfrm>
          <a:prstGeom prst="rect">
            <a:avLst/>
          </a:prstGeom>
          <a:solidFill>
            <a:srgbClr val="12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91095" y="2688336"/>
            <a:ext cx="2045352" cy="36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二 · 仿真与借机验证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" y="2688336"/>
            <a:ext cx="0" cy="36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5410184" y="2907792"/>
            <a:ext cx="2209944" cy="36575"/>
          </a:xfrm>
          <a:prstGeom prst="rect">
            <a:avLst/>
          </a:prstGeom>
          <a:solidFill>
            <a:srgbClr val="5B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2480" y="2907792"/>
            <a:ext cx="2045352" cy="36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三 · 硬件自组与离线实测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" y="2907792"/>
            <a:ext cx="0" cy="36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711569" y="3127248"/>
            <a:ext cx="2209944" cy="36575"/>
          </a:xfrm>
          <a:prstGeom prst="rect">
            <a:avLst/>
          </a:prstGeom>
          <a:solidFill>
            <a:srgbClr val="C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3865" y="3127248"/>
            <a:ext cx="2045352" cy="36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四 · 全流程彩排与优化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" y="3127248"/>
            <a:ext cx="0" cy="36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10150114" y="2121408"/>
            <a:ext cx="1280160" cy="11521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78130" y="2176272"/>
            <a:ext cx="1042415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出口条件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材料可复现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80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（行走 ≥1 m 在阶段三）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22/22 绑定 + 五任务连续两轮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五任务各跑通一次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连续两次成功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" y="349300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风险与应对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1695" y="3730752"/>
            <a:ext cx="10668579" cy="457200"/>
          </a:xfrm>
          <a:prstGeom prst="rect">
            <a:avLst/>
          </a:prstGeom>
          <a:solidFill>
            <a:srgbClr val="E8F0F7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2863" y="37307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整机质量 2263 g，超原设计预算 37.2%；腿部力矩占额定 115%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8055" y="3730752"/>
            <a:ext cx="53010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结构减重已在数学上堵死（需砍掉 54% 结构）；换 SM45BL 舵机可行但成本升至 ¥4856；降动态系数（2.0 → 1.4）零硬件成本、可回到 81% 额定——待核对评分细则是否限速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1695" y="4224528"/>
            <a:ext cx="10668579" cy="292608"/>
          </a:xfrm>
          <a:prstGeom prst="rect">
            <a:avLst/>
          </a:prstGeom>
          <a:solidFill>
            <a:srgbClr val="E8F0F7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2863" y="422452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舵机装不进关节壳（0/8 通过）、电池放不下（105 &gt; 94 mm）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8055" y="4224528"/>
            <a:ext cx="530105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按真实元件尺寸重做关节壳与电池仓，或改用更小容量电池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1695" y="4553712"/>
            <a:ext cx="10668579" cy="292608"/>
          </a:xfrm>
          <a:prstGeom prst="rect">
            <a:avLst/>
          </a:prstGeom>
          <a:solidFill>
            <a:srgbClr val="E8F0F7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2863" y="4553712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上肢+躯干 = 10 压线，夹爪是否计入上肢关节口径未定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28055" y="4553712"/>
            <a:ext cx="530105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报名前向组委会书面确认；若口径收紧，优先增加躯干自由度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1695" y="4882896"/>
            <a:ext cx="1066857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2863" y="488289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技能层开环、缺雅可比；闭环待移植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8055" y="4882896"/>
            <a:ext cx="530105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把 run_sim.py 的闭环搬进 kick.py，并标定像素—角度映射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1695" y="5212080"/>
            <a:ext cx="1066857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2863" y="521208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Webots 世界为零重力运动学世界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28055" y="5212080"/>
            <a:ext cx="530105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不承担「行走 ≥1 m」指标；需新建带重力与接触的动力学世界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1695" y="5541264"/>
            <a:ext cx="1066857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2863" y="5541264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人脸身份比对模块缺失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28055" y="5541264"/>
            <a:ext cx="530105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阶段二第一优先项，先做 5 人以内的局部特征比对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64687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56127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06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验证与推进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6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49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两千八百元级，附一条成本困局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基于已确认元件参数；同时把「换更强舵机」这条出路的价格也写出来。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1695" y="1993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¥2788–3456</a:t>
            </a:r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 全口径 BOM（借用主控与已有电池后 ¥2100–2800）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2450592"/>
            <a:ext cx="6903720" cy="274320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" y="245059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类别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1815" y="2450592"/>
            <a:ext cx="44805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明细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5255" y="24505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小计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" y="2724912"/>
            <a:ext cx="685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舵机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1815" y="2724912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飞特 STS3215 × 22 @ ¥85–95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255" y="272491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¥1870–2090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695" y="3163824"/>
            <a:ext cx="690372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3135" y="3163824"/>
            <a:ext cx="685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电子件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1815" y="3163824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树莓派 4B / STM32F405 / URT-1 驱动板 / 相机 / 麦克风 / 功放喇叭 / IMU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5255" y="316382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¥515–735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1695" y="3602736"/>
            <a:ext cx="690372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3135" y="3602736"/>
            <a:ext cx="685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电源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21815" y="3602736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3S 11.1V 2200–3000mAh + XL4015 降压 + XT60 接插件线材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5255" y="360273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¥123–185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1695" y="4041648"/>
            <a:ext cx="690372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3135" y="4041648"/>
            <a:ext cx="685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标准件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21815" y="4041648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MF106ZZ 轴承 × 22 + 25T 金属舵盘 × 22（不可打印）+ 热熔铜螺母 + 螺钉 + 线束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5255" y="404164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¥220–356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1695" y="4480560"/>
            <a:ext cx="690372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3135" y="4480560"/>
            <a:ext cx="685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打印耗材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21815" y="4480560"/>
            <a:ext cx="448055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结构件净重 552 g × 损耗 1.35 = 745 g → 1 卷 PETG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5255" y="4480560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¥60–90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1695" y="4919472"/>
            <a:ext cx="6903720" cy="0"/>
          </a:xfrm>
          <a:prstGeom prst="line">
            <a:avLst/>
          </a:prstGeom>
          <a:ln w="6350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61695" y="4974336"/>
            <a:ext cx="6903720" cy="402336"/>
          </a:xfrm>
          <a:prstGeom prst="rect">
            <a:avLst/>
          </a:prstGeom>
          <a:solidFill>
            <a:srgbClr val="DC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4575" y="4974336"/>
            <a:ext cx="4480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合计</a:t>
            </a:r>
            <a:r>
              <a:rPr sz="7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　队员自备 FDM 打印机，只算耗材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4974336"/>
            <a:ext cx="14173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¥2788–3456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2450592"/>
            <a:ext cx="3566160" cy="87782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65008" y="2560320"/>
            <a:ext cx="3163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全口径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2761488"/>
            <a:ext cx="31638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¥2788–3456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3017520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含主控与电池；上限贴 3600 元申报预算的边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3419856"/>
            <a:ext cx="3566160" cy="87782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5008" y="3529584"/>
            <a:ext cx="3163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可省后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8" y="3730752"/>
            <a:ext cx="31638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¥2100–2800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3986784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借树莓派 −350~500 / 已有电池 −85~120 / 舵盘随舵机附赠 −88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4389120"/>
            <a:ext cx="35661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4498848"/>
            <a:ext cx="3163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换 SM45BL 舵机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8" y="4700016"/>
            <a:ext cx="31638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¥4856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5008" y="4956048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升级 7 个关节，成本 +35%；力矩回到 89% 额定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1695" y="5449824"/>
            <a:ext cx="10668579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1151" y="5449824"/>
            <a:ext cx="1022966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口径：</a:t>
            </a:r>
            <a:r>
              <a:rPr sz="90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设计目标清单，尚未采购；价格为量级估算，随行就市。若评分细则不限速，降动态系数（2.0 → 1.4）是零硬件成本的出路。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695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06</a:t>
            </a:r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 验证与推进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65760"/>
            <a:ext cx="51821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第 6 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61695" y="6217920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1695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A.T.R.I. 桌面自主人形智能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6419088"/>
            <a:ext cx="51821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50 /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713232"/>
            <a:ext cx="106685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五个方向、五个接口：谁定义关节角度，谁保证关节真的转到了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1481328"/>
            <a:ext cx="10668579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交付物按「已完成 / 进行中 / 规划中」分别标注。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847088"/>
            <a:ext cx="10668579" cy="0"/>
          </a:xfrm>
          <a:prstGeom prst="line">
            <a:avLst/>
          </a:prstGeom>
          <a:ln w="9525">
            <a:solidFill>
              <a:srgbClr val="D8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1695" y="2176272"/>
            <a:ext cx="1066857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695" y="2176272"/>
            <a:ext cx="41148" cy="60350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9439" y="2176272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何浩睿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7615" y="2176272"/>
            <a:ext cx="2103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项目负责人 · 机械与步态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2175" y="2176272"/>
            <a:ext cx="44805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22 DOF 机构拓扑、3D 打印装配、舵机选型与扭矩校核、双足运动学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4175" y="2176272"/>
            <a:ext cx="2054931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机构三视图、装配件、步态参数表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1695" y="2834640"/>
            <a:ext cx="1066857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1695" y="2834640"/>
            <a:ext cx="41148" cy="6035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9439" y="2834640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周柏宇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7615" y="2834640"/>
            <a:ext cx="2103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项目统筹 · 系统集成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2175" y="2834640"/>
            <a:ext cx="44805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大赛申报与材料统筹、答辩汇报、软硬件联调组织与验收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4175" y="2834640"/>
            <a:ext cx="2054931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申报材料、答辩稿、联调记录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1695" y="3493008"/>
            <a:ext cx="1066857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1695" y="3493008"/>
            <a:ext cx="41148" cy="6035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" y="3493008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胡晟瑞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07615" y="3493008"/>
            <a:ext cx="2103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算法研发 · 视觉感知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2175" y="3493008"/>
            <a:ext cx="44805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人脸检测与特征匹配、二维码解码、目标检测、视觉伺服控制律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4175" y="3493008"/>
            <a:ext cx="2054931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感知模块、控制律参数、识别数据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1695" y="4151376"/>
            <a:ext cx="1066857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1695" y="4151376"/>
            <a:ext cx="41148" cy="60350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9439" y="4151376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王旭琪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07615" y="4151376"/>
            <a:ext cx="2103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系统架构 · 交互与仿真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2175" y="4151376"/>
            <a:ext cx="44805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大脑 FSM 与任务卡规范、技能库接口、离线语音、Webots 仿真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4175" y="4151376"/>
            <a:ext cx="2054931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编排层代码、任务卡规范、仿真工程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1695" y="4809744"/>
            <a:ext cx="1066857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1695" y="4809744"/>
            <a:ext cx="41148" cy="603504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9439" y="4809744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0A2540"/>
                </a:solidFill>
                <a:latin typeface="Source Han Sans SC Heavy"/>
                <a:ea typeface="Source Han Sans SC Heavy"/>
                <a:cs typeface="Source Han Sans SC Heavy"/>
              </a:rPr>
              <a:t>张景昆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07615" y="4809744"/>
            <a:ext cx="2103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264A3"/>
                </a:solidFill>
                <a:latin typeface="Source Han Sans SC"/>
                <a:ea typeface="Source Han Sans SC"/>
                <a:cs typeface="Source Han Sans SC"/>
              </a:rPr>
              <a:t>小脑控制 · 嵌入式联调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02175" y="4809744"/>
            <a:ext cx="44805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STM32 舵机总线驱动与 22 路标定、IMU 采集与姿态解算、串口协议、上电自检与失稳保护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4175" y="4809744"/>
            <a:ext cx="2054931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小脑固件、通信协议、标定记录、测试数据表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1695" y="5541264"/>
            <a:ext cx="10668579" cy="475488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1151" y="5541264"/>
            <a:ext cx="1022966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264A3"/>
                </a:solidFill>
                <a:latin typeface="Source Han Sans SC Heavy"/>
                <a:ea typeface="Source Han Sans SC Heavy"/>
                <a:cs typeface="Source Han Sans SC Heavy"/>
              </a:rPr>
              <a:t>接口边界：</a:t>
            </a:r>
            <a:r>
              <a:rPr sz="950" b="0" i="0">
                <a:solidFill>
                  <a:srgbClr val="1F2A37"/>
                </a:solidFill>
                <a:latin typeface="Source Han Sans SC"/>
                <a:ea typeface="Source Han Sans SC"/>
                <a:cs typeface="Source Han Sans SC"/>
              </a:rPr>
              <a:t>何浩睿定义「关节应该转到什么角度」，张景昆保证「关节确实转到了、并且系统知道它转到了」——以「关节目标角序列 + IMU 姿态回传」为界，并行推进、互不阻塞。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695" y="6016752"/>
            <a:ext cx="7132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本页状态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29791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21231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E9E7B"/>
                </a:solidFill>
                <a:latin typeface="Source Han Sans SC Heavy"/>
                <a:ea typeface="Source Han Sans SC Heavy"/>
                <a:cs typeface="Source Han Sans SC Heavy"/>
              </a:rPr>
              <a:t>●</a:t>
            </a:r>
            <a:r>
              <a:rPr sz="1050" b="0" i="0">
                <a:solidFill>
                  <a:srgbClr val="2E9E7B"/>
                </a:solidFill>
                <a:latin typeface="Source Han Sans SC"/>
                <a:ea typeface="Source Han Sans SC"/>
                <a:cs typeface="Source Han Sans SC"/>
              </a:rPr>
              <a:t> 已完成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47239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38679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◐</a:t>
            </a:r>
            <a:r>
              <a:rPr sz="1050" b="0" i="0">
                <a:solidFill>
                  <a:srgbClr val="E4572E"/>
                </a:solidFill>
                <a:latin typeface="Source Han Sans SC"/>
                <a:ea typeface="Source Han Sans SC"/>
                <a:cs typeface="Source Han Sans SC"/>
              </a:rPr>
              <a:t> 进行中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64687" y="6016752"/>
            <a:ext cx="771144" cy="237744"/>
          </a:xfrm>
          <a:prstGeom prst="rect">
            <a:avLst/>
          </a:prstGeom>
          <a:solidFill>
            <a:srgbClr val="E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56127" y="6016752"/>
            <a:ext cx="624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Source Han Sans SC Heavy"/>
                <a:ea typeface="Source Han Sans SC Heavy"/>
                <a:cs typeface="Source Han Sans SC Heavy"/>
              </a:rPr>
              <a:t>○</a:t>
            </a:r>
            <a:r>
              <a:rPr sz="1050" b="0" i="0">
                <a:solidFill>
                  <a:srgbClr val="6B7A8C"/>
                </a:solidFill>
                <a:latin typeface="Source Han Sans SC"/>
                <a:ea typeface="Source Han Sans SC"/>
                <a:cs typeface="Source Han Sans SC"/>
              </a:rPr>
              <a:t> 规划中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6350">
            <a:solidFill>
              <a:srgbClr val="0A25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61695" y="10058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06  验证与推进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695" y="148132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接下来 90 天，我们要把三件事做完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695" y="2432304"/>
            <a:ext cx="731520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1695" y="2798064"/>
            <a:ext cx="3373313" cy="1700784"/>
          </a:xfrm>
          <a:prstGeom prst="rect">
            <a:avLst/>
          </a:prstGeom>
          <a:solidFill>
            <a:srgbClr val="12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439" y="2999232"/>
            <a:ext cx="2897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439" y="3346704"/>
            <a:ext cx="289782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借到同构双足平台，跑出一段真机视频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439" y="4169663"/>
            <a:ext cx="2897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把「软件能跑」变成「机器人在动」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9328" y="2798064"/>
            <a:ext cx="3373313" cy="1700784"/>
          </a:xfrm>
          <a:prstGeom prst="rect">
            <a:avLst/>
          </a:prstGeom>
          <a:solidFill>
            <a:srgbClr val="12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7072" y="2999232"/>
            <a:ext cx="2897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7072" y="3346704"/>
            <a:ext cx="289782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在 Webots 里标定出连续行走 ≥1 m 的步态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7072" y="4169663"/>
            <a:ext cx="2897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把设计模型变成可复现的仿真结果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6961" y="2798064"/>
            <a:ext cx="3373313" cy="1700784"/>
          </a:xfrm>
          <a:prstGeom prst="rect">
            <a:avLst/>
          </a:prstGeom>
          <a:solidFill>
            <a:srgbClr val="12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4705" y="2999232"/>
            <a:ext cx="2897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4572E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4705" y="3346704"/>
            <a:ext cx="289782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移植一个已跑通的闭环，补齐两个缺失模块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4705" y="4169663"/>
            <a:ext cx="2897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把 run_sim.py 的闭环搬进技能层；补人脸身份比对与目标检测器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695" y="4956048"/>
            <a:ext cx="10668579" cy="0"/>
          </a:xfrm>
          <a:prstGeom prst="line">
            <a:avLst/>
          </a:prstGeom>
          <a:ln w="12700">
            <a:solidFill>
              <a:srgbClr val="1E4A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1695" y="513892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A.T.R.I. 桌面自主人形智能</a:t>
            </a:r>
            <a:r>
              <a:rPr sz="100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　｜　中国国际大学生创新大赛（2026）· 陕西赛区特色专项 · 小人形组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" y="54864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C0DC"/>
                </a:solidFill>
                <a:latin typeface="Source Han Sans SC"/>
                <a:ea typeface="Source Han Sans SC"/>
                <a:cs typeface="Source Han Sans SC"/>
              </a:rPr>
              <a:t>西安交通大学　｜　项目团队：何浩睿 · 周柏宇 · 胡晟瑞 · 王旭琪 · 张景昆　｜　指导教师：陈妍 · 李璐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" y="6053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恳请各位专家评委批评指正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