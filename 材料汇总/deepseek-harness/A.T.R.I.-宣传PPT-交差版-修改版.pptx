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B3D0"/>
                </a:solidFill>
                <a:latin typeface="微软雅黑"/>
                <a:ea typeface="微软雅黑"/>
              </a:rPr>
              <a:t>中国国际大学生创新大赛（2026）· 陕西赛区特色专项 · 人形机器人专项 · 小人形组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Arial"/>
                <a:ea typeface="Arial"/>
              </a:rPr>
              <a:t>A.T.R.I.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546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微软雅黑"/>
                <a:ea typeface="微软雅黑"/>
              </a:rPr>
              <a:t>桌面自主人形智能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B3D0"/>
                </a:solidFill>
                <a:latin typeface="Arial"/>
                <a:ea typeface="Arial"/>
              </a:rPr>
              <a:t>Autonomous Tabletop Robotic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5F7FF"/>
                </a:solidFill>
                <a:latin typeface="微软雅黑"/>
                <a:ea typeface="微软雅黑"/>
              </a:rPr>
              <a:t>一台低成本桌面双足机器人，统一五项比赛任务的离线自主执行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7A9E"/>
                </a:solidFill>
                <a:latin typeface="微软雅黑"/>
                <a:ea typeface="微软雅黑"/>
              </a:rPr>
              <a:t>评审遴选汇报  |  项目简称：A.T.R.I.  |  西安交通大学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ONE-LINE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项目速览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2000" b="1" i="0">
                <a:solidFill>
                  <a:srgbClr val="F5F7FF"/>
                </a:solidFill>
                <a:latin typeface="微软雅黑"/>
                <a:ea typeface="微软雅黑"/>
              </a:rPr>
              <a:t>一台低成本桌面双足机器人，把五项比赛任务统一到同一套软硬件框架中，默认全离线自主运行。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146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2679192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89864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目标自由度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319272"/>
            <a:ext cx="3118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目标采用 22 个主动自由度：双腿各 5、双臂各 4、躯干 2、头部 2。当前为方案设计值，待样机阶段验证。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285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Arial"/>
                <a:ea typeface="Arial"/>
              </a:rPr>
              <a:t>22 DOF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146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07992" y="2679192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89864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五项任务一体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319272"/>
            <a:ext cx="3118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人脸识别、二维码循迹、物品搬运、体育运动、娱乐交互，用 JSON 任务卡和同一套状态机统一调度。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5285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Arial"/>
                <a:ea typeface="Arial"/>
              </a:rPr>
              <a:t>5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5146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8471" y="267919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89864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默认离线运行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319272"/>
            <a:ext cx="3118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识别、解析、决策与动作执行全部在本地完成，现场断网后仍可继续自主工作。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5285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Arial"/>
                <a:ea typeface="Arial"/>
              </a:rPr>
              <a:t>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WHY A.T.R.I.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为什么做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673351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92807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教育门槛高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313432"/>
            <a:ext cx="311810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全尺寸人形机器人价格高、体积大，本科教学难以大规模配置和复现。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07992" y="1673351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92807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竞赛整合难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13432"/>
            <a:ext cx="311810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人脸、循迹、搬运、体育、娱乐散落在不同平台，训练、演示与交接成本高。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0876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48471" y="1673351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892807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套件不开放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313432"/>
            <a:ext cx="311810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成品竞赛套件上手快，但软件框架封闭，二次开发与任务扩展受限。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46320"/>
            <a:ext cx="11183112" cy="1051560"/>
          </a:xfrm>
          <a:prstGeom prst="roundRect">
            <a:avLst>
              <a:gd name="adj" fmla="val 12000"/>
            </a:avLst>
          </a:prstGeom>
          <a:solidFill>
            <a:srgbClr val="17224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47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我们的回答：A.T.R.I. = 低成本自组构型  +  五任务统一调度  +  全离线本地推理  +  可二次开发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RULE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赛道合规对照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3112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5120640"/>
                <a:gridCol w="2130552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官方要求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A.T.R.I. 设计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身高 ≤ 60cm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目标约 37.3cm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达标（设计值）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体宽 / 厚 ≤ 30cm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约 18.7cm × 10.6cm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达标（设计值）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主动关节 ≥ 18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22 自由度：腿5×2 / 臂4×2 / 躯干2 / 头2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达标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电源电压 ≥ 7.4V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11.1V 3S 锂电池组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达标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IMU / 摄像头 / 麦克风 / 扬声器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6轴IMU · 单目广角相机 · 环形麦克风 · 扬声器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达标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自主离线运行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默认全离线，断网后继续自主工作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达标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场地 2400 × 2400mm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面向五个任务区整体设计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达标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A9E"/>
                </a:solidFill>
                <a:latin typeface="微软雅黑"/>
                <a:ea typeface="微软雅黑"/>
              </a:rPr>
              <a:t>说明：目标尺寸与构型为当前方案设计值，具体型号与 BOM 在样机阶段逐项确认；所有硬性指标均按官方口径预留余量。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硬件架构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577840" cy="4480560"/>
          </a:xfrm>
          <a:prstGeom prst="roundRect">
            <a:avLst>
              <a:gd name="adj" fmla="val 5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7FF"/>
                </a:solidFill>
                <a:latin typeface="微软雅黑"/>
                <a:ea typeface="微软雅黑"/>
              </a:rPr>
              <a:t>22 自由度目标构型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微软雅黑"/>
                <a:ea typeface="微软雅黑"/>
              </a:rPr>
              <a:t>头部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视觉巡视 · 人机示意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微软雅黑"/>
                <a:ea typeface="微软雅黑"/>
              </a:rPr>
              <a:t>躯干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6148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重心调整 · 上身姿态补偿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198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微软雅黑"/>
                <a:ea typeface="微软雅黑"/>
              </a:rPr>
              <a:t>双臂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419855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肩2·肘1·夹爪1 × 2（桌面轻物抓取）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7822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微软雅黑"/>
                <a:ea typeface="微软雅黑"/>
              </a:rPr>
              <a:t>双腿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07822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髋3·膝1·踝1 × 2（行走/踢球）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2803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微软雅黑"/>
                <a:ea typeface="微软雅黑"/>
              </a:rPr>
              <a:t>合计 22 DOF  ≥  官方要求 18 DOF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5285232" cy="4480560"/>
          </a:xfrm>
          <a:prstGeom prst="roundRect">
            <a:avLst>
              <a:gd name="adj" fmla="val 5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7FF"/>
                </a:solidFill>
                <a:latin typeface="微软雅黑"/>
                <a:ea typeface="微软雅黑"/>
              </a:rPr>
              <a:t>感知与供电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微软雅黑"/>
                <a:ea typeface="微软雅黑"/>
              </a:rPr>
              <a:t>传感器组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6 轴 IMU · 单目广角相机 · 环形麦克风 · 扬声器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微软雅黑"/>
                <a:ea typeface="微软雅黑"/>
              </a:rPr>
              <a:t>电源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11.1V 3S 锂电池组，满足 ≥7.4V；大脑/小脑/舵机独立供电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A9E"/>
                </a:solidFill>
                <a:latin typeface="微软雅黑"/>
                <a:ea typeface="微软雅黑"/>
              </a:rPr>
              <a:t>当前为方案级选型：具体舵机、STM32 与边缘计算板型号，在样机阶段按扭矩、重量与供电需求确定。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软件架构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微软雅黑"/>
                <a:ea typeface="微软雅黑"/>
              </a:rPr>
              <a:t>大脑 · 边缘计算板（设计）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视觉感知：人脸 / 二维码 / 物体 / 球体</a:t>
            </a:r>
          </a:p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任务状态机：JSON 任务卡解析与调度</a:t>
            </a:r>
          </a:p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离线语音：本地 TTS 与关键词应答</a:t>
            </a:r>
          </a:p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高层指令：前进 / 转向 / 抓取序列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17320"/>
            <a:ext cx="5696712" cy="4023360"/>
          </a:xfrm>
          <a:prstGeom prst="roundRect">
            <a:avLst>
              <a:gd name="adj" fmla="val 5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微软雅黑"/>
                <a:ea typeface="微软雅黑"/>
              </a:rPr>
              <a:t>小脑 · STM32 + IMU（设计）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逆运动学（IK）解算</a:t>
            </a:r>
          </a:p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ZMP 步态生成</a:t>
            </a:r>
          </a:p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姿态闭环与跌倒保护</a:t>
            </a:r>
          </a:p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22 路总线舵机控制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623560"/>
            <a:ext cx="11183112" cy="685800"/>
          </a:xfrm>
          <a:prstGeom prst="rect">
            <a:avLst/>
          </a:prstGeom>
          <a:solidFill>
            <a:srgbClr val="172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F7FF"/>
                </a:solidFill>
                <a:latin typeface="微软雅黑"/>
                <a:ea typeface="微软雅黑"/>
              </a:rPr>
              <a:t>同一套任务卡与接口贯穿仿真、借机、样机三阶段；模块可独立替换、逐步接入真实硬件。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FIVE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五项任务实现路线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627632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4708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F"/>
                </a:solidFill>
                <a:latin typeface="微软雅黑"/>
                <a:ea typeface="微软雅黑"/>
              </a:rPr>
              <a:t>人脸识别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267712"/>
            <a:ext cx="17190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检测 → 特征 → 匹配 → TTS 播报</a:t>
            </a:r>
          </a:p>
        </p:txBody>
      </p:sp>
      <p:sp>
        <p:nvSpPr>
          <p:cNvPr id="8" name="Oval 7"/>
          <p:cNvSpPr/>
          <p:nvPr/>
        </p:nvSpPr>
        <p:spPr>
          <a:xfrm>
            <a:off x="1289304" y="4315968"/>
            <a:ext cx="548640" cy="54864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4315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F7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4630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35224" y="1627632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84708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F"/>
                </a:solidFill>
                <a:latin typeface="微软雅黑"/>
                <a:ea typeface="微软雅黑"/>
              </a:rPr>
              <a:t>二维码循迹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267712"/>
            <a:ext cx="17190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识别 → 透视矫正 → JSON → 状态机</a:t>
            </a:r>
          </a:p>
        </p:txBody>
      </p:sp>
      <p:sp>
        <p:nvSpPr>
          <p:cNvPr id="14" name="Oval 13"/>
          <p:cNvSpPr/>
          <p:nvPr/>
        </p:nvSpPr>
        <p:spPr>
          <a:xfrm>
            <a:off x="3557016" y="4315968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4315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F7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4630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02936" y="162763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84708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F"/>
                </a:solidFill>
                <a:latin typeface="微软雅黑"/>
                <a:ea typeface="微软雅黑"/>
              </a:rPr>
              <a:t>物品搬运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267712"/>
            <a:ext cx="17190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检测 → 对齐 → 抓取 → 平移 → 释放</a:t>
            </a:r>
          </a:p>
        </p:txBody>
      </p:sp>
      <p:sp>
        <p:nvSpPr>
          <p:cNvPr id="20" name="Oval 19"/>
          <p:cNvSpPr/>
          <p:nvPr/>
        </p:nvSpPr>
        <p:spPr>
          <a:xfrm>
            <a:off x="5824728" y="4315968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8" y="4315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F7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6055" y="14630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70648" y="1627632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3" y="184708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F"/>
                </a:solidFill>
                <a:latin typeface="微软雅黑"/>
                <a:ea typeface="微软雅黑"/>
              </a:rPr>
              <a:t>体育运动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3" y="2267712"/>
            <a:ext cx="17190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球体定位 → 调整朝向 → 踢球</a:t>
            </a:r>
          </a:p>
        </p:txBody>
      </p:sp>
      <p:sp>
        <p:nvSpPr>
          <p:cNvPr id="26" name="Oval 25"/>
          <p:cNvSpPr/>
          <p:nvPr/>
        </p:nvSpPr>
        <p:spPr>
          <a:xfrm>
            <a:off x="8092439" y="4315968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4315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F7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3768" y="14630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38360" y="1627632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4936" y="1847088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7FF"/>
                </a:solidFill>
                <a:latin typeface="微软雅黑"/>
                <a:ea typeface="微软雅黑"/>
              </a:rPr>
              <a:t>娱乐交互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2267712"/>
            <a:ext cx="17190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关键词 → 动作 → 语音 → 音乐</a:t>
            </a:r>
          </a:p>
        </p:txBody>
      </p:sp>
      <p:sp>
        <p:nvSpPr>
          <p:cNvPr id="32" name="Oval 31"/>
          <p:cNvSpPr/>
          <p:nvPr/>
        </p:nvSpPr>
        <p:spPr>
          <a:xfrm>
            <a:off x="10360152" y="4315968"/>
            <a:ext cx="548640" cy="54864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0152" y="4315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F7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F7FF"/>
                </a:solidFill>
                <a:latin typeface="微软雅黑"/>
                <a:ea typeface="微软雅黑"/>
              </a:rPr>
              <a:t>五项任务共享同一套硬件与状态机，通过 JSON 任务卡切换；校赛阶段先完成各任务最小闭环，晋级后再按评分细则补强。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PROJECT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项目特点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92807"/>
            <a:ext cx="384048" cy="384048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92807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73351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一台机器人完成五项任务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73351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五项任务共用同一套技能库和状态机，不为每项任务单独编写程序。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8036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26440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644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44952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二维码既识别，也下发任务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044952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任务信息写入二维码，识别后解析为 JSON 直接执行；换任务只需改二维码内容，不用改主程序。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5196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360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7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16552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主流程不依赖网络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416552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人脸识别、二维码解析、语音播报和任务切换全部本地完成，现场可断网运行。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A9E"/>
                </a:solidFill>
                <a:latin typeface="微软雅黑"/>
                <a:ea typeface="微软雅黑"/>
              </a:rPr>
              <a:t>说明：当前项目处于报名与方案设计阶段，以上为实现路径，尚未形成实物测试数据。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ADVANTAGE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全离线本地推理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7FF"/>
                </a:solidFill>
                <a:latin typeface="微软雅黑"/>
                <a:ea typeface="微软雅黑"/>
              </a:rPr>
              <a:t>演示时关闭网络，识别、决策、控制与交互继续执行。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245059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67004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全部本地处理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090672"/>
            <a:ext cx="3118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人脸识别、二维码解析、语音播报与任务状态机均在板载计算单元运行。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860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07992" y="245059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67004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不怕现场断网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090672"/>
            <a:ext cx="3118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关闭网络后，识别、决策、控制与交互仍按原流程运行。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2860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48471" y="245059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67004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数据不出设备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090672"/>
            <a:ext cx="31181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任务数据不依赖云端 API，适合课堂、竞赛与实验室场景。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ADVANTAGE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低成本一体化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627632"/>
            <a:ext cx="146304" cy="146304"/>
          </a:xfrm>
          <a:prstGeom prst="ellipse">
            <a:avLst/>
          </a:prstGeom>
          <a:solidFill>
            <a:srgbClr val="6C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4708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全尺寸人形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267712"/>
            <a:ext cx="24323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体积大、价格高</a:t>
            </a:r>
          </a:p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不适合本科教学大规模配置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0752" y="1627632"/>
            <a:ext cx="146304" cy="146304"/>
          </a:xfrm>
          <a:prstGeom prst="ellipse">
            <a:avLst/>
          </a:prstGeom>
          <a:solidFill>
            <a:srgbClr val="6C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184708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教育双足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267712"/>
            <a:ext cx="24323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功能偏向单一场景</a:t>
            </a:r>
          </a:p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多任务统一编排不足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463040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93992" y="1627632"/>
            <a:ext cx="146304" cy="146304"/>
          </a:xfrm>
          <a:prstGeom prst="ellipse">
            <a:avLst/>
          </a:prstGeom>
          <a:solidFill>
            <a:srgbClr val="6C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84708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成品竞赛套件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267712"/>
            <a:ext cx="24323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上手快、硬件完整</a:t>
            </a:r>
          </a:p>
          <a:p>
            <a:pPr algn="l">
              <a:lnSpc>
                <a:spcPts val="1200"/>
              </a:lnSpc>
            </a:pPr>
            <a:r>
              <a:rPr sz="1050" b="0" i="0">
                <a:solidFill>
                  <a:srgbClr val="A8B3D0"/>
                </a:solidFill>
                <a:latin typeface="微软雅黑"/>
                <a:ea typeface="微软雅黑"/>
              </a:rPr>
              <a:t>软件封闭、扩展需自改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463040"/>
            <a:ext cx="1993392" cy="2468880"/>
          </a:xfrm>
          <a:prstGeom prst="roundRect">
            <a:avLst>
              <a:gd name="adj" fmla="val 8000"/>
            </a:avLst>
          </a:prstGeom>
          <a:solidFill>
            <a:srgbClr val="172245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Arial"/>
                <a:ea typeface="Arial"/>
              </a:rPr>
              <a:t>A.T.R.I.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2860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F5F7FF"/>
                </a:solidFill>
                <a:latin typeface="微软雅黑"/>
                <a:ea typeface="微软雅黑"/>
              </a:rPr>
              <a:t>低成本自组</a:t>
            </a:r>
          </a:p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F5F7FF"/>
                </a:solidFill>
                <a:latin typeface="微软雅黑"/>
                <a:ea typeface="微软雅黑"/>
              </a:rPr>
              <a:t>五任务统一</a:t>
            </a:r>
          </a:p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F5F7FF"/>
                </a:solidFill>
                <a:latin typeface="微软雅黑"/>
                <a:ea typeface="微软雅黑"/>
              </a:rPr>
              <a:t>全离线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43400"/>
            <a:ext cx="11183112" cy="1280160"/>
          </a:xfrm>
          <a:prstGeom prst="roundRect">
            <a:avLst>
              <a:gd name="adj" fmla="val 10000"/>
            </a:avLst>
          </a:prstGeom>
          <a:solidFill>
            <a:srgbClr val="17224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样机预算约 ¥3600；边缘计算板与 STM32 开发板由实验室现有设备提供，不计入本次新增预算，进一步降低进入门槛。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项目规划与阶梯预算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Arial"/>
                <a:ea typeface="Arial"/>
              </a:rPr>
              <a:t>阶段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3D0"/>
                </a:solidFill>
                <a:latin typeface="微软雅黑"/>
                <a:ea typeface="微软雅黑"/>
              </a:rPr>
              <a:t>报名与方案设计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9164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F5F7FF"/>
                </a:solidFill>
                <a:latin typeface="微软雅黑"/>
                <a:ea typeface="微软雅黑"/>
              </a:rPr>
              <a:t>完成合规构型与五项任务路线；提交企划书与 PPT 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BBF24"/>
                </a:solidFill>
                <a:latin typeface="微软雅黑"/>
                <a:ea typeface="微软雅黑"/>
              </a:rPr>
              <a:t>0–100 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Arial"/>
                <a:ea typeface="Arial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3D0"/>
                </a:solidFill>
                <a:latin typeface="微软雅黑"/>
                <a:ea typeface="微软雅黑"/>
              </a:rPr>
              <a:t>仿真 + 借机验证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2608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F5F7FF"/>
                </a:solidFill>
                <a:latin typeface="微软雅黑"/>
                <a:ea typeface="微软雅黑"/>
              </a:rPr>
              <a:t>Webots/PyBullet 仿真，借用平台跑通五项任务最小闭环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BBF24"/>
                </a:solidFill>
                <a:latin typeface="微软雅黑"/>
                <a:ea typeface="微软雅黑"/>
              </a:rPr>
              <a:t>0–500 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Arial"/>
                <a:ea typeface="Arial"/>
              </a:rPr>
              <a:t>阶段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3D0"/>
                </a:solidFill>
                <a:latin typeface="微软雅黑"/>
                <a:ea typeface="微软雅黑"/>
              </a:rPr>
              <a:t>自组样机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16052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F5F7FF"/>
                </a:solidFill>
                <a:latin typeface="微软雅黑"/>
                <a:ea typeface="微软雅黑"/>
              </a:rPr>
              <a:t>晋级后按 BOM 组装 22 自由度样机，逐项联调与留痕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4251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BBF24"/>
                </a:solidFill>
                <a:latin typeface="微软雅黑"/>
                <a:ea typeface="微软雅黑"/>
              </a:rPr>
              <a:t>1500–3500 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6636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Arial"/>
                <a:ea typeface="Arial"/>
              </a:rPr>
              <a:t>阶段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3D0"/>
                </a:solidFill>
                <a:latin typeface="微软雅黑"/>
                <a:ea typeface="微软雅黑"/>
              </a:rPr>
              <a:t>省赛冲刺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39496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F5F7FF"/>
                </a:solidFill>
                <a:latin typeface="微软雅黑"/>
                <a:ea typeface="微软雅黑"/>
              </a:rPr>
              <a:t>按评分细则补强演示，完善训练数据、视频与研发日志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5486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BBF24"/>
                </a:solidFill>
                <a:latin typeface="微软雅黑"/>
                <a:ea typeface="微软雅黑"/>
              </a:rPr>
              <a:t>按经费/赞助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当前进展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311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6793992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当前状态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方案设计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4D399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确定 22 自由度构型、软硬件分工、五项任务实现路径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报名填报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FBBF24"/>
                          </a:solidFill>
                          <a:latin typeface="微软雅黑"/>
                          <a:ea typeface="微软雅黑"/>
                        </a:rPr>
                        <a:t>进行中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完成系统报名与校内备案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仿真环境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未开始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报名后搭建 Webots / PyBullet 模型与任务环境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硬件样机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未开始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晋级后启动自组或借用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五项任务实现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未开始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校赛阶段完成最小闭环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3492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C7A9E"/>
                </a:solidFill>
                <a:latin typeface="微软雅黑"/>
                <a:ea typeface="微软雅黑"/>
              </a:rPr>
              <a:t>项目处于报名与方案设计阶段，尚未有实物样机和测试数据；后续按阶段推进并如实补充。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TECH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阶段性技术指标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3112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108960"/>
                <a:gridCol w="3959352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当前目标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当前结果</a:t>
                      </a:r>
                    </a:p>
                  </a:txBody>
                  <a:tcPr marL="109728" marR="109728" marT="36576" marB="36576" anchor="ctr">
                    <a:solidFill>
                      <a:srgbClr val="1B27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双足连续行走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≥ 1 m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未测试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二维码识别成功率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≥ 90%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未测试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人脸识别成功率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≥ 90%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未测试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抓取成功率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≥ 80%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未测试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踢球成功率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≥ 80%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未测试</a:t>
                      </a:r>
                    </a:p>
                  </a:txBody>
                  <a:tcPr marL="109728" marR="109728" marT="36576" marB="36576" anchor="ctr">
                    <a:solidFill>
                      <a:srgbClr val="121B3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5F7FF"/>
                          </a:solidFill>
                          <a:latin typeface="微软雅黑"/>
                          <a:ea typeface="微软雅黑"/>
                        </a:rPr>
                        <a:t>单机离线运行时间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≥ 30 min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A8B3D0"/>
                          </a:solidFill>
                          <a:latin typeface="微软雅黑"/>
                          <a:ea typeface="微软雅黑"/>
                        </a:rPr>
                        <a:t>未测试</a:t>
                      </a:r>
                    </a:p>
                  </a:txBody>
                  <a:tcPr marL="109728" marR="109728" marT="36576" marB="36576" anchor="ctr">
                    <a:solidFill>
                      <a:srgbClr val="17224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A9E"/>
                </a:solidFill>
                <a:latin typeface="微软雅黑"/>
                <a:ea typeface="微软雅黑"/>
              </a:rPr>
              <a:t>说明：目标值随官方评分细则与样机测试结果滚动更新；当前无实测数据，不编造结果。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风险与应对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719072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3852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样机尚未到位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359152"/>
            <a:ext cx="31181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仿真先行 + 借用平台联调，不阻塞算法验证与任务闭环。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07992" y="1719072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3852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双足步态稳定性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59152"/>
            <a:ext cx="31181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ZMP 步态 + 姿态闭环 + 躯干 2 自由度余量；分模块逐步调参。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48471" y="1719072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93852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经费与周期有限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359152"/>
            <a:ext cx="31181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阶梯解锁预算：0–100 → 0–500 → 1500–3500 元档；复用实验室设备降本。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09160"/>
            <a:ext cx="11183112" cy="1188720"/>
          </a:xfrm>
          <a:prstGeom prst="roundRect">
            <a:avLst>
              <a:gd name="adj" fmla="val 10000"/>
            </a:avLst>
          </a:prstGeom>
          <a:solidFill>
            <a:srgbClr val="17224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250" b="1" i="0">
                <a:solidFill>
                  <a:srgbClr val="F5F7FF"/>
                </a:solidFill>
                <a:latin typeface="微软雅黑"/>
                <a:ea typeface="微软雅黑"/>
              </a:rPr>
              <a:t>原则：不把“规划”说成“已完成”；仿真、借机与样机使用同一套任务卡和接口，某平台出问题时先在其他平台继续测试。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团队与技术储备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3D0"/>
                </a:solidFill>
                <a:latin typeface="微软雅黑"/>
                <a:ea typeface="微软雅黑"/>
              </a:rPr>
              <a:t>学科交叉：计算机 / 电子 / 自动化 —— 覆盖感知、控制、硬件与系统集成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2176272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95728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何浩睿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16352"/>
            <a:ext cx="17007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项目负责人</a:t>
            </a:r>
          </a:p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机械结构 · 双足步态 · 舵机配置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0116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3512" y="2176272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395728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周柏宇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816352"/>
            <a:ext cx="17007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项目统筹</a:t>
            </a:r>
          </a:p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系统集成 · 报名答辩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0116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39512" y="217627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395728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胡晟瑞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816352"/>
            <a:ext cx="17007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视觉感知</a:t>
            </a:r>
          </a:p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人脸识别 · 二维码 · 物体检测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0116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25512" y="2176272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395728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王旭琪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2816352"/>
            <a:ext cx="17007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交互与仿真</a:t>
            </a:r>
          </a:p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状态机 · 离线语音 · 仿真环境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201168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11512" y="2176272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2395728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7FF"/>
                </a:solidFill>
                <a:latin typeface="微软雅黑"/>
                <a:ea typeface="微软雅黑"/>
              </a:rPr>
              <a:t>张景昆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816352"/>
            <a:ext cx="170078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自动化专业</a:t>
            </a:r>
          </a:p>
          <a:p>
            <a:pPr algn="l">
              <a:lnSpc>
                <a:spcPts val="1200"/>
              </a:lnSpc>
            </a:pPr>
            <a:r>
              <a:rPr sz="1000" b="0" i="0">
                <a:solidFill>
                  <a:srgbClr val="A8B3D0"/>
                </a:solidFill>
                <a:latin typeface="微软雅黑"/>
                <a:ea typeface="微软雅黑"/>
              </a:rPr>
              <a:t>运动控制 · 硬件支持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B3D0"/>
                </a:solidFill>
                <a:latin typeface="微软雅黑"/>
                <a:ea typeface="微软雅黑"/>
              </a:rPr>
              <a:t>指导老师：陈妍 · 李璐（技术方向把关 / 设备协调）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Arial"/>
                <a:ea typeface="Arial"/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F7FF"/>
                </a:solidFill>
                <a:latin typeface="微软雅黑"/>
                <a:ea typeface="微软雅黑"/>
              </a:rPr>
              <a:t>项目愿景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2600" b="1" i="0">
                <a:solidFill>
                  <a:srgbClr val="F5F7FF"/>
                </a:solidFill>
                <a:latin typeface="微软雅黑"/>
                <a:ea typeface="微软雅黑"/>
              </a:rPr>
              <a:t>让低成本桌面双足机器人，成为具身智能教育的公共基础设施。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017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3182112"/>
            <a:ext cx="146304" cy="14630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340156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可复现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822191"/>
            <a:ext cx="31181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同一套任务卡/接口，课程与竞赛可复用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017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07992" y="3182112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340156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可扩展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822191"/>
            <a:ext cx="31181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新增任务只需增加任务卡与技能模块，不重写整机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017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21B35"/>
          </a:solidFill>
          <a:ln w="9525">
            <a:solidFill>
              <a:srgbClr val="28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48471" y="318211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3401568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7FF"/>
                </a:solidFill>
                <a:latin typeface="微软雅黑"/>
                <a:ea typeface="微软雅黑"/>
              </a:rPr>
              <a:t>可负担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3822191"/>
            <a:ext cx="31181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50" b="0" i="0">
                <a:solidFill>
                  <a:srgbClr val="A8B3D0"/>
                </a:solidFill>
                <a:latin typeface="微软雅黑"/>
                <a:ea typeface="微软雅黑"/>
              </a:rPr>
              <a:t>低成本自组 + 实验室设备复用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035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B3D0"/>
                </a:solidFill>
                <a:latin typeface="微软雅黑"/>
                <a:ea typeface="微软雅黑"/>
              </a:rPr>
              <a:t>研发链路：仿真 → 借用平台 → 自组样机 → 课程/竞赛落地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A9E"/>
                </a:solidFill>
                <a:latin typeface="Arial"/>
                <a:ea typeface="Arial"/>
              </a:rPr>
              <a:t>A.T.R.I. · 人形机器人专项 · 小人形组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C7A9E"/>
                </a:solidFill>
                <a:latin typeface="Arial"/>
                <a:ea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  <a:ea typeface="Arial"/>
              </a:rPr>
              <a:t>A.T.R.I.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F7FF"/>
                </a:solidFill>
                <a:latin typeface="微软雅黑"/>
                <a:ea typeface="微软雅黑"/>
              </a:rPr>
              <a:t>一台机器人，一个统一任务链，让具身智能实验走进课堂与赛场。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B3D0"/>
                </a:solidFill>
                <a:latin typeface="微软雅黑"/>
                <a:ea typeface="微软雅黑"/>
              </a:rPr>
              <a:t>恳请各位专家给予支持与指导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7A9E"/>
                </a:solidFill>
                <a:latin typeface="微软雅黑"/>
                <a:ea typeface="微软雅黑"/>
              </a:rPr>
              <a:t>A.T.R.I. 项目组 · 西安交通大学</a:t>
            </a:r>
          </a:p>
          <a:p>
            <a:pPr algn="ctr"/>
            <a:r>
              <a:rPr sz="1200" b="0" i="0">
                <a:solidFill>
                  <a:srgbClr val="6C7A9E"/>
                </a:solidFill>
                <a:latin typeface="微软雅黑"/>
                <a:ea typeface="微软雅黑"/>
              </a:rPr>
              <a:t>项目负责人：何浩睿  |  指导老师：陈妍 · 李璐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