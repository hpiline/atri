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0E5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114800"/>
            <a:ext cx="4023360" cy="40233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2926080"/>
            <a:ext cx="2377440" cy="2377440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1874520"/>
            <a:ext cx="1417320" cy="1234440"/>
          </a:xfrm>
          <a:prstGeom prst="roundRect">
            <a:avLst>
              <a:gd name="adj" fmla="val 14815"/>
            </a:avLst>
          </a:prstGeom>
          <a:solidFill>
            <a:srgbClr val="16213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3291840"/>
            <a:ext cx="1417320" cy="1554480"/>
          </a:xfrm>
          <a:prstGeom prst="roundRect">
            <a:avLst>
              <a:gd name="adj" fmla="val 7742"/>
            </a:avLst>
          </a:prstGeom>
          <a:solidFill>
            <a:srgbClr val="16213F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76488" y="2185416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2185416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0" y="2441448"/>
            <a:ext cx="329184" cy="914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0" y="1828800"/>
            <a:ext cx="0" cy="38404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1709928"/>
            <a:ext cx="182880" cy="1828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4846320"/>
            <a:ext cx="292608" cy="777240"/>
          </a:xfrm>
          <a:prstGeom prst="rect">
            <a:avLst/>
          </a:prstGeom>
          <a:solidFill>
            <a:srgbClr val="223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4846320"/>
            <a:ext cx="292608" cy="777240"/>
          </a:xfrm>
          <a:prstGeom prst="rect">
            <a:avLst/>
          </a:prstGeom>
          <a:solidFill>
            <a:srgbClr val="22305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中国国际大学生创新大赛（2026）· 陕西赛区特色专项 · 人形机器人专项 · 小人形组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桌面自主人形智能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B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Tabletop Robotic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一台机器人，离线完成人形机器人专项五项任务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评审遴选汇报  |  项目简称：A.T.R.I.  |  西安交通大学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项目速览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16213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一台低成本桌面双足机器人，把五项比赛任务统一到同一套软硬件框架中，默认全离线自主运行。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318211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目标自由度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803904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个主动自由度：双腿各 5、双臂各 4、躯干 2、头部 2，满足小人形组检录要求。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71800" y="3182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DOF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30175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318211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五项任务一体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3803904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人脸识别、二维码循迹、物品搬运、体育、娱乐，用 JSON 任务卡统一调度。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182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TASKS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2440" y="30175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57032" y="31821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401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默认离线运行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3803904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识别、解析、决策与动作执行全部本地完成，断网后仍可继续自主工作。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61320" y="3182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OFFLINE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A.T.R.I.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719072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教育门槛高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40864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全尺寸人形机器人价格高、体积大，本科教学难以大规模配置和复现。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71907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竞赛整合难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340864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人脸、循迹、搬运、体育、娱乐散落在不同平台，训练与演示成本高。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57032" y="171907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套件不开放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340864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成品竞赛套件上手快，但软件框架封闭，二次开发与任务扩展受限。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11155680" cy="1280160"/>
          </a:xfrm>
          <a:prstGeom prst="roundRect">
            <a:avLst>
              <a:gd name="adj" fmla="val 8571"/>
            </a:avLst>
          </a:prstGeom>
          <a:solidFill>
            <a:srgbClr val="16213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我们的回答：A.T.R.I. = 低成本自组构型  +  五任务统一调度  +  全离线本地推理  +  可二次开发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赛道合规对照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66928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官方要求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A.T.R.I. 设计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身高 ≤ 60cm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目标约 37.3cm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体宽 / 厚 ≤ 30cm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18.7cm × 10.6cm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主动关节 ≥ 18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 自由度：腿5×2 / 臂4×2 / 躯干2 / 头2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电源电压 ≥ 7.4V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11.1V 3S 锂电池组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IMU / 摄像头 / 麦克风 / 扬声器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6轴IMU · 单目广角相机 · 环形麦克风 · 扬声器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自主离线运行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默认全离线，断网后继续自主工作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赛道 2400 × 2400mm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面向五个任务区整体设计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目标尺寸与构型为当前方案设计值，具体型号与 BOM 在样机阶段逐项确认；所有硬性指标均按官方口径预留余量。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自由度目标构型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231343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视觉巡视 · 人机示意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231343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躯干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重心调整 · 上身姿态补偿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36393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双臂 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肩2·肘1·夹爪1 × 2（桌面轻物抓取）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4747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47872" y="36393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双腿 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髋3·膝1·踝1 × 2（行走/踢球）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892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合计 22 DOF  ≥  官方要求 18 DOF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感知与供电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21488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65392" y="231343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532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传感器组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293522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轴 IMU · 单目广角相机 · 环形麦克风 · 扬声器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6118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65392" y="377647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9959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3982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11.1V 3S 锂电池组，满足 ≥7.4V；大脑/小脑/舵机独立供电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50749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16213F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5212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说明：当前为方案级选型，具体舵机/控制板型号在样机阶段按扭矩、重量与供电需求确定。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11A33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大脑 · 边缘计算板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视觉感知：人脸 / 二维码 / 物体 / 球体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任务状态机：JSON 任务卡解析与调度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离线语音：本地 TTS 与关键词应答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高层指令下发：前进 / 转向 / 抓取序列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11A33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小脑 · STM32 + IMU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逆运动学（IK）解算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ZMP 步态生成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姿态闭环与跌倒保护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路总线舵机控制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2743200"/>
            <a:ext cx="502920" cy="7315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3520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高层指令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9875520" cy="91440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0352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同一套任务卡与接口贯穿仿真、借机、样机三阶段，模块可独立替换、逐步增加真实硬件。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五项任务实现路线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85623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75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人脸识别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478024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 → 特征 → 匹配 → TTS 播报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920240"/>
            <a:ext cx="347472" cy="347472"/>
          </a:xfrm>
          <a:prstGeom prst="ellipse">
            <a:avLst/>
          </a:prstGeom>
          <a:solidFill>
            <a:srgbClr val="00E5FF">
              <a:alpha val="18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" dirty="0"/>
          </a:p>
        </p:txBody>
      </p:sp>
      <p:sp>
        <p:nvSpPr>
          <p:cNvPr id="12" name="Shape 10"/>
          <p:cNvSpPr/>
          <p:nvPr/>
        </p:nvSpPr>
        <p:spPr>
          <a:xfrm>
            <a:off x="2706624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71216" y="185623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889504" y="2075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二维码循迹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9504" y="2478024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 → 透视矫正 → JSON → 状态机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52544" y="1920240"/>
            <a:ext cx="347472" cy="347472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" dirty="0"/>
          </a:p>
        </p:txBody>
      </p:sp>
      <p:sp>
        <p:nvSpPr>
          <p:cNvPr id="18" name="Shape 16"/>
          <p:cNvSpPr/>
          <p:nvPr/>
        </p:nvSpPr>
        <p:spPr>
          <a:xfrm>
            <a:off x="5001768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66360" y="185623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5184648" y="2075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物品搬运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84648" y="2478024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 → 对齐 → 抓取 → 平移 → 释放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47688" y="1920240"/>
            <a:ext cx="347472" cy="347472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" dirty="0"/>
          </a:p>
        </p:txBody>
      </p:sp>
      <p:sp>
        <p:nvSpPr>
          <p:cNvPr id="24" name="Shape 22"/>
          <p:cNvSpPr/>
          <p:nvPr/>
        </p:nvSpPr>
        <p:spPr>
          <a:xfrm>
            <a:off x="7296912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61504" y="1856232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Text 24"/>
          <p:cNvSpPr/>
          <p:nvPr/>
        </p:nvSpPr>
        <p:spPr>
          <a:xfrm>
            <a:off x="7479792" y="2075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体育运动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79792" y="2478024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球体定位 → 调整朝向 → 踢球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42832" y="1920240"/>
            <a:ext cx="347472" cy="347472"/>
          </a:xfrm>
          <a:prstGeom prst="ellipse">
            <a:avLst/>
          </a:prstGeom>
          <a:solidFill>
            <a:srgbClr val="F87171">
              <a:alpha val="18000"/>
            </a:srgbClr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" dirty="0"/>
          </a:p>
        </p:txBody>
      </p:sp>
      <p:sp>
        <p:nvSpPr>
          <p:cNvPr id="30" name="Shape 28"/>
          <p:cNvSpPr/>
          <p:nvPr/>
        </p:nvSpPr>
        <p:spPr>
          <a:xfrm>
            <a:off x="9592056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56648" y="185623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9774936" y="2075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娱乐休闲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74936" y="2478024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 → 动作 → 语音 → 音乐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237976" y="1920240"/>
            <a:ext cx="347472" cy="347472"/>
          </a:xfrm>
          <a:prstGeom prst="ellipse">
            <a:avLst/>
          </a:prstGeom>
          <a:solidFill>
            <a:srgbClr val="8B5CF6">
              <a:alpha val="18000"/>
            </a:srgbClr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37976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" dirty="0"/>
          </a:p>
        </p:txBody>
      </p:sp>
      <p:sp>
        <p:nvSpPr>
          <p:cNvPr id="36" name="Shape 34"/>
          <p:cNvSpPr/>
          <p:nvPr/>
        </p:nvSpPr>
        <p:spPr>
          <a:xfrm>
            <a:off x="411480" y="502920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6213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120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五项任务共享同一套硬件与状态机，通过 JSON 任务卡即可切换，无需更换机器人。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 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9933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任务卡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151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统一描述任务指令与参数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2487168"/>
            <a:ext cx="420624" cy="457200"/>
          </a:xfrm>
          <a:prstGeom prst="rightArrow">
            <a:avLst/>
          </a:prstGeom>
          <a:solidFill>
            <a:srgbClr val="6C7A9E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828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99339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状态机调度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6151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待机→进入→执行→反馈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19472" y="2487168"/>
            <a:ext cx="420624" cy="457200"/>
          </a:xfrm>
          <a:prstGeom prst="rightArrow">
            <a:avLst/>
          </a:prstGeom>
          <a:solidFill>
            <a:srgbClr val="6C7A9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828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30952" y="199339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6151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动作/语音/视觉技能模块复用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51192" y="2487168"/>
            <a:ext cx="420624" cy="457200"/>
          </a:xfrm>
          <a:prstGeom prst="rightArrow">
            <a:avLst/>
          </a:prstGeom>
          <a:solidFill>
            <a:srgbClr val="6C7A9E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0" y="1828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62672" y="1993392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感知反馈闭环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26151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检测误差→调整→再次检测→执行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82912" y="2487168"/>
            <a:ext cx="420624" cy="457200"/>
          </a:xfrm>
          <a:prstGeom prst="rightArrow">
            <a:avLst/>
          </a:prstGeom>
          <a:solidFill>
            <a:srgbClr val="6C7A9E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828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94392" y="199339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本地推理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12680" y="26151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全程离线，断网继续运行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160520"/>
            <a:ext cx="11155680" cy="1737360"/>
          </a:xfrm>
          <a:prstGeom prst="roundRect">
            <a:avLst>
              <a:gd name="adj" fmla="val 6316"/>
            </a:avLst>
          </a:prstGeom>
          <a:solidFill>
            <a:srgbClr val="16213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389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创新点不是“把模块堆在一起”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而是让“任务描述 → 决策调度 → 技能执行 → 感知反馈”形成一条可在低算力、离线环境下运行的技术链；新增任务只需增加任务卡和技能模块，不必重写整机逻辑。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核心优势一：全离线本地推理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621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“拔掉网线，任务继续。”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309067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全部本地处理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712464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人脸识别、二维码解析、语音播报与任务状态机均在板载计算单元运行。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9260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309067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不怕现场断网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712464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演示时关闭网络后，识别、决策、控制与交互继续按原流程运行。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29260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309067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隐私与数据安全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712464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任务数据不出设备，适合课堂、竞赛与实验室等敏感场景。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核心优势二：低成本一体化方案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全尺寸人形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体积大、价格高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0" y="1554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不适合本科教学大规模配置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7860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教育双足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5786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功能偏向单一场景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25786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多任务统一编排不足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0273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成品竞赛套件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60273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上手快、硬件完整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36027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软件封闭、扩展需自改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62686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12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2686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A.T.R.I.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462686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低成本自组 + 五任务统一 + 全离线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462686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面向课程/竞赛/二次开发复用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样机预算约 ¥3600，边缘计算板与 STM32 可复用实验室现有设备，进一步降低进入门槛。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一句话创新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2194560"/>
          </a:xfrm>
          <a:prstGeom prst="roundRect">
            <a:avLst>
              <a:gd name="adj" fmla="val 6250"/>
            </a:avLst>
          </a:prstGeom>
          <a:solidFill>
            <a:srgbClr val="1621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用统一任务卡描述，让一台小型双足机器人在有限算力与断网条件下，自主完成多任务。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423367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453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任务卡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8554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任务与参数配置化，可动态修改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423367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4453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FSM 状态机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8554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多任务统一调度，流程可追踪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423367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4453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感知-运动闭环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48554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视觉反馈驱动对齐与执行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项目规划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0  报名与方案设计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完成合规构型与五项任务路线；提交企划书与 PPT 材料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334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1  仿真 + 借机验证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6334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Webots/PyBullet 仿真，借用平台跑通五项任务最小闭环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12464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124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  自组样机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71246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晋级后按 BOM 组装 22 自由度样机，逐项联调与留痕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791456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7914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3  省赛冲刺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479145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按评分细则补强演示，完善训练数据、视频与研发日志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预算采用阶梯解锁：报名 0–100 元 → 校赛 0–500 元 → 样机 1500–3500 元 → 冲刺按经费/赞助追加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下一步行动计划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81051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仿真先行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432304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Webots / PyBullet 搭建双足与视觉任务环境，先验证步态、感知和任务流程。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810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借机联调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2432304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优先借用实验室/指导老师的双足机器人，跑通五项任务最小闭环并录制证据。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459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57032" y="18105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自组样机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432304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晋级后按 22 自由度构型与 BOM 自组样机，逐项完成步态、感知与任务联调。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三步共用同一套任务卡与接口，保证“仿真 → 借机 → 样机”进展可平滑迁移、可留痕。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团队与技术储备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6213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学科交叉：计算机 / 电子 / 自动化 —— 覆盖感知、控制、硬件与系统集成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6213F"/>
          </a:solidFill>
          <a:ln w="6350">
            <a:solidFill>
              <a:srgbClr val="2230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何浩睿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项目负责人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机械结构 · 双足步态 · 舵机配置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6350">
            <a:solidFill>
              <a:srgbClr val="2230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81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周柏宇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032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项目统筹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30815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系统集成 · 报名答辩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48456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6213F"/>
          </a:solidFill>
          <a:ln w="6350">
            <a:solidFill>
              <a:srgbClr val="2230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胡晟瑞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36484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视觉感知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364845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人脸识别 · 二维码 · 物体检测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215384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6350">
            <a:solidFill>
              <a:srgbClr val="2230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15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王旭琪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56032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交互与仿真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94960" y="421538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 · 离线语音 · 仿真环境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82312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6213F"/>
          </a:solidFill>
          <a:ln w="6350">
            <a:solidFill>
              <a:srgbClr val="223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823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张景昆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560320" y="4782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自动化专业·新增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94960" y="47823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运动控制 · 硬件支持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指导老师：陈妍 · 李璐（技术方向把关 / 设备协调）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风险与应对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76479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84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样机尚未到位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86584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仿真先行 + 借用平台联调；不阻塞算法验证与任务闭环。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7647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84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双足步态稳定性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386584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ZMP 步态 + 姿态闭环 + 躯干 2 自由度余量；分模块逐步调参。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57032" y="176479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84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经费与周期有限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386584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阶梯解锁预算：0 → 1500 → 3500 → 6000 档；复用实验室设备降本。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16213F"/>
          </a:solidFill>
          <a:ln w="9525">
            <a:solidFill>
              <a:srgbClr val="2230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原则：不把“规划”说成“已完成”，所有阶段用同一套接口与研发日志留痕，确保材料可追溯。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项目愿景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1155680" cy="1463040"/>
          </a:xfrm>
          <a:prstGeom prst="roundRect">
            <a:avLst>
              <a:gd name="adj" fmla="val 9375"/>
            </a:avLst>
          </a:prstGeom>
          <a:solidFill>
            <a:srgbClr val="16213F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让低成本桌面双足机器人，成为具身智能教育的公共基础设施。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363931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2611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同一套任务卡/接口，课程与竞赛可复用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36393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42611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新增任务无需重写整机，配置化扩展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11A33"/>
          </a:solidFill>
          <a:ln w="9525">
            <a:solidFill>
              <a:srgbClr val="22305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36393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可负担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42611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低成本自组 + 实验室设备复用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研发链路：仿真 → 借用平台 → 自组样机 → 课程/竞赛落地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206240" cy="4206240"/>
          </a:xfrm>
          <a:prstGeom prst="ellipse">
            <a:avLst/>
          </a:prstGeom>
          <a:solidFill>
            <a:srgbClr val="8B5CF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9768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一台机器人，一个统一任务链，让具身智能实验走进课堂与赛场。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恳请各位专家给予支持与指导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A.T.R.I. 项目组 · 西安交通大学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项目负责人：何浩睿  |  指导老师：陈妍 · 李璐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2026-09-07T03:59:26Z</dcterms:created>
  <dcterms:modified xsi:type="dcterms:W3CDTF">2026-09-07T03:59:26Z</dcterms:modified>
</cp:coreProperties>
</file>